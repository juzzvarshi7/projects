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unday" charset="1" panose="00000500000000000000"/>
      <p:regular r:id="rId15"/>
    </p:embeddedFont>
    <p:embeddedFont>
      <p:font typeface="Rosario" charset="1" panose="020005030400000200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2" Target="../media/image36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2" Target="../media/image36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267834" y="0"/>
            <a:ext cx="6020166" cy="2714547"/>
          </a:xfrm>
          <a:custGeom>
            <a:avLst/>
            <a:gdLst/>
            <a:ahLst/>
            <a:cxnLst/>
            <a:rect r="r" b="b" t="t" l="l"/>
            <a:pathLst>
              <a:path h="2714547" w="6020166">
                <a:moveTo>
                  <a:pt x="0" y="2714547"/>
                </a:moveTo>
                <a:lnTo>
                  <a:pt x="6020166" y="2714547"/>
                </a:lnTo>
                <a:lnTo>
                  <a:pt x="6020166" y="0"/>
                </a:lnTo>
                <a:lnTo>
                  <a:pt x="0" y="0"/>
                </a:lnTo>
                <a:lnTo>
                  <a:pt x="0" y="27145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46277" y="7704836"/>
            <a:ext cx="7732172" cy="3106927"/>
          </a:xfrm>
          <a:custGeom>
            <a:avLst/>
            <a:gdLst/>
            <a:ahLst/>
            <a:cxnLst/>
            <a:rect r="r" b="b" t="t" l="l"/>
            <a:pathLst>
              <a:path h="3106927" w="7732172">
                <a:moveTo>
                  <a:pt x="7732173" y="0"/>
                </a:moveTo>
                <a:lnTo>
                  <a:pt x="0" y="0"/>
                </a:lnTo>
                <a:lnTo>
                  <a:pt x="0" y="3106928"/>
                </a:lnTo>
                <a:lnTo>
                  <a:pt x="7732173" y="3106928"/>
                </a:lnTo>
                <a:lnTo>
                  <a:pt x="773217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88165" y="-1044642"/>
            <a:ext cx="3001583" cy="3004662"/>
          </a:xfrm>
          <a:custGeom>
            <a:avLst/>
            <a:gdLst/>
            <a:ahLst/>
            <a:cxnLst/>
            <a:rect r="r" b="b" t="t" l="l"/>
            <a:pathLst>
              <a:path h="3004662" w="3001583">
                <a:moveTo>
                  <a:pt x="0" y="0"/>
                </a:moveTo>
                <a:lnTo>
                  <a:pt x="3001584" y="0"/>
                </a:lnTo>
                <a:lnTo>
                  <a:pt x="3001584" y="3004662"/>
                </a:lnTo>
                <a:lnTo>
                  <a:pt x="0" y="30046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81251" y="7447116"/>
            <a:ext cx="3060897" cy="2992284"/>
          </a:xfrm>
          <a:custGeom>
            <a:avLst/>
            <a:gdLst/>
            <a:ahLst/>
            <a:cxnLst/>
            <a:rect r="r" b="b" t="t" l="l"/>
            <a:pathLst>
              <a:path h="2992284" w="3060897">
                <a:moveTo>
                  <a:pt x="0" y="0"/>
                </a:moveTo>
                <a:lnTo>
                  <a:pt x="3060898" y="0"/>
                </a:lnTo>
                <a:lnTo>
                  <a:pt x="3060898" y="2992284"/>
                </a:lnTo>
                <a:lnTo>
                  <a:pt x="0" y="29922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28851" y="7294716"/>
            <a:ext cx="3060897" cy="2992284"/>
          </a:xfrm>
          <a:custGeom>
            <a:avLst/>
            <a:gdLst/>
            <a:ahLst/>
            <a:cxnLst/>
            <a:rect r="r" b="b" t="t" l="l"/>
            <a:pathLst>
              <a:path h="2992284" w="3060897">
                <a:moveTo>
                  <a:pt x="0" y="0"/>
                </a:moveTo>
                <a:lnTo>
                  <a:pt x="3060898" y="0"/>
                </a:lnTo>
                <a:lnTo>
                  <a:pt x="3060898" y="2992284"/>
                </a:lnTo>
                <a:lnTo>
                  <a:pt x="0" y="2992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700126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670306">
            <a:off x="14726548" y="1077050"/>
            <a:ext cx="1440796" cy="1464476"/>
          </a:xfrm>
          <a:custGeom>
            <a:avLst/>
            <a:gdLst/>
            <a:ahLst/>
            <a:cxnLst/>
            <a:rect r="r" b="b" t="t" l="l"/>
            <a:pathLst>
              <a:path h="1464476" w="1440796">
                <a:moveTo>
                  <a:pt x="0" y="0"/>
                </a:moveTo>
                <a:lnTo>
                  <a:pt x="1440795" y="0"/>
                </a:lnTo>
                <a:lnTo>
                  <a:pt x="1440795" y="1464476"/>
                </a:lnTo>
                <a:lnTo>
                  <a:pt x="0" y="14644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690482" y="7044578"/>
            <a:ext cx="8907036" cy="1529075"/>
            <a:chOff x="0" y="0"/>
            <a:chExt cx="11876048" cy="203876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125419" y="233786"/>
              <a:ext cx="11750629" cy="1804980"/>
              <a:chOff x="0" y="0"/>
              <a:chExt cx="2585408" cy="39713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5408" cy="397137"/>
              </a:xfrm>
              <a:custGeom>
                <a:avLst/>
                <a:gdLst/>
                <a:ahLst/>
                <a:cxnLst/>
                <a:rect r="r" b="b" t="t" l="l"/>
                <a:pathLst>
                  <a:path h="397137" w="2585408">
                    <a:moveTo>
                      <a:pt x="40222" y="0"/>
                    </a:moveTo>
                    <a:lnTo>
                      <a:pt x="2545186" y="0"/>
                    </a:lnTo>
                    <a:cubicBezTo>
                      <a:pt x="2567400" y="0"/>
                      <a:pt x="2585408" y="18008"/>
                      <a:pt x="2585408" y="40222"/>
                    </a:cubicBezTo>
                    <a:lnTo>
                      <a:pt x="2585408" y="356915"/>
                    </a:lnTo>
                    <a:cubicBezTo>
                      <a:pt x="2585408" y="379129"/>
                      <a:pt x="2567400" y="397137"/>
                      <a:pt x="2545186" y="397137"/>
                    </a:cubicBezTo>
                    <a:lnTo>
                      <a:pt x="40222" y="397137"/>
                    </a:lnTo>
                    <a:cubicBezTo>
                      <a:pt x="18008" y="397137"/>
                      <a:pt x="0" y="379129"/>
                      <a:pt x="0" y="356915"/>
                    </a:cubicBezTo>
                    <a:lnTo>
                      <a:pt x="0" y="40222"/>
                    </a:lnTo>
                    <a:cubicBezTo>
                      <a:pt x="0" y="18008"/>
                      <a:pt x="18008" y="0"/>
                      <a:pt x="40222" y="0"/>
                    </a:cubicBezTo>
                    <a:close/>
                  </a:path>
                </a:pathLst>
              </a:custGeom>
              <a:solidFill>
                <a:srgbClr val="A6A6A6">
                  <a:alpha val="34902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585408" cy="4352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11750629" cy="1804980"/>
              <a:chOff x="0" y="0"/>
              <a:chExt cx="2585408" cy="39713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585408" cy="397137"/>
              </a:xfrm>
              <a:custGeom>
                <a:avLst/>
                <a:gdLst/>
                <a:ahLst/>
                <a:cxnLst/>
                <a:rect r="r" b="b" t="t" l="l"/>
                <a:pathLst>
                  <a:path h="397137" w="2585408">
                    <a:moveTo>
                      <a:pt x="40222" y="0"/>
                    </a:moveTo>
                    <a:lnTo>
                      <a:pt x="2545186" y="0"/>
                    </a:lnTo>
                    <a:cubicBezTo>
                      <a:pt x="2567400" y="0"/>
                      <a:pt x="2585408" y="18008"/>
                      <a:pt x="2585408" y="40222"/>
                    </a:cubicBezTo>
                    <a:lnTo>
                      <a:pt x="2585408" y="356915"/>
                    </a:lnTo>
                    <a:cubicBezTo>
                      <a:pt x="2585408" y="379129"/>
                      <a:pt x="2567400" y="397137"/>
                      <a:pt x="2545186" y="397137"/>
                    </a:cubicBezTo>
                    <a:lnTo>
                      <a:pt x="40222" y="397137"/>
                    </a:lnTo>
                    <a:cubicBezTo>
                      <a:pt x="18008" y="397137"/>
                      <a:pt x="0" y="379129"/>
                      <a:pt x="0" y="356915"/>
                    </a:cubicBezTo>
                    <a:lnTo>
                      <a:pt x="0" y="40222"/>
                    </a:lnTo>
                    <a:cubicBezTo>
                      <a:pt x="0" y="18008"/>
                      <a:pt x="18008" y="0"/>
                      <a:pt x="402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585408" cy="4352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226705" y="119769"/>
              <a:ext cx="11297218" cy="1565443"/>
              <a:chOff x="0" y="0"/>
              <a:chExt cx="2485647" cy="34443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485647" cy="344433"/>
              </a:xfrm>
              <a:custGeom>
                <a:avLst/>
                <a:gdLst/>
                <a:ahLst/>
                <a:cxnLst/>
                <a:rect r="r" b="b" t="t" l="l"/>
                <a:pathLst>
                  <a:path h="344433" w="2485647">
                    <a:moveTo>
                      <a:pt x="41836" y="0"/>
                    </a:moveTo>
                    <a:lnTo>
                      <a:pt x="2443811" y="0"/>
                    </a:lnTo>
                    <a:cubicBezTo>
                      <a:pt x="2466916" y="0"/>
                      <a:pt x="2485647" y="18731"/>
                      <a:pt x="2485647" y="41836"/>
                    </a:cubicBezTo>
                    <a:lnTo>
                      <a:pt x="2485647" y="302597"/>
                    </a:lnTo>
                    <a:cubicBezTo>
                      <a:pt x="2485647" y="325703"/>
                      <a:pt x="2466916" y="344433"/>
                      <a:pt x="2443811" y="344433"/>
                    </a:cubicBezTo>
                    <a:lnTo>
                      <a:pt x="41836" y="344433"/>
                    </a:lnTo>
                    <a:cubicBezTo>
                      <a:pt x="18731" y="344433"/>
                      <a:pt x="0" y="325703"/>
                      <a:pt x="0" y="302597"/>
                    </a:cubicBezTo>
                    <a:lnTo>
                      <a:pt x="0" y="41836"/>
                    </a:lnTo>
                    <a:cubicBezTo>
                      <a:pt x="0" y="18731"/>
                      <a:pt x="18731" y="0"/>
                      <a:pt x="41836" y="0"/>
                    </a:cubicBezTo>
                    <a:close/>
                  </a:path>
                </a:pathLst>
              </a:custGeom>
              <a:solidFill>
                <a:srgbClr val="F4DEC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485647" cy="382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9" id="19"/>
          <p:cNvSpPr/>
          <p:nvPr/>
        </p:nvSpPr>
        <p:spPr>
          <a:xfrm flipH="false" flipV="false" rot="0">
            <a:off x="-641085" y="7166064"/>
            <a:ext cx="3138541" cy="2815176"/>
          </a:xfrm>
          <a:custGeom>
            <a:avLst/>
            <a:gdLst/>
            <a:ahLst/>
            <a:cxnLst/>
            <a:rect r="r" b="b" t="t" l="l"/>
            <a:pathLst>
              <a:path h="2815176" w="3138541">
                <a:moveTo>
                  <a:pt x="0" y="0"/>
                </a:moveTo>
                <a:lnTo>
                  <a:pt x="3138541" y="0"/>
                </a:lnTo>
                <a:lnTo>
                  <a:pt x="3138541" y="2815176"/>
                </a:lnTo>
                <a:lnTo>
                  <a:pt x="0" y="28151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31999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793485" y="7013664"/>
            <a:ext cx="3138541" cy="2815176"/>
          </a:xfrm>
          <a:custGeom>
            <a:avLst/>
            <a:gdLst/>
            <a:ahLst/>
            <a:cxnLst/>
            <a:rect r="r" b="b" t="t" l="l"/>
            <a:pathLst>
              <a:path h="2815176" w="3138541">
                <a:moveTo>
                  <a:pt x="0" y="0"/>
                </a:moveTo>
                <a:lnTo>
                  <a:pt x="3138541" y="0"/>
                </a:lnTo>
                <a:lnTo>
                  <a:pt x="3138541" y="2815176"/>
                </a:lnTo>
                <a:lnTo>
                  <a:pt x="0" y="281517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493964" y="2150520"/>
            <a:ext cx="11300072" cy="449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43"/>
              </a:lnSpc>
            </a:pPr>
            <a:r>
              <a:rPr lang="en-US" sz="16302">
                <a:solidFill>
                  <a:srgbClr val="A94C1A"/>
                </a:solidFill>
                <a:latin typeface="Sunday"/>
              </a:rPr>
              <a:t>wEATHER APP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97708" y="7389078"/>
            <a:ext cx="8092584" cy="66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</a:pPr>
            <a:r>
              <a:rPr lang="en-US" sz="4677">
                <a:solidFill>
                  <a:srgbClr val="A94C1A"/>
                </a:solidFill>
                <a:latin typeface="Rosario"/>
              </a:rPr>
              <a:t>Presented By Varshini 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3905" y="7788610"/>
            <a:ext cx="7315200" cy="2939380"/>
          </a:xfrm>
          <a:custGeom>
            <a:avLst/>
            <a:gdLst/>
            <a:ahLst/>
            <a:cxnLst/>
            <a:rect r="r" b="b" t="t" l="l"/>
            <a:pathLst>
              <a:path h="2939380" w="7315200">
                <a:moveTo>
                  <a:pt x="0" y="0"/>
                </a:moveTo>
                <a:lnTo>
                  <a:pt x="7315200" y="0"/>
                </a:lnTo>
                <a:lnTo>
                  <a:pt x="7315200" y="2939380"/>
                </a:lnTo>
                <a:lnTo>
                  <a:pt x="0" y="293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17015" y="-299101"/>
            <a:ext cx="2400533" cy="2346723"/>
          </a:xfrm>
          <a:custGeom>
            <a:avLst/>
            <a:gdLst/>
            <a:ahLst/>
            <a:cxnLst/>
            <a:rect r="r" b="b" t="t" l="l"/>
            <a:pathLst>
              <a:path h="2346723" w="2400533">
                <a:moveTo>
                  <a:pt x="0" y="0"/>
                </a:moveTo>
                <a:lnTo>
                  <a:pt x="2400532" y="0"/>
                </a:lnTo>
                <a:lnTo>
                  <a:pt x="2400532" y="2346723"/>
                </a:lnTo>
                <a:lnTo>
                  <a:pt x="0" y="2346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2269" y="8148123"/>
            <a:ext cx="2348738" cy="2296089"/>
          </a:xfrm>
          <a:custGeom>
            <a:avLst/>
            <a:gdLst/>
            <a:ahLst/>
            <a:cxnLst/>
            <a:rect r="r" b="b" t="t" l="l"/>
            <a:pathLst>
              <a:path h="2296089" w="2348738">
                <a:moveTo>
                  <a:pt x="0" y="0"/>
                </a:moveTo>
                <a:lnTo>
                  <a:pt x="2348738" y="0"/>
                </a:lnTo>
                <a:lnTo>
                  <a:pt x="2348738" y="2296089"/>
                </a:lnTo>
                <a:lnTo>
                  <a:pt x="0" y="2296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12610" y="6859554"/>
            <a:ext cx="2716495" cy="2436614"/>
          </a:xfrm>
          <a:custGeom>
            <a:avLst/>
            <a:gdLst/>
            <a:ahLst/>
            <a:cxnLst/>
            <a:rect r="r" b="b" t="t" l="l"/>
            <a:pathLst>
              <a:path h="2436614" w="2716495">
                <a:moveTo>
                  <a:pt x="0" y="0"/>
                </a:moveTo>
                <a:lnTo>
                  <a:pt x="2716495" y="0"/>
                </a:lnTo>
                <a:lnTo>
                  <a:pt x="2716495" y="2436614"/>
                </a:lnTo>
                <a:lnTo>
                  <a:pt x="0" y="24366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2100" y="1028700"/>
            <a:ext cx="12743214" cy="2187633"/>
            <a:chOff x="0" y="0"/>
            <a:chExt cx="16990952" cy="291684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79436" y="334475"/>
              <a:ext cx="16811517" cy="2582369"/>
              <a:chOff x="0" y="0"/>
              <a:chExt cx="2585408" cy="39713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585408" cy="397137"/>
              </a:xfrm>
              <a:custGeom>
                <a:avLst/>
                <a:gdLst/>
                <a:ahLst/>
                <a:cxnLst/>
                <a:rect r="r" b="b" t="t" l="l"/>
                <a:pathLst>
                  <a:path h="397137" w="2585408">
                    <a:moveTo>
                      <a:pt x="40222" y="0"/>
                    </a:moveTo>
                    <a:lnTo>
                      <a:pt x="2545186" y="0"/>
                    </a:lnTo>
                    <a:cubicBezTo>
                      <a:pt x="2567400" y="0"/>
                      <a:pt x="2585408" y="18008"/>
                      <a:pt x="2585408" y="40222"/>
                    </a:cubicBezTo>
                    <a:lnTo>
                      <a:pt x="2585408" y="356915"/>
                    </a:lnTo>
                    <a:cubicBezTo>
                      <a:pt x="2585408" y="379129"/>
                      <a:pt x="2567400" y="397137"/>
                      <a:pt x="2545186" y="397137"/>
                    </a:cubicBezTo>
                    <a:lnTo>
                      <a:pt x="40222" y="397137"/>
                    </a:lnTo>
                    <a:cubicBezTo>
                      <a:pt x="18008" y="397137"/>
                      <a:pt x="0" y="379129"/>
                      <a:pt x="0" y="356915"/>
                    </a:cubicBezTo>
                    <a:lnTo>
                      <a:pt x="0" y="40222"/>
                    </a:lnTo>
                    <a:cubicBezTo>
                      <a:pt x="0" y="18008"/>
                      <a:pt x="18008" y="0"/>
                      <a:pt x="40222" y="0"/>
                    </a:cubicBezTo>
                    <a:close/>
                  </a:path>
                </a:pathLst>
              </a:custGeom>
              <a:solidFill>
                <a:srgbClr val="A6A6A6">
                  <a:alpha val="34902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585408" cy="4352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16811517" cy="2582369"/>
              <a:chOff x="0" y="0"/>
              <a:chExt cx="2585408" cy="39713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5408" cy="397137"/>
              </a:xfrm>
              <a:custGeom>
                <a:avLst/>
                <a:gdLst/>
                <a:ahLst/>
                <a:cxnLst/>
                <a:rect r="r" b="b" t="t" l="l"/>
                <a:pathLst>
                  <a:path h="397137" w="2585408">
                    <a:moveTo>
                      <a:pt x="40222" y="0"/>
                    </a:moveTo>
                    <a:lnTo>
                      <a:pt x="2545186" y="0"/>
                    </a:lnTo>
                    <a:cubicBezTo>
                      <a:pt x="2567400" y="0"/>
                      <a:pt x="2585408" y="18008"/>
                      <a:pt x="2585408" y="40222"/>
                    </a:cubicBezTo>
                    <a:lnTo>
                      <a:pt x="2585408" y="356915"/>
                    </a:lnTo>
                    <a:cubicBezTo>
                      <a:pt x="2585408" y="379129"/>
                      <a:pt x="2567400" y="397137"/>
                      <a:pt x="2545186" y="397137"/>
                    </a:cubicBezTo>
                    <a:lnTo>
                      <a:pt x="40222" y="397137"/>
                    </a:lnTo>
                    <a:cubicBezTo>
                      <a:pt x="18008" y="397137"/>
                      <a:pt x="0" y="379129"/>
                      <a:pt x="0" y="356915"/>
                    </a:cubicBezTo>
                    <a:lnTo>
                      <a:pt x="0" y="40222"/>
                    </a:lnTo>
                    <a:cubicBezTo>
                      <a:pt x="0" y="18008"/>
                      <a:pt x="18008" y="0"/>
                      <a:pt x="402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585408" cy="4352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324345" y="171352"/>
              <a:ext cx="16162826" cy="2239665"/>
              <a:chOff x="0" y="0"/>
              <a:chExt cx="2485647" cy="34443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485647" cy="344433"/>
              </a:xfrm>
              <a:custGeom>
                <a:avLst/>
                <a:gdLst/>
                <a:ahLst/>
                <a:cxnLst/>
                <a:rect r="r" b="b" t="t" l="l"/>
                <a:pathLst>
                  <a:path h="344433" w="2485647">
                    <a:moveTo>
                      <a:pt x="41836" y="0"/>
                    </a:moveTo>
                    <a:lnTo>
                      <a:pt x="2443811" y="0"/>
                    </a:lnTo>
                    <a:cubicBezTo>
                      <a:pt x="2466916" y="0"/>
                      <a:pt x="2485647" y="18731"/>
                      <a:pt x="2485647" y="41836"/>
                    </a:cubicBezTo>
                    <a:lnTo>
                      <a:pt x="2485647" y="302597"/>
                    </a:lnTo>
                    <a:cubicBezTo>
                      <a:pt x="2485647" y="325703"/>
                      <a:pt x="2466916" y="344433"/>
                      <a:pt x="2443811" y="344433"/>
                    </a:cubicBezTo>
                    <a:lnTo>
                      <a:pt x="41836" y="344433"/>
                    </a:lnTo>
                    <a:cubicBezTo>
                      <a:pt x="18731" y="344433"/>
                      <a:pt x="0" y="325703"/>
                      <a:pt x="0" y="302597"/>
                    </a:cubicBezTo>
                    <a:lnTo>
                      <a:pt x="0" y="41836"/>
                    </a:lnTo>
                    <a:cubicBezTo>
                      <a:pt x="0" y="18731"/>
                      <a:pt x="18731" y="0"/>
                      <a:pt x="41836" y="0"/>
                    </a:cubicBezTo>
                    <a:close/>
                  </a:path>
                </a:pathLst>
              </a:custGeom>
              <a:solidFill>
                <a:srgbClr val="F4DEC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485647" cy="3825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1923177" y="1320650"/>
            <a:ext cx="10863219" cy="131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4"/>
              </a:lnSpc>
            </a:pPr>
            <a:r>
              <a:rPr lang="en-US" sz="4817">
                <a:solidFill>
                  <a:srgbClr val="A94C1A"/>
                </a:solidFill>
                <a:latin typeface="Sunday"/>
              </a:rPr>
              <a:t>brief overview of the weather app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06469" y="3735583"/>
            <a:ext cx="11291622" cy="476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1"/>
              </a:lnSpc>
            </a:pPr>
            <a:r>
              <a:rPr lang="en-US" sz="4982">
                <a:solidFill>
                  <a:srgbClr val="A94C1A"/>
                </a:solidFill>
                <a:latin typeface="Rosario"/>
              </a:rPr>
              <a:t>The Weather App project is designed to fetch and display weather information based on user input. This project is divided into two versions: a simple console-based application and a more sophisticated graphical user interface (GUI) version.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63945" y="-612538"/>
            <a:ext cx="2824055" cy="2533092"/>
          </a:xfrm>
          <a:custGeom>
            <a:avLst/>
            <a:gdLst/>
            <a:ahLst/>
            <a:cxnLst/>
            <a:rect r="r" b="b" t="t" l="l"/>
            <a:pathLst>
              <a:path h="2533092" w="2824055">
                <a:moveTo>
                  <a:pt x="0" y="0"/>
                </a:moveTo>
                <a:lnTo>
                  <a:pt x="2824055" y="0"/>
                </a:lnTo>
                <a:lnTo>
                  <a:pt x="2824055" y="2533092"/>
                </a:lnTo>
                <a:lnTo>
                  <a:pt x="0" y="2533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700126"/>
            <a:ext cx="3290984" cy="3225164"/>
          </a:xfrm>
          <a:custGeom>
            <a:avLst/>
            <a:gdLst/>
            <a:ahLst/>
            <a:cxnLst/>
            <a:rect r="r" b="b" t="t" l="l"/>
            <a:pathLst>
              <a:path h="3225164" w="3290984">
                <a:moveTo>
                  <a:pt x="0" y="0"/>
                </a:moveTo>
                <a:lnTo>
                  <a:pt x="3290984" y="0"/>
                </a:lnTo>
                <a:lnTo>
                  <a:pt x="3290984" y="3225164"/>
                </a:lnTo>
                <a:lnTo>
                  <a:pt x="0" y="3225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83424" y="8729878"/>
            <a:ext cx="2104576" cy="2057400"/>
          </a:xfrm>
          <a:custGeom>
            <a:avLst/>
            <a:gdLst/>
            <a:ahLst/>
            <a:cxnLst/>
            <a:rect r="r" b="b" t="t" l="l"/>
            <a:pathLst>
              <a:path h="2057400" w="2104576">
                <a:moveTo>
                  <a:pt x="0" y="0"/>
                </a:moveTo>
                <a:lnTo>
                  <a:pt x="2104576" y="0"/>
                </a:lnTo>
                <a:lnTo>
                  <a:pt x="210457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681663" y="2508752"/>
            <a:ext cx="5885929" cy="5858150"/>
            <a:chOff x="0" y="0"/>
            <a:chExt cx="7847906" cy="78108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78424" y="218070"/>
              <a:ext cx="7669482" cy="7592796"/>
              <a:chOff x="0" y="0"/>
              <a:chExt cx="1423652" cy="140941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23652" cy="1409417"/>
              </a:xfrm>
              <a:custGeom>
                <a:avLst/>
                <a:gdLst/>
                <a:ahLst/>
                <a:cxnLst/>
                <a:rect r="r" b="b" t="t" l="l"/>
                <a:pathLst>
                  <a:path h="1409417" w="1423652">
                    <a:moveTo>
                      <a:pt x="73045" y="0"/>
                    </a:moveTo>
                    <a:lnTo>
                      <a:pt x="1350608" y="0"/>
                    </a:lnTo>
                    <a:cubicBezTo>
                      <a:pt x="1390949" y="0"/>
                      <a:pt x="1423652" y="32703"/>
                      <a:pt x="1423652" y="73045"/>
                    </a:cubicBezTo>
                    <a:lnTo>
                      <a:pt x="1423652" y="1336373"/>
                    </a:lnTo>
                    <a:cubicBezTo>
                      <a:pt x="1423652" y="1376714"/>
                      <a:pt x="1390949" y="1409417"/>
                      <a:pt x="1350608" y="1409417"/>
                    </a:cubicBezTo>
                    <a:lnTo>
                      <a:pt x="73045" y="1409417"/>
                    </a:lnTo>
                    <a:cubicBezTo>
                      <a:pt x="32703" y="1409417"/>
                      <a:pt x="0" y="1376714"/>
                      <a:pt x="0" y="1336373"/>
                    </a:cubicBezTo>
                    <a:lnTo>
                      <a:pt x="0" y="73045"/>
                    </a:lnTo>
                    <a:cubicBezTo>
                      <a:pt x="0" y="32703"/>
                      <a:pt x="32703" y="0"/>
                      <a:pt x="73045" y="0"/>
                    </a:cubicBezTo>
                    <a:close/>
                  </a:path>
                </a:pathLst>
              </a:custGeom>
              <a:solidFill>
                <a:srgbClr val="A6A6A6">
                  <a:alpha val="27843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423652" cy="14475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7669482" cy="7592796"/>
              <a:chOff x="0" y="0"/>
              <a:chExt cx="1423652" cy="140941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423652" cy="1409417"/>
              </a:xfrm>
              <a:custGeom>
                <a:avLst/>
                <a:gdLst/>
                <a:ahLst/>
                <a:cxnLst/>
                <a:rect r="r" b="b" t="t" l="l"/>
                <a:pathLst>
                  <a:path h="1409417" w="1423652">
                    <a:moveTo>
                      <a:pt x="73045" y="0"/>
                    </a:moveTo>
                    <a:lnTo>
                      <a:pt x="1350608" y="0"/>
                    </a:lnTo>
                    <a:cubicBezTo>
                      <a:pt x="1390949" y="0"/>
                      <a:pt x="1423652" y="32703"/>
                      <a:pt x="1423652" y="73045"/>
                    </a:cubicBezTo>
                    <a:lnTo>
                      <a:pt x="1423652" y="1336373"/>
                    </a:lnTo>
                    <a:cubicBezTo>
                      <a:pt x="1423652" y="1376714"/>
                      <a:pt x="1390949" y="1409417"/>
                      <a:pt x="1350608" y="1409417"/>
                    </a:cubicBezTo>
                    <a:lnTo>
                      <a:pt x="73045" y="1409417"/>
                    </a:lnTo>
                    <a:cubicBezTo>
                      <a:pt x="32703" y="1409417"/>
                      <a:pt x="0" y="1376714"/>
                      <a:pt x="0" y="1336373"/>
                    </a:cubicBezTo>
                    <a:lnTo>
                      <a:pt x="0" y="73045"/>
                    </a:lnTo>
                    <a:cubicBezTo>
                      <a:pt x="0" y="32703"/>
                      <a:pt x="32703" y="0"/>
                      <a:pt x="730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423652" cy="14475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13569" y="339701"/>
              <a:ext cx="7042343" cy="6913394"/>
              <a:chOff x="0" y="0"/>
              <a:chExt cx="1307239" cy="128330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07239" cy="1283303"/>
              </a:xfrm>
              <a:custGeom>
                <a:avLst/>
                <a:gdLst/>
                <a:ahLst/>
                <a:cxnLst/>
                <a:rect r="r" b="b" t="t" l="l"/>
                <a:pathLst>
                  <a:path h="1283303" w="1307239">
                    <a:moveTo>
                      <a:pt x="79550" y="0"/>
                    </a:moveTo>
                    <a:lnTo>
                      <a:pt x="1227690" y="0"/>
                    </a:lnTo>
                    <a:cubicBezTo>
                      <a:pt x="1248788" y="0"/>
                      <a:pt x="1269021" y="8381"/>
                      <a:pt x="1283940" y="23300"/>
                    </a:cubicBezTo>
                    <a:cubicBezTo>
                      <a:pt x="1298858" y="38218"/>
                      <a:pt x="1307239" y="58452"/>
                      <a:pt x="1307239" y="79550"/>
                    </a:cubicBezTo>
                    <a:lnTo>
                      <a:pt x="1307239" y="1203754"/>
                    </a:lnTo>
                    <a:cubicBezTo>
                      <a:pt x="1307239" y="1224851"/>
                      <a:pt x="1298858" y="1245085"/>
                      <a:pt x="1283940" y="1260004"/>
                    </a:cubicBezTo>
                    <a:cubicBezTo>
                      <a:pt x="1269021" y="1274922"/>
                      <a:pt x="1248788" y="1283303"/>
                      <a:pt x="1227690" y="1283303"/>
                    </a:cubicBezTo>
                    <a:lnTo>
                      <a:pt x="79550" y="1283303"/>
                    </a:lnTo>
                    <a:cubicBezTo>
                      <a:pt x="58452" y="1283303"/>
                      <a:pt x="38218" y="1274922"/>
                      <a:pt x="23300" y="1260004"/>
                    </a:cubicBezTo>
                    <a:cubicBezTo>
                      <a:pt x="8381" y="1245085"/>
                      <a:pt x="0" y="1224851"/>
                      <a:pt x="0" y="1203754"/>
                    </a:cubicBezTo>
                    <a:lnTo>
                      <a:pt x="0" y="79550"/>
                    </a:lnTo>
                    <a:cubicBezTo>
                      <a:pt x="0" y="58452"/>
                      <a:pt x="8381" y="38218"/>
                      <a:pt x="23300" y="23300"/>
                    </a:cubicBezTo>
                    <a:cubicBezTo>
                      <a:pt x="38218" y="8381"/>
                      <a:pt x="58452" y="0"/>
                      <a:pt x="79550" y="0"/>
                    </a:cubicBezTo>
                    <a:close/>
                  </a:path>
                </a:pathLst>
              </a:custGeom>
              <a:solidFill>
                <a:srgbClr val="F4DEC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307239" cy="13214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780420" y="1856820"/>
            <a:ext cx="7661590" cy="124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4"/>
              </a:lnSpc>
            </a:pPr>
            <a:r>
              <a:rPr lang="en-US" sz="4518">
                <a:solidFill>
                  <a:srgbClr val="A94C1A"/>
                </a:solidFill>
                <a:latin typeface="Sunday Bold"/>
              </a:rPr>
              <a:t>Comparison of easy and advanced versions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80420" y="3626960"/>
            <a:ext cx="8901243" cy="582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2"/>
              </a:lnSpc>
            </a:pPr>
            <a:r>
              <a:rPr lang="en-US" sz="4282">
                <a:solidFill>
                  <a:srgbClr val="A94C1A"/>
                </a:solidFill>
                <a:latin typeface="Rosario"/>
              </a:rPr>
              <a:t>The easy version of the Weather App is a basic console application that retrieves weather information using the OpenWeatherMap API based on a city name input by the user. The advanced version enhances the user experience by providing a GUI, allowing users to input the city name and view detailed weather data more interactively.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1735221" y="3512314"/>
            <a:ext cx="3728724" cy="3851026"/>
            <a:chOff x="0" y="0"/>
            <a:chExt cx="6350000" cy="6558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8"/>
              <a:stretch>
                <a:fillRect l="0" t="-22607" r="0" b="-22607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7052" y="4109246"/>
            <a:ext cx="4471089" cy="1113340"/>
            <a:chOff x="0" y="0"/>
            <a:chExt cx="5961452" cy="148445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35535" y="41444"/>
              <a:ext cx="5825917" cy="1443010"/>
              <a:chOff x="0" y="0"/>
              <a:chExt cx="2475887" cy="613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A6A6A6">
                  <a:alpha val="27843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5825917" cy="1443010"/>
              <a:chOff x="0" y="0"/>
              <a:chExt cx="2475887" cy="61324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38195" y="64560"/>
              <a:ext cx="5349528" cy="1313889"/>
              <a:chOff x="0" y="0"/>
              <a:chExt cx="2273432" cy="55837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73432" cy="558374"/>
              </a:xfrm>
              <a:custGeom>
                <a:avLst/>
                <a:gdLst/>
                <a:ahLst/>
                <a:cxnLst/>
                <a:rect r="r" b="b" t="t" l="l"/>
                <a:pathLst>
                  <a:path h="558374" w="2273432">
                    <a:moveTo>
                      <a:pt x="45742" y="0"/>
                    </a:moveTo>
                    <a:lnTo>
                      <a:pt x="2227690" y="0"/>
                    </a:lnTo>
                    <a:cubicBezTo>
                      <a:pt x="2239822" y="0"/>
                      <a:pt x="2251456" y="4819"/>
                      <a:pt x="2260034" y="13397"/>
                    </a:cubicBezTo>
                    <a:cubicBezTo>
                      <a:pt x="2268613" y="21976"/>
                      <a:pt x="2273432" y="33610"/>
                      <a:pt x="2273432" y="45742"/>
                    </a:cubicBezTo>
                    <a:lnTo>
                      <a:pt x="2273432" y="512633"/>
                    </a:lnTo>
                    <a:cubicBezTo>
                      <a:pt x="2273432" y="524764"/>
                      <a:pt x="2268613" y="536399"/>
                      <a:pt x="2260034" y="544977"/>
                    </a:cubicBezTo>
                    <a:cubicBezTo>
                      <a:pt x="2251456" y="553555"/>
                      <a:pt x="2239822" y="558374"/>
                      <a:pt x="2227690" y="558374"/>
                    </a:cubicBezTo>
                    <a:lnTo>
                      <a:pt x="45742" y="558374"/>
                    </a:lnTo>
                    <a:cubicBezTo>
                      <a:pt x="33610" y="558374"/>
                      <a:pt x="21976" y="553555"/>
                      <a:pt x="13397" y="544977"/>
                    </a:cubicBezTo>
                    <a:cubicBezTo>
                      <a:pt x="4819" y="536399"/>
                      <a:pt x="0" y="524764"/>
                      <a:pt x="0" y="512633"/>
                    </a:cubicBezTo>
                    <a:lnTo>
                      <a:pt x="0" y="45742"/>
                    </a:lnTo>
                    <a:cubicBezTo>
                      <a:pt x="0" y="33610"/>
                      <a:pt x="4819" y="21976"/>
                      <a:pt x="13397" y="13397"/>
                    </a:cubicBezTo>
                    <a:cubicBezTo>
                      <a:pt x="21976" y="4819"/>
                      <a:pt x="33610" y="0"/>
                      <a:pt x="45742" y="0"/>
                    </a:cubicBezTo>
                    <a:close/>
                  </a:path>
                </a:pathLst>
              </a:custGeom>
              <a:solidFill>
                <a:srgbClr val="F4DEC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273432" cy="5964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00130" y="339335"/>
              <a:ext cx="4961192" cy="834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2277">
                  <a:solidFill>
                    <a:srgbClr val="A94C1A"/>
                  </a:solidFill>
                  <a:latin typeface="Rosario"/>
                </a:rPr>
                <a:t>Objective: Fetch and Display Weather Information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763292" y="8701812"/>
            <a:ext cx="3167128" cy="3170376"/>
          </a:xfrm>
          <a:custGeom>
            <a:avLst/>
            <a:gdLst/>
            <a:ahLst/>
            <a:cxnLst/>
            <a:rect r="r" b="b" t="t" l="l"/>
            <a:pathLst>
              <a:path h="3170376" w="3167128">
                <a:moveTo>
                  <a:pt x="0" y="0"/>
                </a:moveTo>
                <a:lnTo>
                  <a:pt x="3167128" y="0"/>
                </a:lnTo>
                <a:lnTo>
                  <a:pt x="3167128" y="3170376"/>
                </a:lnTo>
                <a:lnTo>
                  <a:pt x="0" y="3170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782883" y="811646"/>
            <a:ext cx="1972250" cy="1713392"/>
          </a:xfrm>
          <a:custGeom>
            <a:avLst/>
            <a:gdLst/>
            <a:ahLst/>
            <a:cxnLst/>
            <a:rect r="r" b="b" t="t" l="l"/>
            <a:pathLst>
              <a:path h="1713392" w="1972250">
                <a:moveTo>
                  <a:pt x="0" y="0"/>
                </a:moveTo>
                <a:lnTo>
                  <a:pt x="1972251" y="0"/>
                </a:lnTo>
                <a:lnTo>
                  <a:pt x="1972251" y="1713392"/>
                </a:lnTo>
                <a:lnTo>
                  <a:pt x="0" y="1713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802" y="-634979"/>
            <a:ext cx="2347034" cy="2294423"/>
          </a:xfrm>
          <a:custGeom>
            <a:avLst/>
            <a:gdLst/>
            <a:ahLst/>
            <a:cxnLst/>
            <a:rect r="r" b="b" t="t" l="l"/>
            <a:pathLst>
              <a:path h="2294423" w="2347034">
                <a:moveTo>
                  <a:pt x="0" y="0"/>
                </a:moveTo>
                <a:lnTo>
                  <a:pt x="2347034" y="0"/>
                </a:lnTo>
                <a:lnTo>
                  <a:pt x="2347034" y="2294423"/>
                </a:lnTo>
                <a:lnTo>
                  <a:pt x="0" y="2294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77895" y="8701812"/>
            <a:ext cx="3068014" cy="2861761"/>
          </a:xfrm>
          <a:custGeom>
            <a:avLst/>
            <a:gdLst/>
            <a:ahLst/>
            <a:cxnLst/>
            <a:rect r="r" b="b" t="t" l="l"/>
            <a:pathLst>
              <a:path h="2861761" w="3068014">
                <a:moveTo>
                  <a:pt x="0" y="0"/>
                </a:moveTo>
                <a:lnTo>
                  <a:pt x="3068014" y="0"/>
                </a:lnTo>
                <a:lnTo>
                  <a:pt x="3068014" y="2861761"/>
                </a:lnTo>
                <a:lnTo>
                  <a:pt x="0" y="28617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572508" y="1152525"/>
            <a:ext cx="9142984" cy="1451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7"/>
              </a:lnSpc>
            </a:pPr>
            <a:r>
              <a:rPr lang="en-US" sz="10371">
                <a:solidFill>
                  <a:srgbClr val="A94C1A"/>
                </a:solidFill>
                <a:latin typeface="Sunday"/>
              </a:rPr>
              <a:t>Easy version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0272" y="6004652"/>
            <a:ext cx="5167868" cy="211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3120">
                <a:solidFill>
                  <a:srgbClr val="A94C1A"/>
                </a:solidFill>
                <a:latin typeface="Rosario"/>
              </a:rPr>
              <a:t>The goal of the easy version is to fetch weather data based on the city name provided by the user and display it in the console.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0066" y="6004652"/>
            <a:ext cx="5167868" cy="169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73735" indent="-336868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User input for city name.</a:t>
            </a:r>
          </a:p>
          <a:p>
            <a:pPr algn="ctr" marL="673735" indent="-336868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Weather information display (description, temperature, humidity).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99860" y="6004652"/>
            <a:ext cx="5167868" cy="85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73735" indent="-336868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Python</a:t>
            </a:r>
          </a:p>
          <a:p>
            <a:pPr algn="ctr" marL="673735" indent="-336868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Library: requests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908456" y="4030160"/>
            <a:ext cx="4471089" cy="1113340"/>
            <a:chOff x="0" y="0"/>
            <a:chExt cx="5961452" cy="148445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135535" y="41444"/>
              <a:ext cx="5825917" cy="1443010"/>
              <a:chOff x="0" y="0"/>
              <a:chExt cx="2475887" cy="61324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A6A6A6">
                  <a:alpha val="27843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5825917" cy="1443010"/>
              <a:chOff x="0" y="0"/>
              <a:chExt cx="2475887" cy="6132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38195" y="64560"/>
              <a:ext cx="5349528" cy="1313889"/>
              <a:chOff x="0" y="0"/>
              <a:chExt cx="2273432" cy="55837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273432" cy="558374"/>
              </a:xfrm>
              <a:custGeom>
                <a:avLst/>
                <a:gdLst/>
                <a:ahLst/>
                <a:cxnLst/>
                <a:rect r="r" b="b" t="t" l="l"/>
                <a:pathLst>
                  <a:path h="558374" w="2273432">
                    <a:moveTo>
                      <a:pt x="45742" y="0"/>
                    </a:moveTo>
                    <a:lnTo>
                      <a:pt x="2227690" y="0"/>
                    </a:lnTo>
                    <a:cubicBezTo>
                      <a:pt x="2239822" y="0"/>
                      <a:pt x="2251456" y="4819"/>
                      <a:pt x="2260034" y="13397"/>
                    </a:cubicBezTo>
                    <a:cubicBezTo>
                      <a:pt x="2268613" y="21976"/>
                      <a:pt x="2273432" y="33610"/>
                      <a:pt x="2273432" y="45742"/>
                    </a:cubicBezTo>
                    <a:lnTo>
                      <a:pt x="2273432" y="512633"/>
                    </a:lnTo>
                    <a:cubicBezTo>
                      <a:pt x="2273432" y="524764"/>
                      <a:pt x="2268613" y="536399"/>
                      <a:pt x="2260034" y="544977"/>
                    </a:cubicBezTo>
                    <a:cubicBezTo>
                      <a:pt x="2251456" y="553555"/>
                      <a:pt x="2239822" y="558374"/>
                      <a:pt x="2227690" y="558374"/>
                    </a:cubicBezTo>
                    <a:lnTo>
                      <a:pt x="45742" y="558374"/>
                    </a:lnTo>
                    <a:cubicBezTo>
                      <a:pt x="33610" y="558374"/>
                      <a:pt x="21976" y="553555"/>
                      <a:pt x="13397" y="544977"/>
                    </a:cubicBezTo>
                    <a:cubicBezTo>
                      <a:pt x="4819" y="536399"/>
                      <a:pt x="0" y="524764"/>
                      <a:pt x="0" y="512633"/>
                    </a:cubicBezTo>
                    <a:lnTo>
                      <a:pt x="0" y="45742"/>
                    </a:lnTo>
                    <a:cubicBezTo>
                      <a:pt x="0" y="33610"/>
                      <a:pt x="4819" y="21976"/>
                      <a:pt x="13397" y="13397"/>
                    </a:cubicBezTo>
                    <a:cubicBezTo>
                      <a:pt x="21976" y="4819"/>
                      <a:pt x="33610" y="0"/>
                      <a:pt x="45742" y="0"/>
                    </a:cubicBezTo>
                    <a:close/>
                  </a:path>
                </a:pathLst>
              </a:custGeom>
              <a:solidFill>
                <a:srgbClr val="F4DEC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273432" cy="5964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500130" y="348860"/>
              <a:ext cx="4961192" cy="618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6"/>
                </a:lnSpc>
              </a:pPr>
              <a:r>
                <a:rPr lang="en-US" sz="3277">
                  <a:solidFill>
                    <a:srgbClr val="A94C1A"/>
                  </a:solidFill>
                  <a:latin typeface="Rosario"/>
                </a:rPr>
                <a:t>Features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648249" y="4109246"/>
            <a:ext cx="4471089" cy="1113340"/>
            <a:chOff x="0" y="0"/>
            <a:chExt cx="5961452" cy="1484454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135535" y="41444"/>
              <a:ext cx="5825917" cy="1443010"/>
              <a:chOff x="0" y="0"/>
              <a:chExt cx="2475887" cy="61324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A6A6A6">
                  <a:alpha val="27843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5825917" cy="1443010"/>
              <a:chOff x="0" y="0"/>
              <a:chExt cx="2475887" cy="61324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238195" y="64560"/>
              <a:ext cx="5349528" cy="1313889"/>
              <a:chOff x="0" y="0"/>
              <a:chExt cx="2273432" cy="558374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273432" cy="558374"/>
              </a:xfrm>
              <a:custGeom>
                <a:avLst/>
                <a:gdLst/>
                <a:ahLst/>
                <a:cxnLst/>
                <a:rect r="r" b="b" t="t" l="l"/>
                <a:pathLst>
                  <a:path h="558374" w="2273432">
                    <a:moveTo>
                      <a:pt x="45742" y="0"/>
                    </a:moveTo>
                    <a:lnTo>
                      <a:pt x="2227690" y="0"/>
                    </a:lnTo>
                    <a:cubicBezTo>
                      <a:pt x="2239822" y="0"/>
                      <a:pt x="2251456" y="4819"/>
                      <a:pt x="2260034" y="13397"/>
                    </a:cubicBezTo>
                    <a:cubicBezTo>
                      <a:pt x="2268613" y="21976"/>
                      <a:pt x="2273432" y="33610"/>
                      <a:pt x="2273432" y="45742"/>
                    </a:cubicBezTo>
                    <a:lnTo>
                      <a:pt x="2273432" y="512633"/>
                    </a:lnTo>
                    <a:cubicBezTo>
                      <a:pt x="2273432" y="524764"/>
                      <a:pt x="2268613" y="536399"/>
                      <a:pt x="2260034" y="544977"/>
                    </a:cubicBezTo>
                    <a:cubicBezTo>
                      <a:pt x="2251456" y="553555"/>
                      <a:pt x="2239822" y="558374"/>
                      <a:pt x="2227690" y="558374"/>
                    </a:cubicBezTo>
                    <a:lnTo>
                      <a:pt x="45742" y="558374"/>
                    </a:lnTo>
                    <a:cubicBezTo>
                      <a:pt x="33610" y="558374"/>
                      <a:pt x="21976" y="553555"/>
                      <a:pt x="13397" y="544977"/>
                    </a:cubicBezTo>
                    <a:cubicBezTo>
                      <a:pt x="4819" y="536399"/>
                      <a:pt x="0" y="524764"/>
                      <a:pt x="0" y="512633"/>
                    </a:cubicBezTo>
                    <a:lnTo>
                      <a:pt x="0" y="45742"/>
                    </a:lnTo>
                    <a:cubicBezTo>
                      <a:pt x="0" y="33610"/>
                      <a:pt x="4819" y="21976"/>
                      <a:pt x="13397" y="13397"/>
                    </a:cubicBezTo>
                    <a:cubicBezTo>
                      <a:pt x="21976" y="4819"/>
                      <a:pt x="33610" y="0"/>
                      <a:pt x="45742" y="0"/>
                    </a:cubicBezTo>
                    <a:close/>
                  </a:path>
                </a:pathLst>
              </a:custGeom>
              <a:solidFill>
                <a:srgbClr val="F4DEC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2273432" cy="5964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500130" y="348860"/>
              <a:ext cx="4961192" cy="618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6"/>
                </a:lnSpc>
              </a:pPr>
              <a:r>
                <a:rPr lang="en-US" sz="3277">
                  <a:solidFill>
                    <a:srgbClr val="A94C1A"/>
                  </a:solidFill>
                  <a:latin typeface="Rosario"/>
                </a:rPr>
                <a:t>Technologies Used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5492" y="3335375"/>
            <a:ext cx="8461656" cy="535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8850" indent="-389425" lvl="1">
              <a:lnSpc>
                <a:spcPts val="3859"/>
              </a:lnSpc>
              <a:buFont typeface="Arial"/>
              <a:buChar char="•"/>
            </a:pPr>
            <a:r>
              <a:rPr lang="en-US" sz="3607">
                <a:solidFill>
                  <a:srgbClr val="A94C1A"/>
                </a:solidFill>
                <a:latin typeface="Rosario"/>
              </a:rPr>
              <a:t>API Integration with OpenWeatherMap: The application uses the requests library to fetch weather data from the OpenWeatherMap API.</a:t>
            </a:r>
          </a:p>
          <a:p>
            <a:pPr algn="l">
              <a:lnSpc>
                <a:spcPts val="3859"/>
              </a:lnSpc>
            </a:pPr>
          </a:p>
          <a:p>
            <a:pPr algn="l" marL="778850" indent="-389425" lvl="1">
              <a:lnSpc>
                <a:spcPts val="3859"/>
              </a:lnSpc>
              <a:buFont typeface="Arial"/>
              <a:buChar char="•"/>
            </a:pPr>
            <a:r>
              <a:rPr lang="en-US" sz="3607">
                <a:solidFill>
                  <a:srgbClr val="A94C1A"/>
                </a:solidFill>
                <a:latin typeface="Rosario"/>
              </a:rPr>
              <a:t>User Input Handling: The application prompts the user to input a city name.</a:t>
            </a:r>
          </a:p>
          <a:p>
            <a:pPr algn="l">
              <a:lnSpc>
                <a:spcPts val="3859"/>
              </a:lnSpc>
            </a:pPr>
          </a:p>
          <a:p>
            <a:pPr algn="l" marL="778850" indent="-389425" lvl="1">
              <a:lnSpc>
                <a:spcPts val="3859"/>
              </a:lnSpc>
              <a:buFont typeface="Arial"/>
              <a:buChar char="•"/>
            </a:pPr>
            <a:r>
              <a:rPr lang="en-US" sz="3607">
                <a:solidFill>
                  <a:srgbClr val="A94C1A"/>
                </a:solidFill>
                <a:latin typeface="Rosario"/>
              </a:rPr>
              <a:t>Data Display: Weather data, including description, temperature, and humidity, is displayed in the console.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469597" y="2670504"/>
            <a:ext cx="7406948" cy="6313643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10317586">
            <a:off x="-1027001" y="8562048"/>
            <a:ext cx="3001583" cy="3004662"/>
          </a:xfrm>
          <a:custGeom>
            <a:avLst/>
            <a:gdLst/>
            <a:ahLst/>
            <a:cxnLst/>
            <a:rect r="r" b="b" t="t" l="l"/>
            <a:pathLst>
              <a:path h="3004662" w="3001583">
                <a:moveTo>
                  <a:pt x="0" y="0"/>
                </a:moveTo>
                <a:lnTo>
                  <a:pt x="3001583" y="0"/>
                </a:lnTo>
                <a:lnTo>
                  <a:pt x="3001583" y="3004661"/>
                </a:lnTo>
                <a:lnTo>
                  <a:pt x="0" y="3004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36857" y="-375534"/>
            <a:ext cx="2348738" cy="2296089"/>
          </a:xfrm>
          <a:custGeom>
            <a:avLst/>
            <a:gdLst/>
            <a:ahLst/>
            <a:cxnLst/>
            <a:rect r="r" b="b" t="t" l="l"/>
            <a:pathLst>
              <a:path h="2296089" w="2348738">
                <a:moveTo>
                  <a:pt x="0" y="0"/>
                </a:moveTo>
                <a:lnTo>
                  <a:pt x="2348738" y="0"/>
                </a:lnTo>
                <a:lnTo>
                  <a:pt x="2348738" y="2296088"/>
                </a:lnTo>
                <a:lnTo>
                  <a:pt x="0" y="2296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95431" y="8976502"/>
            <a:ext cx="3482853" cy="1570450"/>
          </a:xfrm>
          <a:custGeom>
            <a:avLst/>
            <a:gdLst/>
            <a:ahLst/>
            <a:cxnLst/>
            <a:rect r="r" b="b" t="t" l="l"/>
            <a:pathLst>
              <a:path h="1570450" w="3482853">
                <a:moveTo>
                  <a:pt x="0" y="0"/>
                </a:moveTo>
                <a:lnTo>
                  <a:pt x="3482852" y="0"/>
                </a:lnTo>
                <a:lnTo>
                  <a:pt x="3482852" y="1570450"/>
                </a:lnTo>
                <a:lnTo>
                  <a:pt x="0" y="1570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5492" y="1631910"/>
            <a:ext cx="8461656" cy="11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9"/>
              </a:lnSpc>
            </a:pPr>
            <a:r>
              <a:rPr lang="en-US" sz="8018">
                <a:solidFill>
                  <a:srgbClr val="A94C1A"/>
                </a:solidFill>
                <a:latin typeface="Sunday"/>
              </a:rPr>
              <a:t>implementation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-95934" y="-375534"/>
            <a:ext cx="3482853" cy="1570450"/>
          </a:xfrm>
          <a:custGeom>
            <a:avLst/>
            <a:gdLst/>
            <a:ahLst/>
            <a:cxnLst/>
            <a:rect r="r" b="b" t="t" l="l"/>
            <a:pathLst>
              <a:path h="1570450" w="3482853">
                <a:moveTo>
                  <a:pt x="3482852" y="1570450"/>
                </a:moveTo>
                <a:lnTo>
                  <a:pt x="0" y="1570450"/>
                </a:lnTo>
                <a:lnTo>
                  <a:pt x="0" y="0"/>
                </a:lnTo>
                <a:lnTo>
                  <a:pt x="3482852" y="0"/>
                </a:lnTo>
                <a:lnTo>
                  <a:pt x="3482852" y="157045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6601" y="4186496"/>
            <a:ext cx="4815212" cy="1199030"/>
            <a:chOff x="0" y="0"/>
            <a:chExt cx="6420282" cy="159870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45967" y="44634"/>
              <a:ext cx="6274316" cy="1554073"/>
              <a:chOff x="0" y="0"/>
              <a:chExt cx="2475887" cy="6132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A6A6A6">
                  <a:alpha val="27843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6274316" cy="1554073"/>
              <a:chOff x="0" y="0"/>
              <a:chExt cx="2475887" cy="61324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56528" y="69529"/>
              <a:ext cx="5761261" cy="1415015"/>
              <a:chOff x="0" y="0"/>
              <a:chExt cx="2273432" cy="55837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73432" cy="558374"/>
              </a:xfrm>
              <a:custGeom>
                <a:avLst/>
                <a:gdLst/>
                <a:ahLst/>
                <a:cxnLst/>
                <a:rect r="r" b="b" t="t" l="l"/>
                <a:pathLst>
                  <a:path h="558374" w="2273432">
                    <a:moveTo>
                      <a:pt x="45742" y="0"/>
                    </a:moveTo>
                    <a:lnTo>
                      <a:pt x="2227690" y="0"/>
                    </a:lnTo>
                    <a:cubicBezTo>
                      <a:pt x="2239822" y="0"/>
                      <a:pt x="2251456" y="4819"/>
                      <a:pt x="2260034" y="13397"/>
                    </a:cubicBezTo>
                    <a:cubicBezTo>
                      <a:pt x="2268613" y="21976"/>
                      <a:pt x="2273432" y="33610"/>
                      <a:pt x="2273432" y="45742"/>
                    </a:cubicBezTo>
                    <a:lnTo>
                      <a:pt x="2273432" y="512633"/>
                    </a:lnTo>
                    <a:cubicBezTo>
                      <a:pt x="2273432" y="524764"/>
                      <a:pt x="2268613" y="536399"/>
                      <a:pt x="2260034" y="544977"/>
                    </a:cubicBezTo>
                    <a:cubicBezTo>
                      <a:pt x="2251456" y="553555"/>
                      <a:pt x="2239822" y="558374"/>
                      <a:pt x="2227690" y="558374"/>
                    </a:cubicBezTo>
                    <a:lnTo>
                      <a:pt x="45742" y="558374"/>
                    </a:lnTo>
                    <a:cubicBezTo>
                      <a:pt x="33610" y="558374"/>
                      <a:pt x="21976" y="553555"/>
                      <a:pt x="13397" y="544977"/>
                    </a:cubicBezTo>
                    <a:cubicBezTo>
                      <a:pt x="4819" y="536399"/>
                      <a:pt x="0" y="524764"/>
                      <a:pt x="0" y="512633"/>
                    </a:cubicBezTo>
                    <a:lnTo>
                      <a:pt x="0" y="45742"/>
                    </a:lnTo>
                    <a:cubicBezTo>
                      <a:pt x="0" y="33610"/>
                      <a:pt x="4819" y="21976"/>
                      <a:pt x="13397" y="13397"/>
                    </a:cubicBezTo>
                    <a:cubicBezTo>
                      <a:pt x="21976" y="4819"/>
                      <a:pt x="33610" y="0"/>
                      <a:pt x="45742" y="0"/>
                    </a:cubicBezTo>
                    <a:close/>
                  </a:path>
                </a:pathLst>
              </a:custGeom>
              <a:solidFill>
                <a:srgbClr val="F4DEC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273432" cy="5964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38623" y="363253"/>
              <a:ext cx="5343036" cy="780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3"/>
                </a:lnSpc>
              </a:pPr>
              <a:r>
                <a:rPr lang="en-US" sz="2152">
                  <a:solidFill>
                    <a:srgbClr val="A94C1A"/>
                  </a:solidFill>
                  <a:latin typeface="Rosario"/>
                </a:rPr>
                <a:t>Objective: Provide a Graphical Interface for Weather Information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763292" y="8701812"/>
            <a:ext cx="3167128" cy="3170376"/>
          </a:xfrm>
          <a:custGeom>
            <a:avLst/>
            <a:gdLst/>
            <a:ahLst/>
            <a:cxnLst/>
            <a:rect r="r" b="b" t="t" l="l"/>
            <a:pathLst>
              <a:path h="3170376" w="3167128">
                <a:moveTo>
                  <a:pt x="0" y="0"/>
                </a:moveTo>
                <a:lnTo>
                  <a:pt x="3167128" y="0"/>
                </a:lnTo>
                <a:lnTo>
                  <a:pt x="3167128" y="3170376"/>
                </a:lnTo>
                <a:lnTo>
                  <a:pt x="0" y="3170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782883" y="811646"/>
            <a:ext cx="1972250" cy="1713392"/>
          </a:xfrm>
          <a:custGeom>
            <a:avLst/>
            <a:gdLst/>
            <a:ahLst/>
            <a:cxnLst/>
            <a:rect r="r" b="b" t="t" l="l"/>
            <a:pathLst>
              <a:path h="1713392" w="1972250">
                <a:moveTo>
                  <a:pt x="0" y="0"/>
                </a:moveTo>
                <a:lnTo>
                  <a:pt x="1972251" y="0"/>
                </a:lnTo>
                <a:lnTo>
                  <a:pt x="1972251" y="1713392"/>
                </a:lnTo>
                <a:lnTo>
                  <a:pt x="0" y="1713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6802" y="-634979"/>
            <a:ext cx="2347034" cy="2294423"/>
          </a:xfrm>
          <a:custGeom>
            <a:avLst/>
            <a:gdLst/>
            <a:ahLst/>
            <a:cxnLst/>
            <a:rect r="r" b="b" t="t" l="l"/>
            <a:pathLst>
              <a:path h="2294423" w="2347034">
                <a:moveTo>
                  <a:pt x="0" y="0"/>
                </a:moveTo>
                <a:lnTo>
                  <a:pt x="2347034" y="0"/>
                </a:lnTo>
                <a:lnTo>
                  <a:pt x="2347034" y="2294423"/>
                </a:lnTo>
                <a:lnTo>
                  <a:pt x="0" y="2294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77895" y="8701812"/>
            <a:ext cx="3068014" cy="2861761"/>
          </a:xfrm>
          <a:custGeom>
            <a:avLst/>
            <a:gdLst/>
            <a:ahLst/>
            <a:cxnLst/>
            <a:rect r="r" b="b" t="t" l="l"/>
            <a:pathLst>
              <a:path h="2861761" w="3068014">
                <a:moveTo>
                  <a:pt x="0" y="0"/>
                </a:moveTo>
                <a:lnTo>
                  <a:pt x="3068014" y="0"/>
                </a:lnTo>
                <a:lnTo>
                  <a:pt x="3068014" y="2861761"/>
                </a:lnTo>
                <a:lnTo>
                  <a:pt x="0" y="28617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038812" y="1152525"/>
            <a:ext cx="12210375" cy="1451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7"/>
              </a:lnSpc>
            </a:pPr>
            <a:r>
              <a:rPr lang="en-US" sz="10371">
                <a:solidFill>
                  <a:srgbClr val="A94C1A"/>
                </a:solidFill>
                <a:latin typeface="Sunday"/>
              </a:rPr>
              <a:t>advanced version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0272" y="6004652"/>
            <a:ext cx="5167868" cy="253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3120">
                <a:solidFill>
                  <a:srgbClr val="A94C1A"/>
                </a:solidFill>
                <a:latin typeface="Rosario"/>
              </a:rPr>
              <a:t>The advanced version aims to create a user-friendly application with a graphical interface for fetching and displaying weather information.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0066" y="6004652"/>
            <a:ext cx="5167868" cy="169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73735" indent="-336868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GUI for user input.</a:t>
            </a:r>
          </a:p>
          <a:p>
            <a:pPr algn="ctr" marL="673735" indent="-336868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Detailed weather data display.</a:t>
            </a:r>
          </a:p>
          <a:p>
            <a:pPr algn="ctr" marL="673735" indent="-336868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Enhanced error handling.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99860" y="6004652"/>
            <a:ext cx="5167868" cy="85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73735" indent="-336868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Python</a:t>
            </a:r>
          </a:p>
          <a:p>
            <a:pPr algn="ctr" marL="673735" indent="-336868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Libraries: tkinter, requests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908456" y="4030160"/>
            <a:ext cx="4471089" cy="1113340"/>
            <a:chOff x="0" y="0"/>
            <a:chExt cx="5961452" cy="148445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135535" y="41444"/>
              <a:ext cx="5825917" cy="1443010"/>
              <a:chOff x="0" y="0"/>
              <a:chExt cx="2475887" cy="61324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A6A6A6">
                  <a:alpha val="27843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5825917" cy="1443010"/>
              <a:chOff x="0" y="0"/>
              <a:chExt cx="2475887" cy="61324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38195" y="64560"/>
              <a:ext cx="5349528" cy="1313889"/>
              <a:chOff x="0" y="0"/>
              <a:chExt cx="2273432" cy="55837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273432" cy="558374"/>
              </a:xfrm>
              <a:custGeom>
                <a:avLst/>
                <a:gdLst/>
                <a:ahLst/>
                <a:cxnLst/>
                <a:rect r="r" b="b" t="t" l="l"/>
                <a:pathLst>
                  <a:path h="558374" w="2273432">
                    <a:moveTo>
                      <a:pt x="45742" y="0"/>
                    </a:moveTo>
                    <a:lnTo>
                      <a:pt x="2227690" y="0"/>
                    </a:lnTo>
                    <a:cubicBezTo>
                      <a:pt x="2239822" y="0"/>
                      <a:pt x="2251456" y="4819"/>
                      <a:pt x="2260034" y="13397"/>
                    </a:cubicBezTo>
                    <a:cubicBezTo>
                      <a:pt x="2268613" y="21976"/>
                      <a:pt x="2273432" y="33610"/>
                      <a:pt x="2273432" y="45742"/>
                    </a:cubicBezTo>
                    <a:lnTo>
                      <a:pt x="2273432" y="512633"/>
                    </a:lnTo>
                    <a:cubicBezTo>
                      <a:pt x="2273432" y="524764"/>
                      <a:pt x="2268613" y="536399"/>
                      <a:pt x="2260034" y="544977"/>
                    </a:cubicBezTo>
                    <a:cubicBezTo>
                      <a:pt x="2251456" y="553555"/>
                      <a:pt x="2239822" y="558374"/>
                      <a:pt x="2227690" y="558374"/>
                    </a:cubicBezTo>
                    <a:lnTo>
                      <a:pt x="45742" y="558374"/>
                    </a:lnTo>
                    <a:cubicBezTo>
                      <a:pt x="33610" y="558374"/>
                      <a:pt x="21976" y="553555"/>
                      <a:pt x="13397" y="544977"/>
                    </a:cubicBezTo>
                    <a:cubicBezTo>
                      <a:pt x="4819" y="536399"/>
                      <a:pt x="0" y="524764"/>
                      <a:pt x="0" y="512633"/>
                    </a:cubicBezTo>
                    <a:lnTo>
                      <a:pt x="0" y="45742"/>
                    </a:lnTo>
                    <a:cubicBezTo>
                      <a:pt x="0" y="33610"/>
                      <a:pt x="4819" y="21976"/>
                      <a:pt x="13397" y="13397"/>
                    </a:cubicBezTo>
                    <a:cubicBezTo>
                      <a:pt x="21976" y="4819"/>
                      <a:pt x="33610" y="0"/>
                      <a:pt x="45742" y="0"/>
                    </a:cubicBezTo>
                    <a:close/>
                  </a:path>
                </a:pathLst>
              </a:custGeom>
              <a:solidFill>
                <a:srgbClr val="F4DEC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273432" cy="5964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500130" y="348860"/>
              <a:ext cx="4961192" cy="618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6"/>
                </a:lnSpc>
              </a:pPr>
              <a:r>
                <a:rPr lang="en-US" sz="3277">
                  <a:solidFill>
                    <a:srgbClr val="A94C1A"/>
                  </a:solidFill>
                  <a:latin typeface="Rosario"/>
                </a:rPr>
                <a:t>Features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648249" y="4109246"/>
            <a:ext cx="4471089" cy="1113340"/>
            <a:chOff x="0" y="0"/>
            <a:chExt cx="5961452" cy="1484454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135535" y="41444"/>
              <a:ext cx="5825917" cy="1443010"/>
              <a:chOff x="0" y="0"/>
              <a:chExt cx="2475887" cy="61324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A6A6A6">
                  <a:alpha val="27843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5825917" cy="1443010"/>
              <a:chOff x="0" y="0"/>
              <a:chExt cx="2475887" cy="61324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475887" cy="613247"/>
              </a:xfrm>
              <a:custGeom>
                <a:avLst/>
                <a:gdLst/>
                <a:ahLst/>
                <a:cxnLst/>
                <a:rect r="r" b="b" t="t" l="l"/>
                <a:pathLst>
                  <a:path h="613247" w="2475887">
                    <a:moveTo>
                      <a:pt x="42001" y="0"/>
                    </a:moveTo>
                    <a:lnTo>
                      <a:pt x="2433886" y="0"/>
                    </a:lnTo>
                    <a:cubicBezTo>
                      <a:pt x="2457082" y="0"/>
                      <a:pt x="2475887" y="18805"/>
                      <a:pt x="2475887" y="42001"/>
                    </a:cubicBezTo>
                    <a:lnTo>
                      <a:pt x="2475887" y="571246"/>
                    </a:lnTo>
                    <a:cubicBezTo>
                      <a:pt x="2475887" y="582386"/>
                      <a:pt x="2471462" y="593069"/>
                      <a:pt x="2463585" y="600946"/>
                    </a:cubicBezTo>
                    <a:cubicBezTo>
                      <a:pt x="2455708" y="608822"/>
                      <a:pt x="2445025" y="613247"/>
                      <a:pt x="2433886" y="613247"/>
                    </a:cubicBezTo>
                    <a:lnTo>
                      <a:pt x="42001" y="613247"/>
                    </a:lnTo>
                    <a:cubicBezTo>
                      <a:pt x="18805" y="613247"/>
                      <a:pt x="0" y="594443"/>
                      <a:pt x="0" y="571246"/>
                    </a:cubicBezTo>
                    <a:lnTo>
                      <a:pt x="0" y="42001"/>
                    </a:lnTo>
                    <a:cubicBezTo>
                      <a:pt x="0" y="30862"/>
                      <a:pt x="4425" y="20179"/>
                      <a:pt x="12302" y="12302"/>
                    </a:cubicBezTo>
                    <a:cubicBezTo>
                      <a:pt x="20179" y="4425"/>
                      <a:pt x="30862" y="0"/>
                      <a:pt x="420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475887" cy="651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238195" y="64560"/>
              <a:ext cx="5349528" cy="1313889"/>
              <a:chOff x="0" y="0"/>
              <a:chExt cx="2273432" cy="558374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273432" cy="558374"/>
              </a:xfrm>
              <a:custGeom>
                <a:avLst/>
                <a:gdLst/>
                <a:ahLst/>
                <a:cxnLst/>
                <a:rect r="r" b="b" t="t" l="l"/>
                <a:pathLst>
                  <a:path h="558374" w="2273432">
                    <a:moveTo>
                      <a:pt x="45742" y="0"/>
                    </a:moveTo>
                    <a:lnTo>
                      <a:pt x="2227690" y="0"/>
                    </a:lnTo>
                    <a:cubicBezTo>
                      <a:pt x="2239822" y="0"/>
                      <a:pt x="2251456" y="4819"/>
                      <a:pt x="2260034" y="13397"/>
                    </a:cubicBezTo>
                    <a:cubicBezTo>
                      <a:pt x="2268613" y="21976"/>
                      <a:pt x="2273432" y="33610"/>
                      <a:pt x="2273432" y="45742"/>
                    </a:cubicBezTo>
                    <a:lnTo>
                      <a:pt x="2273432" y="512633"/>
                    </a:lnTo>
                    <a:cubicBezTo>
                      <a:pt x="2273432" y="524764"/>
                      <a:pt x="2268613" y="536399"/>
                      <a:pt x="2260034" y="544977"/>
                    </a:cubicBezTo>
                    <a:cubicBezTo>
                      <a:pt x="2251456" y="553555"/>
                      <a:pt x="2239822" y="558374"/>
                      <a:pt x="2227690" y="558374"/>
                    </a:cubicBezTo>
                    <a:lnTo>
                      <a:pt x="45742" y="558374"/>
                    </a:lnTo>
                    <a:cubicBezTo>
                      <a:pt x="33610" y="558374"/>
                      <a:pt x="21976" y="553555"/>
                      <a:pt x="13397" y="544977"/>
                    </a:cubicBezTo>
                    <a:cubicBezTo>
                      <a:pt x="4819" y="536399"/>
                      <a:pt x="0" y="524764"/>
                      <a:pt x="0" y="512633"/>
                    </a:cubicBezTo>
                    <a:lnTo>
                      <a:pt x="0" y="45742"/>
                    </a:lnTo>
                    <a:cubicBezTo>
                      <a:pt x="0" y="33610"/>
                      <a:pt x="4819" y="21976"/>
                      <a:pt x="13397" y="13397"/>
                    </a:cubicBezTo>
                    <a:cubicBezTo>
                      <a:pt x="21976" y="4819"/>
                      <a:pt x="33610" y="0"/>
                      <a:pt x="45742" y="0"/>
                    </a:cubicBezTo>
                    <a:close/>
                  </a:path>
                </a:pathLst>
              </a:custGeom>
              <a:solidFill>
                <a:srgbClr val="F4DEC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2273432" cy="5964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500130" y="348860"/>
              <a:ext cx="4961192" cy="618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6"/>
                </a:lnSpc>
              </a:pPr>
              <a:r>
                <a:rPr lang="en-US" sz="3277">
                  <a:solidFill>
                    <a:srgbClr val="A94C1A"/>
                  </a:solidFill>
                  <a:latin typeface="Rosario"/>
                </a:rPr>
                <a:t>Technologies Used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5492" y="3325850"/>
            <a:ext cx="8461656" cy="6283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081" indent="-357041" lvl="1">
              <a:lnSpc>
                <a:spcPts val="3538"/>
              </a:lnSpc>
              <a:buFont typeface="Arial"/>
              <a:buChar char="•"/>
            </a:pPr>
            <a:r>
              <a:rPr lang="en-US" sz="3307">
                <a:solidFill>
                  <a:srgbClr val="A94C1A"/>
                </a:solidFill>
                <a:latin typeface="Rosario"/>
              </a:rPr>
              <a:t>GUI Design with tkinter: The application uses tkinter to create a graphical interface for user interaction.</a:t>
            </a:r>
          </a:p>
          <a:p>
            <a:pPr algn="l">
              <a:lnSpc>
                <a:spcPts val="3538"/>
              </a:lnSpc>
            </a:pPr>
          </a:p>
          <a:p>
            <a:pPr algn="l" marL="714081" indent="-357041" lvl="1">
              <a:lnSpc>
                <a:spcPts val="3538"/>
              </a:lnSpc>
              <a:buFont typeface="Arial"/>
              <a:buChar char="•"/>
            </a:pPr>
            <a:r>
              <a:rPr lang="en-US" sz="3307">
                <a:solidFill>
                  <a:srgbClr val="A94C1A"/>
                </a:solidFill>
                <a:latin typeface="Rosario"/>
              </a:rPr>
              <a:t>API Integration with OpenWeatherMap: Similar to the easy version, the application uses the requests library to fetch weather data from the OpenWeatherMap API.</a:t>
            </a:r>
          </a:p>
          <a:p>
            <a:pPr algn="l">
              <a:lnSpc>
                <a:spcPts val="3538"/>
              </a:lnSpc>
            </a:pPr>
          </a:p>
          <a:p>
            <a:pPr algn="l" marL="714081" indent="-357041" lvl="1">
              <a:lnSpc>
                <a:spcPts val="3538"/>
              </a:lnSpc>
              <a:buFont typeface="Arial"/>
              <a:buChar char="•"/>
            </a:pPr>
            <a:r>
              <a:rPr lang="en-US" sz="3307">
                <a:solidFill>
                  <a:srgbClr val="A94C1A"/>
                </a:solidFill>
                <a:latin typeface="Rosario"/>
              </a:rPr>
              <a:t>Data Display and Error Handling: The weather data is displayed in the GUI, with improved error handling for invalid input or API request failures.</a:t>
            </a:r>
          </a:p>
          <a:p>
            <a:pPr algn="l">
              <a:lnSpc>
                <a:spcPts val="3538"/>
              </a:lnSpc>
            </a:pP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469597" y="2670504"/>
            <a:ext cx="7406948" cy="6313643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10317586">
            <a:off x="-1027001" y="8562048"/>
            <a:ext cx="3001583" cy="3004662"/>
          </a:xfrm>
          <a:custGeom>
            <a:avLst/>
            <a:gdLst/>
            <a:ahLst/>
            <a:cxnLst/>
            <a:rect r="r" b="b" t="t" l="l"/>
            <a:pathLst>
              <a:path h="3004662" w="3001583">
                <a:moveTo>
                  <a:pt x="0" y="0"/>
                </a:moveTo>
                <a:lnTo>
                  <a:pt x="3001583" y="0"/>
                </a:lnTo>
                <a:lnTo>
                  <a:pt x="3001583" y="3004661"/>
                </a:lnTo>
                <a:lnTo>
                  <a:pt x="0" y="3004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36857" y="-375534"/>
            <a:ext cx="2348738" cy="2296089"/>
          </a:xfrm>
          <a:custGeom>
            <a:avLst/>
            <a:gdLst/>
            <a:ahLst/>
            <a:cxnLst/>
            <a:rect r="r" b="b" t="t" l="l"/>
            <a:pathLst>
              <a:path h="2296089" w="2348738">
                <a:moveTo>
                  <a:pt x="0" y="0"/>
                </a:moveTo>
                <a:lnTo>
                  <a:pt x="2348738" y="0"/>
                </a:lnTo>
                <a:lnTo>
                  <a:pt x="2348738" y="2296088"/>
                </a:lnTo>
                <a:lnTo>
                  <a:pt x="0" y="2296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95431" y="8976502"/>
            <a:ext cx="3482853" cy="1570450"/>
          </a:xfrm>
          <a:custGeom>
            <a:avLst/>
            <a:gdLst/>
            <a:ahLst/>
            <a:cxnLst/>
            <a:rect r="r" b="b" t="t" l="l"/>
            <a:pathLst>
              <a:path h="1570450" w="3482853">
                <a:moveTo>
                  <a:pt x="0" y="0"/>
                </a:moveTo>
                <a:lnTo>
                  <a:pt x="3482852" y="0"/>
                </a:lnTo>
                <a:lnTo>
                  <a:pt x="3482852" y="1570450"/>
                </a:lnTo>
                <a:lnTo>
                  <a:pt x="0" y="1570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5492" y="1631910"/>
            <a:ext cx="8461656" cy="11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9"/>
              </a:lnSpc>
            </a:pPr>
            <a:r>
              <a:rPr lang="en-US" sz="8018">
                <a:solidFill>
                  <a:srgbClr val="A94C1A"/>
                </a:solidFill>
                <a:latin typeface="Sunday"/>
              </a:rPr>
              <a:t>implementation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-95934" y="-375534"/>
            <a:ext cx="3482853" cy="1570450"/>
          </a:xfrm>
          <a:custGeom>
            <a:avLst/>
            <a:gdLst/>
            <a:ahLst/>
            <a:cxnLst/>
            <a:rect r="r" b="b" t="t" l="l"/>
            <a:pathLst>
              <a:path h="1570450" w="3482853">
                <a:moveTo>
                  <a:pt x="3482852" y="1570450"/>
                </a:moveTo>
                <a:lnTo>
                  <a:pt x="0" y="1570450"/>
                </a:lnTo>
                <a:lnTo>
                  <a:pt x="0" y="0"/>
                </a:lnTo>
                <a:lnTo>
                  <a:pt x="3482852" y="0"/>
                </a:lnTo>
                <a:lnTo>
                  <a:pt x="3482852" y="157045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3905" y="1861396"/>
            <a:ext cx="5947346" cy="6846667"/>
            <a:chOff x="0" y="0"/>
            <a:chExt cx="7929794" cy="912888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929794" cy="1819048"/>
              <a:chOff x="0" y="0"/>
              <a:chExt cx="2400098" cy="55056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00098" cy="550568"/>
              </a:xfrm>
              <a:custGeom>
                <a:avLst/>
                <a:gdLst/>
                <a:ahLst/>
                <a:cxnLst/>
                <a:rect r="r" b="b" t="t" l="l"/>
                <a:pathLst>
                  <a:path h="550568" w="2400098">
                    <a:moveTo>
                      <a:pt x="66389" y="0"/>
                    </a:moveTo>
                    <a:lnTo>
                      <a:pt x="2333709" y="0"/>
                    </a:lnTo>
                    <a:cubicBezTo>
                      <a:pt x="2370375" y="0"/>
                      <a:pt x="2400098" y="29723"/>
                      <a:pt x="2400098" y="66389"/>
                    </a:cubicBezTo>
                    <a:lnTo>
                      <a:pt x="2400098" y="484179"/>
                    </a:lnTo>
                    <a:cubicBezTo>
                      <a:pt x="2400098" y="520845"/>
                      <a:pt x="2370375" y="550568"/>
                      <a:pt x="2333709" y="550568"/>
                    </a:cubicBezTo>
                    <a:lnTo>
                      <a:pt x="66389" y="550568"/>
                    </a:lnTo>
                    <a:cubicBezTo>
                      <a:pt x="48781" y="550568"/>
                      <a:pt x="31895" y="543574"/>
                      <a:pt x="19445" y="531123"/>
                    </a:cubicBezTo>
                    <a:cubicBezTo>
                      <a:pt x="6995" y="518673"/>
                      <a:pt x="0" y="501787"/>
                      <a:pt x="0" y="484179"/>
                    </a:cubicBezTo>
                    <a:lnTo>
                      <a:pt x="0" y="66389"/>
                    </a:lnTo>
                    <a:cubicBezTo>
                      <a:pt x="0" y="29723"/>
                      <a:pt x="29723" y="0"/>
                      <a:pt x="66389" y="0"/>
                    </a:cubicBezTo>
                    <a:close/>
                  </a:path>
                </a:pathLst>
              </a:custGeom>
              <a:solidFill>
                <a:srgbClr val="F4DEC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400098" cy="588668"/>
              </a:xfrm>
              <a:prstGeom prst="rect">
                <a:avLst/>
              </a:prstGeom>
            </p:spPr>
            <p:txBody>
              <a:bodyPr anchor="ctr" rtlCol="false" tIns="33154" lIns="33154" bIns="33154" rIns="3315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86335" y="660061"/>
              <a:ext cx="7080400" cy="56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6"/>
                </a:lnSpc>
              </a:pPr>
              <a:r>
                <a:rPr lang="en-US" sz="2977">
                  <a:solidFill>
                    <a:srgbClr val="A94C1A"/>
                  </a:solidFill>
                  <a:latin typeface="Sunday"/>
                </a:rPr>
                <a:t>summary of both versions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951495"/>
              <a:ext cx="7929794" cy="61773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9"/>
                </a:lnSpc>
              </a:pPr>
              <a:r>
                <a:rPr lang="en-US" sz="3120">
                  <a:solidFill>
                    <a:srgbClr val="A94C1A"/>
                  </a:solidFill>
                  <a:latin typeface="Rosario"/>
                </a:rPr>
                <a:t>The easy version of the Weather App is a simple console-based application that retrieves and displays weather data based on user input. The advanced version enhances the user experience by providing a graphical interface, making it easier and more intuitive for users to interact with the application and view weather information.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0">
            <a:off x="15116640" y="-356481"/>
            <a:ext cx="3758956" cy="1694948"/>
          </a:xfrm>
          <a:custGeom>
            <a:avLst/>
            <a:gdLst/>
            <a:ahLst/>
            <a:cxnLst/>
            <a:rect r="r" b="b" t="t" l="l"/>
            <a:pathLst>
              <a:path h="1694948" w="3758956">
                <a:moveTo>
                  <a:pt x="0" y="1694948"/>
                </a:moveTo>
                <a:lnTo>
                  <a:pt x="3758957" y="1694948"/>
                </a:lnTo>
                <a:lnTo>
                  <a:pt x="3758957" y="0"/>
                </a:lnTo>
                <a:lnTo>
                  <a:pt x="0" y="0"/>
                </a:lnTo>
                <a:lnTo>
                  <a:pt x="0" y="169494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472370" y="8955980"/>
            <a:ext cx="3558831" cy="1604709"/>
          </a:xfrm>
          <a:custGeom>
            <a:avLst/>
            <a:gdLst/>
            <a:ahLst/>
            <a:cxnLst/>
            <a:rect r="r" b="b" t="t" l="l"/>
            <a:pathLst>
              <a:path h="1604709" w="3558831">
                <a:moveTo>
                  <a:pt x="3558831" y="0"/>
                </a:moveTo>
                <a:lnTo>
                  <a:pt x="0" y="0"/>
                </a:lnTo>
                <a:lnTo>
                  <a:pt x="0" y="1604709"/>
                </a:lnTo>
                <a:lnTo>
                  <a:pt x="3558831" y="1604709"/>
                </a:lnTo>
                <a:lnTo>
                  <a:pt x="35588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310239" y="0"/>
            <a:ext cx="1995550" cy="1861396"/>
          </a:xfrm>
          <a:custGeom>
            <a:avLst/>
            <a:gdLst/>
            <a:ahLst/>
            <a:cxnLst/>
            <a:rect r="r" b="b" t="t" l="l"/>
            <a:pathLst>
              <a:path h="1861396" w="1995550">
                <a:moveTo>
                  <a:pt x="0" y="0"/>
                </a:moveTo>
                <a:lnTo>
                  <a:pt x="1995550" y="0"/>
                </a:lnTo>
                <a:lnTo>
                  <a:pt x="1995550" y="1861396"/>
                </a:lnTo>
                <a:lnTo>
                  <a:pt x="0" y="1861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632434" y="8390996"/>
            <a:ext cx="1939479" cy="1896004"/>
          </a:xfrm>
          <a:custGeom>
            <a:avLst/>
            <a:gdLst/>
            <a:ahLst/>
            <a:cxnLst/>
            <a:rect r="r" b="b" t="t" l="l"/>
            <a:pathLst>
              <a:path h="1896004" w="1939479">
                <a:moveTo>
                  <a:pt x="0" y="0"/>
                </a:moveTo>
                <a:lnTo>
                  <a:pt x="1939479" y="0"/>
                </a:lnTo>
                <a:lnTo>
                  <a:pt x="1939479" y="1896004"/>
                </a:lnTo>
                <a:lnTo>
                  <a:pt x="0" y="18960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310239" y="9058359"/>
            <a:ext cx="3001583" cy="3004662"/>
          </a:xfrm>
          <a:custGeom>
            <a:avLst/>
            <a:gdLst/>
            <a:ahLst/>
            <a:cxnLst/>
            <a:rect r="r" b="b" t="t" l="l"/>
            <a:pathLst>
              <a:path h="3004662" w="3001583">
                <a:moveTo>
                  <a:pt x="0" y="0"/>
                </a:moveTo>
                <a:lnTo>
                  <a:pt x="3001583" y="0"/>
                </a:lnTo>
                <a:lnTo>
                  <a:pt x="3001583" y="3004661"/>
                </a:lnTo>
                <a:lnTo>
                  <a:pt x="0" y="30046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632434" y="650852"/>
            <a:ext cx="3150440" cy="796202"/>
          </a:xfrm>
          <a:custGeom>
            <a:avLst/>
            <a:gdLst/>
            <a:ahLst/>
            <a:cxnLst/>
            <a:rect r="r" b="b" t="t" l="l"/>
            <a:pathLst>
              <a:path h="796202" w="3150440">
                <a:moveTo>
                  <a:pt x="0" y="0"/>
                </a:moveTo>
                <a:lnTo>
                  <a:pt x="3150440" y="0"/>
                </a:lnTo>
                <a:lnTo>
                  <a:pt x="3150440" y="796202"/>
                </a:lnTo>
                <a:lnTo>
                  <a:pt x="0" y="7962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629164" y="1861396"/>
            <a:ext cx="7681075" cy="962626"/>
            <a:chOff x="0" y="0"/>
            <a:chExt cx="10241433" cy="128350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241433" cy="1283501"/>
              <a:chOff x="0" y="0"/>
              <a:chExt cx="3099758" cy="38847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099758" cy="388475"/>
              </a:xfrm>
              <a:custGeom>
                <a:avLst/>
                <a:gdLst/>
                <a:ahLst/>
                <a:cxnLst/>
                <a:rect r="r" b="b" t="t" l="l"/>
                <a:pathLst>
                  <a:path h="388475" w="3099758">
                    <a:moveTo>
                      <a:pt x="51404" y="0"/>
                    </a:moveTo>
                    <a:lnTo>
                      <a:pt x="3048354" y="0"/>
                    </a:lnTo>
                    <a:cubicBezTo>
                      <a:pt x="3076744" y="0"/>
                      <a:pt x="3099758" y="23014"/>
                      <a:pt x="3099758" y="51404"/>
                    </a:cubicBezTo>
                    <a:lnTo>
                      <a:pt x="3099758" y="337071"/>
                    </a:lnTo>
                    <a:cubicBezTo>
                      <a:pt x="3099758" y="365461"/>
                      <a:pt x="3076744" y="388475"/>
                      <a:pt x="3048354" y="388475"/>
                    </a:cubicBezTo>
                    <a:lnTo>
                      <a:pt x="51404" y="388475"/>
                    </a:lnTo>
                    <a:cubicBezTo>
                      <a:pt x="23014" y="388475"/>
                      <a:pt x="0" y="365461"/>
                      <a:pt x="0" y="337071"/>
                    </a:cubicBezTo>
                    <a:lnTo>
                      <a:pt x="0" y="51404"/>
                    </a:lnTo>
                    <a:cubicBezTo>
                      <a:pt x="0" y="23014"/>
                      <a:pt x="23014" y="0"/>
                      <a:pt x="51404" y="0"/>
                    </a:cubicBezTo>
                    <a:close/>
                  </a:path>
                </a:pathLst>
              </a:custGeom>
              <a:solidFill>
                <a:srgbClr val="F4DEC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099758" cy="426575"/>
              </a:xfrm>
              <a:prstGeom prst="rect">
                <a:avLst/>
              </a:prstGeom>
            </p:spPr>
            <p:txBody>
              <a:bodyPr anchor="ctr" rtlCol="false" tIns="33154" lIns="33154" bIns="33154" rIns="33154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48502" y="412576"/>
              <a:ext cx="9144428" cy="56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6"/>
                </a:lnSpc>
              </a:pPr>
              <a:r>
                <a:rPr lang="en-US" sz="2977">
                  <a:solidFill>
                    <a:srgbClr val="A94C1A"/>
                  </a:solidFill>
                  <a:latin typeface="Sunday"/>
                </a:rPr>
                <a:t>Potential Future Improvements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44000" y="3458414"/>
            <a:ext cx="8115300" cy="629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734" indent="-336867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Extended Weather Forecasts: Provide weather forecasts for multiple days.</a:t>
            </a:r>
          </a:p>
          <a:p>
            <a:pPr algn="l" marL="673734" indent="-336867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Location Services Integration: Automatically fetch weather data based on the user's current location.</a:t>
            </a:r>
          </a:p>
          <a:p>
            <a:pPr algn="l" marL="673734" indent="-336867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Additional Weather Data: Include more detailed weather information such as wind speed, precipitation, and UV index.</a:t>
            </a:r>
          </a:p>
          <a:p>
            <a:pPr algn="l" marL="673734" indent="-336867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Improved User Interface: Enhance the GUI with better design elements and user experience improvements.</a:t>
            </a:r>
          </a:p>
          <a:p>
            <a:pPr algn="l" marL="673734" indent="-336867" lvl="1">
              <a:lnSpc>
                <a:spcPts val="3339"/>
              </a:lnSpc>
              <a:buFont typeface="Arial"/>
              <a:buChar char="•"/>
            </a:pPr>
            <a:r>
              <a:rPr lang="en-US" sz="3120">
                <a:solidFill>
                  <a:srgbClr val="A94C1A"/>
                </a:solidFill>
                <a:latin typeface="Rosario"/>
              </a:rPr>
              <a:t>Notifications and Alerts: Add functionality to notify users of severe weather alerts or significant changes in weather conditions.</a:t>
            </a:r>
          </a:p>
          <a:p>
            <a:pPr algn="l">
              <a:lnSpc>
                <a:spcPts val="333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267834" y="0"/>
            <a:ext cx="6020166" cy="2714547"/>
          </a:xfrm>
          <a:custGeom>
            <a:avLst/>
            <a:gdLst/>
            <a:ahLst/>
            <a:cxnLst/>
            <a:rect r="r" b="b" t="t" l="l"/>
            <a:pathLst>
              <a:path h="2714547" w="6020166">
                <a:moveTo>
                  <a:pt x="0" y="2714547"/>
                </a:moveTo>
                <a:lnTo>
                  <a:pt x="6020166" y="2714547"/>
                </a:lnTo>
                <a:lnTo>
                  <a:pt x="6020166" y="0"/>
                </a:lnTo>
                <a:lnTo>
                  <a:pt x="0" y="0"/>
                </a:lnTo>
                <a:lnTo>
                  <a:pt x="0" y="27145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46277" y="7704836"/>
            <a:ext cx="7732172" cy="3106927"/>
          </a:xfrm>
          <a:custGeom>
            <a:avLst/>
            <a:gdLst/>
            <a:ahLst/>
            <a:cxnLst/>
            <a:rect r="r" b="b" t="t" l="l"/>
            <a:pathLst>
              <a:path h="3106927" w="7732172">
                <a:moveTo>
                  <a:pt x="7732173" y="0"/>
                </a:moveTo>
                <a:lnTo>
                  <a:pt x="0" y="0"/>
                </a:lnTo>
                <a:lnTo>
                  <a:pt x="0" y="3106928"/>
                </a:lnTo>
                <a:lnTo>
                  <a:pt x="7732173" y="3106928"/>
                </a:lnTo>
                <a:lnTo>
                  <a:pt x="773217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88165" y="-1044642"/>
            <a:ext cx="3001583" cy="3004662"/>
          </a:xfrm>
          <a:custGeom>
            <a:avLst/>
            <a:gdLst/>
            <a:ahLst/>
            <a:cxnLst/>
            <a:rect r="r" b="b" t="t" l="l"/>
            <a:pathLst>
              <a:path h="3004662" w="3001583">
                <a:moveTo>
                  <a:pt x="0" y="0"/>
                </a:moveTo>
                <a:lnTo>
                  <a:pt x="3001584" y="0"/>
                </a:lnTo>
                <a:lnTo>
                  <a:pt x="3001584" y="3004662"/>
                </a:lnTo>
                <a:lnTo>
                  <a:pt x="0" y="30046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02006" y="6323575"/>
            <a:ext cx="3060897" cy="2992284"/>
          </a:xfrm>
          <a:custGeom>
            <a:avLst/>
            <a:gdLst/>
            <a:ahLst/>
            <a:cxnLst/>
            <a:rect r="r" b="b" t="t" l="l"/>
            <a:pathLst>
              <a:path h="2992284" w="3060897">
                <a:moveTo>
                  <a:pt x="0" y="0"/>
                </a:moveTo>
                <a:lnTo>
                  <a:pt x="3060897" y="0"/>
                </a:lnTo>
                <a:lnTo>
                  <a:pt x="3060897" y="2992285"/>
                </a:lnTo>
                <a:lnTo>
                  <a:pt x="0" y="29922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700126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40571" y="4915987"/>
            <a:ext cx="3138541" cy="2815176"/>
          </a:xfrm>
          <a:custGeom>
            <a:avLst/>
            <a:gdLst/>
            <a:ahLst/>
            <a:cxnLst/>
            <a:rect r="r" b="b" t="t" l="l"/>
            <a:pathLst>
              <a:path h="2815176" w="3138541">
                <a:moveTo>
                  <a:pt x="0" y="0"/>
                </a:moveTo>
                <a:lnTo>
                  <a:pt x="3138542" y="0"/>
                </a:lnTo>
                <a:lnTo>
                  <a:pt x="3138542" y="2815177"/>
                </a:lnTo>
                <a:lnTo>
                  <a:pt x="0" y="28151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93964" y="3867064"/>
            <a:ext cx="11300072" cy="228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43"/>
              </a:lnSpc>
            </a:pPr>
            <a:r>
              <a:rPr lang="en-US" sz="16302">
                <a:solidFill>
                  <a:srgbClr val="A94C1A"/>
                </a:solidFill>
                <a:latin typeface="Sund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DAGHJ39ksJQ</dc:identifier>
  <dcterms:modified xsi:type="dcterms:W3CDTF">2011-08-01T06:04:30Z</dcterms:modified>
  <cp:revision>1</cp:revision>
  <dc:title>Weather App - OIBSIP</dc:title>
</cp:coreProperties>
</file>