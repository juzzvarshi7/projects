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AN Mon Cheri" charset="1" panose="00000000000000000000"/>
      <p:regular r:id="rId15"/>
    </p:embeddedFont>
    <p:embeddedFont>
      <p:font typeface="Garet 2" charset="1" panose="00000000000000000000"/>
      <p:regular r:id="rId16"/>
    </p:embeddedFont>
    <p:embeddedFont>
      <p:font typeface="The Seasons" charset="1" panose="00000000000000000000"/>
      <p:regular r:id="rId17"/>
    </p:embeddedFont>
    <p:embeddedFont>
      <p:font typeface="Garet 2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75039" y="0"/>
            <a:ext cx="3812961" cy="10287000"/>
            <a:chOff x="0" y="0"/>
            <a:chExt cx="100423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423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04237">
                  <a:moveTo>
                    <a:pt x="0" y="0"/>
                  </a:moveTo>
                  <a:lnTo>
                    <a:pt x="1004237" y="0"/>
                  </a:lnTo>
                  <a:lnTo>
                    <a:pt x="100423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5A58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0423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695608" y="4364069"/>
            <a:ext cx="1558861" cy="1558861"/>
          </a:xfrm>
          <a:custGeom>
            <a:avLst/>
            <a:gdLst/>
            <a:ahLst/>
            <a:cxnLst/>
            <a:rect r="r" b="b" t="t" l="l"/>
            <a:pathLst>
              <a:path h="1558861" w="1558861">
                <a:moveTo>
                  <a:pt x="0" y="0"/>
                </a:moveTo>
                <a:lnTo>
                  <a:pt x="1558861" y="0"/>
                </a:lnTo>
                <a:lnTo>
                  <a:pt x="1558861" y="1558862"/>
                </a:lnTo>
                <a:lnTo>
                  <a:pt x="0" y="1558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134729"/>
            <a:ext cx="11773457" cy="233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82"/>
              </a:lnSpc>
            </a:pPr>
            <a:r>
              <a:rPr lang="en-US" sz="6701">
                <a:solidFill>
                  <a:srgbClr val="A5A58D"/>
                </a:solidFill>
                <a:latin typeface="TAN Mon Cheri"/>
              </a:rPr>
              <a:t>Password Generator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580089"/>
            <a:ext cx="9196421" cy="192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A5A58D"/>
                </a:solidFill>
                <a:latin typeface="Garet 2"/>
              </a:rPr>
              <a:t>From Command-Line to GUI-Based Secure Password Generation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27413" y="1195282"/>
            <a:ext cx="331887" cy="7014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The Seasons"/>
              </a:rPr>
              <a:t>B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The Seasons"/>
              </a:rPr>
              <a:t>Y</a:t>
            </a: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The Seasons"/>
              </a:rPr>
              <a:t>V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The Seasons"/>
              </a:rPr>
              <a:t>A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The Seasons"/>
              </a:rPr>
              <a:t>R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The Seasons"/>
              </a:rPr>
              <a:t>S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The Seasons"/>
              </a:rPr>
              <a:t>H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The Seasons"/>
              </a:rPr>
              <a:t>I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The Seasons"/>
              </a:rPr>
              <a:t>N</a:t>
            </a:r>
          </a:p>
          <a:p>
            <a:pPr algn="ctr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The Seasons"/>
              </a:rPr>
              <a:t>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2011924" cy="10287000"/>
            <a:chOff x="0" y="0"/>
            <a:chExt cx="52988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9889" cy="2709333"/>
            </a:xfrm>
            <a:custGeom>
              <a:avLst/>
              <a:gdLst/>
              <a:ahLst/>
              <a:cxnLst/>
              <a:rect r="r" b="b" t="t" l="l"/>
              <a:pathLst>
                <a:path h="2709333" w="529889">
                  <a:moveTo>
                    <a:pt x="0" y="0"/>
                  </a:moveTo>
                  <a:lnTo>
                    <a:pt x="529889" y="0"/>
                  </a:lnTo>
                  <a:lnTo>
                    <a:pt x="5298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B705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988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79427" y="5182422"/>
            <a:ext cx="14734638" cy="4170017"/>
            <a:chOff x="0" y="0"/>
            <a:chExt cx="19646184" cy="556002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16936484" cy="1577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19"/>
                </a:lnSpc>
              </a:pPr>
              <a:r>
                <a:rPr lang="en-US" sz="3900">
                  <a:solidFill>
                    <a:srgbClr val="6B705C"/>
                  </a:solidFill>
                  <a:latin typeface="TAN Mon Cheri"/>
                </a:rPr>
                <a:t>Comparison of Easy and Advanced Versions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80249"/>
              <a:ext cx="19646184" cy="32797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3000">
                  <a:solidFill>
                    <a:srgbClr val="6B705C"/>
                  </a:solidFill>
                  <a:latin typeface="Garet 2"/>
                </a:rPr>
                <a:t>The easy version is a simple console application that generates a random password based on user input for the number of letters, symbols, and numbers. The advanced version enhances functionality by providing a graphical interface, making it more user-friendly and offering additional options for password complexity.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99597" y="3957769"/>
            <a:ext cx="1224653" cy="1224653"/>
          </a:xfrm>
          <a:custGeom>
            <a:avLst/>
            <a:gdLst/>
            <a:ahLst/>
            <a:cxnLst/>
            <a:rect r="r" b="b" t="t" l="l"/>
            <a:pathLst>
              <a:path h="1224653" w="1224653">
                <a:moveTo>
                  <a:pt x="0" y="0"/>
                </a:moveTo>
                <a:lnTo>
                  <a:pt x="1224653" y="0"/>
                </a:lnTo>
                <a:lnTo>
                  <a:pt x="1224653" y="1224653"/>
                </a:lnTo>
                <a:lnTo>
                  <a:pt x="0" y="1224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979427" y="1028700"/>
            <a:ext cx="14734638" cy="3588231"/>
            <a:chOff x="0" y="0"/>
            <a:chExt cx="19646184" cy="478430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66675"/>
              <a:ext cx="16936484" cy="1386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3900">
                  <a:solidFill>
                    <a:srgbClr val="6B705C"/>
                  </a:solidFill>
                  <a:latin typeface="TAN Mon Cheri"/>
                </a:rPr>
                <a:t>Brief Overview of the Password Generator Project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164934"/>
              <a:ext cx="19646184" cy="2619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3000">
                  <a:solidFill>
                    <a:srgbClr val="6B705C"/>
                  </a:solidFill>
                  <a:latin typeface="Garet 2"/>
                </a:rPr>
                <a:t>The Password Generator project aims to create a tool for generating random passwords based on user-defined criteria. This project is divided into two versions: a basic console-based application and a more advanced graphical user interface (GUI) version.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763338" y="0"/>
            <a:ext cx="2501924" cy="10287000"/>
            <a:chOff x="0" y="0"/>
            <a:chExt cx="65894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9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658943">
                  <a:moveTo>
                    <a:pt x="0" y="0"/>
                  </a:moveTo>
                  <a:lnTo>
                    <a:pt x="658943" y="0"/>
                  </a:lnTo>
                  <a:lnTo>
                    <a:pt x="6589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B99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5894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181100"/>
            <a:ext cx="14734638" cy="2928879"/>
            <a:chOff x="0" y="0"/>
            <a:chExt cx="19646184" cy="390517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16491245" cy="144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1"/>
                </a:lnSpc>
              </a:pPr>
              <a:r>
                <a:rPr lang="en-US" sz="3201">
                  <a:solidFill>
                    <a:srgbClr val="CB997E"/>
                  </a:solidFill>
                  <a:latin typeface="TAN Mon Cheri"/>
                </a:rPr>
                <a:t>Objective: Generate Random Passwords Based on User-Defined Criteria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649864"/>
              <a:ext cx="19646184" cy="2255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>
                  <a:solidFill>
                    <a:srgbClr val="BF7343"/>
                  </a:solidFill>
                  <a:latin typeface="Garet 2"/>
                </a:rPr>
                <a:t>The goal of the easy version is to generate a random password using user-specified parameters such as the length and character types (letters, symbols, numbers).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040968" y="2439929"/>
            <a:ext cx="1444741" cy="1444741"/>
          </a:xfrm>
          <a:custGeom>
            <a:avLst/>
            <a:gdLst/>
            <a:ahLst/>
            <a:cxnLst/>
            <a:rect r="r" b="b" t="t" l="l"/>
            <a:pathLst>
              <a:path h="1444741" w="1444741">
                <a:moveTo>
                  <a:pt x="0" y="0"/>
                </a:moveTo>
                <a:lnTo>
                  <a:pt x="1444741" y="0"/>
                </a:lnTo>
                <a:lnTo>
                  <a:pt x="1444741" y="1444742"/>
                </a:lnTo>
                <a:lnTo>
                  <a:pt x="0" y="1444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4921423"/>
            <a:ext cx="14734638" cy="1795404"/>
            <a:chOff x="0" y="0"/>
            <a:chExt cx="19646184" cy="239387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16491245" cy="698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1"/>
                </a:lnSpc>
              </a:pPr>
              <a:r>
                <a:rPr lang="en-US" sz="3201">
                  <a:solidFill>
                    <a:srgbClr val="CB997E"/>
                  </a:solidFill>
                  <a:latin typeface="TAN Mon Cheri"/>
                </a:rPr>
                <a:t>Features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00564"/>
              <a:ext cx="19646184" cy="149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55659" indent="-377829" lvl="1">
                <a:lnSpc>
                  <a:spcPts val="4550"/>
                </a:lnSpc>
                <a:buFont typeface="Arial"/>
                <a:buChar char="•"/>
              </a:pPr>
              <a:r>
                <a:rPr lang="en-US" sz="3500">
                  <a:solidFill>
                    <a:srgbClr val="BF7343"/>
                  </a:solidFill>
                  <a:latin typeface="Garet 2"/>
                </a:rPr>
                <a:t>User input for password length and character types.</a:t>
              </a:r>
            </a:p>
            <a:p>
              <a:pPr algn="l" marL="755659" indent="-377829" lvl="1">
                <a:lnSpc>
                  <a:spcPts val="4550"/>
                </a:lnSpc>
                <a:buFont typeface="Arial"/>
                <a:buChar char="•"/>
              </a:pPr>
              <a:r>
                <a:rPr lang="en-US" sz="3500">
                  <a:solidFill>
                    <a:srgbClr val="BF7343"/>
                  </a:solidFill>
                  <a:latin typeface="Garet 2"/>
                </a:rPr>
                <a:t>Random password generation.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7462896"/>
            <a:ext cx="14734638" cy="1795404"/>
            <a:chOff x="0" y="0"/>
            <a:chExt cx="19646184" cy="239387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16491245" cy="698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1"/>
                </a:lnSpc>
              </a:pPr>
              <a:r>
                <a:rPr lang="en-US" sz="3201">
                  <a:solidFill>
                    <a:srgbClr val="CB997E"/>
                  </a:solidFill>
                  <a:latin typeface="TAN Mon Cheri"/>
                </a:rPr>
                <a:t>Technologies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00564"/>
              <a:ext cx="19646184" cy="149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55659" indent="-377829" lvl="1">
                <a:lnSpc>
                  <a:spcPts val="4550"/>
                </a:lnSpc>
                <a:buFont typeface="Arial"/>
                <a:buChar char="•"/>
              </a:pPr>
              <a:r>
                <a:rPr lang="en-US" sz="3500">
                  <a:solidFill>
                    <a:srgbClr val="BF7343"/>
                  </a:solidFill>
                  <a:latin typeface="Garet 2"/>
                </a:rPr>
                <a:t>Python</a:t>
              </a:r>
            </a:p>
            <a:p>
              <a:pPr algn="l" marL="755659" indent="-377829" lvl="1">
                <a:lnSpc>
                  <a:spcPts val="4550"/>
                </a:lnSpc>
                <a:buFont typeface="Arial"/>
                <a:buChar char="•"/>
              </a:pPr>
              <a:r>
                <a:rPr lang="en-US" sz="3500">
                  <a:solidFill>
                    <a:srgbClr val="BF7343"/>
                  </a:solidFill>
                  <a:latin typeface="Garet 2"/>
                </a:rPr>
                <a:t>Library: random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542551" y="541551"/>
            <a:ext cx="10287000" cy="9203897"/>
            <a:chOff x="0" y="0"/>
            <a:chExt cx="2709333" cy="2424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2424072"/>
            </a:xfrm>
            <a:custGeom>
              <a:avLst/>
              <a:gdLst/>
              <a:ahLst/>
              <a:cxnLst/>
              <a:rect r="r" b="b" t="t" l="l"/>
              <a:pathLst>
                <a:path h="242407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2424072"/>
                  </a:lnTo>
                  <a:lnTo>
                    <a:pt x="0" y="2424072"/>
                  </a:lnTo>
                  <a:close/>
                </a:path>
              </a:pathLst>
            </a:custGeom>
            <a:solidFill>
              <a:srgbClr val="B7B7A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2462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07463" y="2160760"/>
            <a:ext cx="8956070" cy="121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1"/>
              </a:lnSpc>
            </a:pPr>
            <a:r>
              <a:rPr lang="en-US" sz="7101">
                <a:solidFill>
                  <a:srgbClr val="6B705C"/>
                </a:solidFill>
                <a:latin typeface="TAN Mon Cheri"/>
              </a:rPr>
              <a:t>Implementation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89604"/>
            <a:ext cx="7636579" cy="410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32" indent="-302266" lvl="1">
              <a:lnSpc>
                <a:spcPts val="3640"/>
              </a:lnSpc>
              <a:buFont typeface="Arial"/>
              <a:buChar char="•"/>
            </a:pPr>
            <a:r>
              <a:rPr lang="en-US" sz="2800">
                <a:solidFill>
                  <a:srgbClr val="6B705C"/>
                </a:solidFill>
                <a:latin typeface="Garet 2"/>
              </a:rPr>
              <a:t>User Input Handling: The application prompts the user to input the number of letters, symbols, and numbers for the password.</a:t>
            </a:r>
          </a:p>
          <a:p>
            <a:pPr algn="l">
              <a:lnSpc>
                <a:spcPts val="3640"/>
              </a:lnSpc>
            </a:pPr>
          </a:p>
          <a:p>
            <a:pPr algn="l" marL="604532" indent="-302266" lvl="1">
              <a:lnSpc>
                <a:spcPts val="3640"/>
              </a:lnSpc>
              <a:buFont typeface="Arial"/>
              <a:buChar char="•"/>
            </a:pPr>
            <a:r>
              <a:rPr lang="en-US" sz="2800">
                <a:solidFill>
                  <a:srgbClr val="6B705C"/>
                </a:solidFill>
                <a:latin typeface="Garet 2"/>
              </a:rPr>
              <a:t>Randomization Logic: The application uses the random library to generate a password by randomly selecting characters from predefined lists.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63534" y="2294110"/>
            <a:ext cx="8572174" cy="7137265"/>
            <a:chOff x="0" y="0"/>
            <a:chExt cx="11429565" cy="95163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435408" y="1073195"/>
              <a:ext cx="5406598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06598">
                  <a:moveTo>
                    <a:pt x="0" y="0"/>
                  </a:moveTo>
                  <a:lnTo>
                    <a:pt x="5406598" y="0"/>
                  </a:lnTo>
                  <a:lnTo>
                    <a:pt x="540659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8100000">
              <a:off x="6177212" y="6787382"/>
              <a:ext cx="2844497" cy="1768760"/>
            </a:xfrm>
            <a:custGeom>
              <a:avLst/>
              <a:gdLst/>
              <a:ahLst/>
              <a:cxnLst/>
              <a:rect r="r" b="b" t="t" l="l"/>
              <a:pathLst>
                <a:path h="1768760" w="2844497">
                  <a:moveTo>
                    <a:pt x="0" y="0"/>
                  </a:moveTo>
                  <a:lnTo>
                    <a:pt x="2844498" y="0"/>
                  </a:lnTo>
                  <a:lnTo>
                    <a:pt x="2844498" y="1768760"/>
                  </a:lnTo>
                  <a:lnTo>
                    <a:pt x="0" y="176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true" rot="2287096">
              <a:off x="887644" y="1952998"/>
              <a:ext cx="2612288" cy="693444"/>
            </a:xfrm>
            <a:custGeom>
              <a:avLst/>
              <a:gdLst/>
              <a:ahLst/>
              <a:cxnLst/>
              <a:rect r="r" b="b" t="t" l="l"/>
              <a:pathLst>
                <a:path h="693444" w="2612288">
                  <a:moveTo>
                    <a:pt x="0" y="693443"/>
                  </a:moveTo>
                  <a:lnTo>
                    <a:pt x="2612288" y="693443"/>
                  </a:lnTo>
                  <a:lnTo>
                    <a:pt x="2612288" y="0"/>
                  </a:lnTo>
                  <a:lnTo>
                    <a:pt x="0" y="0"/>
                  </a:lnTo>
                  <a:lnTo>
                    <a:pt x="0" y="693443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-19050"/>
              <a:ext cx="4387576" cy="1239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6"/>
                </a:lnSpc>
              </a:pPr>
              <a:r>
                <a:rPr lang="en-US" sz="2912">
                  <a:solidFill>
                    <a:srgbClr val="6B705C"/>
                  </a:solidFill>
                  <a:latin typeface="Garet 2"/>
                </a:rPr>
                <a:t>User Input Handling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538649" y="8276628"/>
              <a:ext cx="4890916" cy="1239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6"/>
                </a:lnSpc>
              </a:pPr>
              <a:r>
                <a:rPr lang="en-US" sz="2912">
                  <a:solidFill>
                    <a:srgbClr val="6B705C"/>
                  </a:solidFill>
                  <a:latin typeface="Garet 2"/>
                </a:rPr>
                <a:t>Randomization Logic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819441" y="3193351"/>
              <a:ext cx="4387576" cy="648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46"/>
                </a:lnSpc>
              </a:pPr>
              <a:r>
                <a:rPr lang="en-US" sz="3112">
                  <a:solidFill>
                    <a:srgbClr val="6B705C"/>
                  </a:solidFill>
                  <a:latin typeface="Garet 2"/>
                </a:rPr>
                <a:t>Implementation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304672" y="735248"/>
            <a:ext cx="1558861" cy="1558861"/>
          </a:xfrm>
          <a:custGeom>
            <a:avLst/>
            <a:gdLst/>
            <a:ahLst/>
            <a:cxnLst/>
            <a:rect r="r" b="b" t="t" l="l"/>
            <a:pathLst>
              <a:path h="1558861" w="1558861">
                <a:moveTo>
                  <a:pt x="0" y="0"/>
                </a:moveTo>
                <a:lnTo>
                  <a:pt x="1558862" y="0"/>
                </a:lnTo>
                <a:lnTo>
                  <a:pt x="1558862" y="1558862"/>
                </a:lnTo>
                <a:lnTo>
                  <a:pt x="0" y="15588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138038" y="-8138038"/>
            <a:ext cx="2011924" cy="18288000"/>
            <a:chOff x="0" y="0"/>
            <a:chExt cx="529889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9889" cy="4816592"/>
            </a:xfrm>
            <a:custGeom>
              <a:avLst/>
              <a:gdLst/>
              <a:ahLst/>
              <a:cxnLst/>
              <a:rect r="r" b="b" t="t" l="l"/>
              <a:pathLst>
                <a:path h="4816592" w="529889">
                  <a:moveTo>
                    <a:pt x="0" y="0"/>
                  </a:moveTo>
                  <a:lnTo>
                    <a:pt x="529889" y="0"/>
                  </a:lnTo>
                  <a:lnTo>
                    <a:pt x="529889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B7B7A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9889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600854"/>
            <a:ext cx="7856857" cy="3444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0"/>
              </a:lnSpc>
            </a:pPr>
            <a:r>
              <a:rPr lang="en-US" sz="9900">
                <a:solidFill>
                  <a:srgbClr val="A5A58D"/>
                </a:solidFill>
                <a:latin typeface="TAN Mon Cheri"/>
              </a:rPr>
              <a:t>Advanced Version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2437646"/>
            <a:ext cx="8164244" cy="717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20"/>
              </a:lnSpc>
            </a:pPr>
            <a:r>
              <a:rPr lang="en-US" sz="3400">
                <a:solidFill>
                  <a:srgbClr val="6B705C"/>
                </a:solidFill>
                <a:latin typeface="Garet 2"/>
              </a:rPr>
              <a:t>The advanced version aims to create a user-friendly application with a graphical interface, allowing users to easily generate secure passwords with additional complexity options.</a:t>
            </a:r>
          </a:p>
          <a:p>
            <a:pPr algn="just">
              <a:lnSpc>
                <a:spcPts val="4420"/>
              </a:lnSpc>
            </a:pPr>
            <a:r>
              <a:rPr lang="en-US" sz="3400">
                <a:solidFill>
                  <a:srgbClr val="6B705C"/>
                </a:solidFill>
                <a:latin typeface="Garet 2 Bold"/>
              </a:rPr>
              <a:t>Features</a:t>
            </a:r>
          </a:p>
          <a:p>
            <a:pPr algn="just" marL="734069" indent="-367035" lvl="1">
              <a:lnSpc>
                <a:spcPts val="4420"/>
              </a:lnSpc>
              <a:buFont typeface="Arial"/>
              <a:buChar char="•"/>
            </a:pPr>
            <a:r>
              <a:rPr lang="en-US" sz="3400">
                <a:solidFill>
                  <a:srgbClr val="6B705C"/>
                </a:solidFill>
                <a:latin typeface="Garet 2"/>
              </a:rPr>
              <a:t>GUI for user input.</a:t>
            </a:r>
          </a:p>
          <a:p>
            <a:pPr algn="just" marL="734069" indent="-367035" lvl="1">
              <a:lnSpc>
                <a:spcPts val="4420"/>
              </a:lnSpc>
              <a:buFont typeface="Arial"/>
              <a:buChar char="•"/>
            </a:pPr>
            <a:r>
              <a:rPr lang="en-US" sz="3400">
                <a:solidFill>
                  <a:srgbClr val="6B705C"/>
                </a:solidFill>
                <a:latin typeface="Garet 2"/>
              </a:rPr>
              <a:t>Random password generation.</a:t>
            </a:r>
          </a:p>
          <a:p>
            <a:pPr algn="just" marL="734069" indent="-367035" lvl="1">
              <a:lnSpc>
                <a:spcPts val="4420"/>
              </a:lnSpc>
              <a:buFont typeface="Arial"/>
              <a:buChar char="•"/>
            </a:pPr>
            <a:r>
              <a:rPr lang="en-US" sz="3400">
                <a:solidFill>
                  <a:srgbClr val="6B705C"/>
                </a:solidFill>
                <a:latin typeface="Garet 2"/>
              </a:rPr>
              <a:t>Password complexity options.</a:t>
            </a:r>
          </a:p>
          <a:p>
            <a:pPr algn="just">
              <a:lnSpc>
                <a:spcPts val="4420"/>
              </a:lnSpc>
            </a:pPr>
            <a:r>
              <a:rPr lang="en-US" sz="3400">
                <a:solidFill>
                  <a:srgbClr val="6B705C"/>
                </a:solidFill>
                <a:latin typeface="Garet 2 Bold"/>
              </a:rPr>
              <a:t>Technologies Used</a:t>
            </a:r>
          </a:p>
          <a:p>
            <a:pPr algn="just" marL="734069" indent="-367035" lvl="1">
              <a:lnSpc>
                <a:spcPts val="4420"/>
              </a:lnSpc>
              <a:buFont typeface="Arial"/>
              <a:buChar char="•"/>
            </a:pPr>
            <a:r>
              <a:rPr lang="en-US" sz="3400">
                <a:solidFill>
                  <a:srgbClr val="6B705C"/>
                </a:solidFill>
                <a:latin typeface="Garet 2"/>
              </a:rPr>
              <a:t>Python</a:t>
            </a:r>
          </a:p>
          <a:p>
            <a:pPr algn="just" marL="734069" indent="-367035" lvl="1">
              <a:lnSpc>
                <a:spcPts val="4420"/>
              </a:lnSpc>
              <a:buFont typeface="Arial"/>
              <a:buChar char="•"/>
            </a:pPr>
            <a:r>
              <a:rPr lang="en-US" sz="3400">
                <a:solidFill>
                  <a:srgbClr val="6B705C"/>
                </a:solidFill>
                <a:latin typeface="Garet 2"/>
              </a:rPr>
              <a:t>Libraries: tkinter, random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153487" y="1232493"/>
            <a:ext cx="1558861" cy="1558861"/>
          </a:xfrm>
          <a:custGeom>
            <a:avLst/>
            <a:gdLst/>
            <a:ahLst/>
            <a:cxnLst/>
            <a:rect r="r" b="b" t="t" l="l"/>
            <a:pathLst>
              <a:path h="1558861" w="1558861">
                <a:moveTo>
                  <a:pt x="0" y="0"/>
                </a:moveTo>
                <a:lnTo>
                  <a:pt x="1558861" y="0"/>
                </a:lnTo>
                <a:lnTo>
                  <a:pt x="1558861" y="1558861"/>
                </a:lnTo>
                <a:lnTo>
                  <a:pt x="0" y="1558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21470" y="6740406"/>
            <a:ext cx="7604450" cy="1908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The Seasons"/>
              </a:rPr>
              <a:t>Objective: Provide a Graphical Interface for Generating Secure Passwords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658513" cy="10287000"/>
            <a:chOff x="0" y="0"/>
            <a:chExt cx="96355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5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963559">
                  <a:moveTo>
                    <a:pt x="0" y="0"/>
                  </a:moveTo>
                  <a:lnTo>
                    <a:pt x="963559" y="0"/>
                  </a:lnTo>
                  <a:lnTo>
                    <a:pt x="9635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B705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355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890866" y="469593"/>
            <a:ext cx="12368434" cy="147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41"/>
              </a:lnSpc>
            </a:pPr>
            <a:r>
              <a:rPr lang="en-US" sz="8600">
                <a:solidFill>
                  <a:srgbClr val="6B705C"/>
                </a:solidFill>
                <a:latin typeface="TAN Mon Cheri"/>
              </a:rPr>
              <a:t>Implementation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993409" y="616373"/>
            <a:ext cx="1330209" cy="1330209"/>
          </a:xfrm>
          <a:custGeom>
            <a:avLst/>
            <a:gdLst/>
            <a:ahLst/>
            <a:cxnLst/>
            <a:rect r="r" b="b" t="t" l="l"/>
            <a:pathLst>
              <a:path h="1330209" w="1330209">
                <a:moveTo>
                  <a:pt x="0" y="0"/>
                </a:moveTo>
                <a:lnTo>
                  <a:pt x="1330209" y="0"/>
                </a:lnTo>
                <a:lnTo>
                  <a:pt x="1330209" y="1330209"/>
                </a:lnTo>
                <a:lnTo>
                  <a:pt x="0" y="1330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23618" y="2416176"/>
            <a:ext cx="12568097" cy="684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9" indent="-377829" lvl="1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6B705C"/>
                </a:solidFill>
                <a:latin typeface="Garet 2"/>
              </a:rPr>
              <a:t>GUI Design with tkinter: The application uses tkinter to create a graphical interface for user interaction.</a:t>
            </a:r>
          </a:p>
          <a:p>
            <a:pPr algn="just" marL="755659" indent="-377829" lvl="1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6B705C"/>
                </a:solidFill>
                <a:latin typeface="Garet 2"/>
              </a:rPr>
              <a:t>Randomization Logic: Similar to the easy version, the application uses the random library to generate a password by randomly selecting characters from predefined lists.</a:t>
            </a:r>
          </a:p>
          <a:p>
            <a:pPr algn="just" marL="755659" indent="-377829" lvl="1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6B705C"/>
                </a:solidFill>
                <a:latin typeface="Garet 2"/>
              </a:rPr>
              <a:t>Password Complexity Handling: The application includes options for specifying the number of letters, symbols, and numbers in the password, as well as ensuring a shuffled final password for added security.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8254" y="0"/>
            <a:ext cx="18584507" cy="3066618"/>
            <a:chOff x="0" y="0"/>
            <a:chExt cx="24779343" cy="4088824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10873305" y="-10873305"/>
              <a:ext cx="3032734" cy="24779343"/>
              <a:chOff x="0" y="0"/>
              <a:chExt cx="589501" cy="481659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895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589501">
                    <a:moveTo>
                      <a:pt x="0" y="0"/>
                    </a:moveTo>
                    <a:lnTo>
                      <a:pt x="589501" y="0"/>
                    </a:lnTo>
                    <a:lnTo>
                      <a:pt x="5895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CB997E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589501" cy="48451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5034" y="579021"/>
              <a:ext cx="24764309" cy="1985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20"/>
                </a:lnSpc>
              </a:pPr>
              <a:r>
                <a:rPr lang="en-US" sz="8943">
                  <a:solidFill>
                    <a:srgbClr val="F8F5ED"/>
                  </a:solidFill>
                  <a:latin typeface="TAN Mon Cheri"/>
                </a:rPr>
                <a:t>summary of both versions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11333581" y="1976643"/>
              <a:ext cx="2112181" cy="2112181"/>
            </a:xfrm>
            <a:custGeom>
              <a:avLst/>
              <a:gdLst/>
              <a:ahLst/>
              <a:cxnLst/>
              <a:rect r="r" b="b" t="t" l="l"/>
              <a:pathLst>
                <a:path h="2112181" w="2112181">
                  <a:moveTo>
                    <a:pt x="0" y="0"/>
                  </a:moveTo>
                  <a:lnTo>
                    <a:pt x="2112181" y="0"/>
                  </a:lnTo>
                  <a:lnTo>
                    <a:pt x="2112181" y="2112181"/>
                  </a:lnTo>
                  <a:lnTo>
                    <a:pt x="0" y="2112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64166" y="4406773"/>
            <a:ext cx="16195134" cy="4851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4"/>
              </a:lnSpc>
            </a:pPr>
            <a:r>
              <a:rPr lang="en-US" sz="4100">
                <a:solidFill>
                  <a:srgbClr val="BF7343"/>
                </a:solidFill>
                <a:latin typeface="TAN Mon Cheri"/>
              </a:rPr>
              <a:t>The easy version of the Password Generator is a simple console-based application that generates random passwords based on user-defined criteria. The advanced version enhances the user experience by providing a graphical interface and additional options for password complexity, making it easier for users to generate secure passwords.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9250398" cy="10287000"/>
            <a:chOff x="0" y="0"/>
            <a:chExt cx="243631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6319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36319">
                  <a:moveTo>
                    <a:pt x="0" y="0"/>
                  </a:moveTo>
                  <a:lnTo>
                    <a:pt x="2436319" y="0"/>
                  </a:lnTo>
                  <a:lnTo>
                    <a:pt x="243631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B705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631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29829" y="1910729"/>
            <a:ext cx="8115300" cy="633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081"/>
              </a:lnSpc>
            </a:pPr>
            <a:r>
              <a:rPr lang="en-US" sz="7201">
                <a:solidFill>
                  <a:srgbClr val="6B705C"/>
                </a:solidFill>
                <a:latin typeface="TAN Mon Cheri"/>
              </a:rPr>
              <a:t>Potential </a:t>
            </a:r>
          </a:p>
          <a:p>
            <a:pPr algn="r">
              <a:lnSpc>
                <a:spcPts val="10081"/>
              </a:lnSpc>
            </a:pPr>
          </a:p>
          <a:p>
            <a:pPr algn="r">
              <a:lnSpc>
                <a:spcPts val="10081"/>
              </a:lnSpc>
            </a:pPr>
            <a:r>
              <a:rPr lang="en-US" sz="7201">
                <a:solidFill>
                  <a:srgbClr val="6B705C"/>
                </a:solidFill>
                <a:latin typeface="TAN Mon Cheri"/>
              </a:rPr>
              <a:t>Future </a:t>
            </a:r>
          </a:p>
          <a:p>
            <a:pPr algn="r">
              <a:lnSpc>
                <a:spcPts val="10081"/>
              </a:lnSpc>
            </a:pPr>
          </a:p>
          <a:p>
            <a:pPr algn="r">
              <a:lnSpc>
                <a:spcPts val="10081"/>
              </a:lnSpc>
            </a:pPr>
            <a:r>
              <a:rPr lang="en-US" sz="7201">
                <a:solidFill>
                  <a:srgbClr val="6B705C"/>
                </a:solidFill>
                <a:latin typeface="TAN Mon Cheri"/>
              </a:rPr>
              <a:t>Improvements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470967" y="4364069"/>
            <a:ext cx="1558861" cy="1558861"/>
          </a:xfrm>
          <a:custGeom>
            <a:avLst/>
            <a:gdLst/>
            <a:ahLst/>
            <a:cxnLst/>
            <a:rect r="r" b="b" t="t" l="l"/>
            <a:pathLst>
              <a:path h="1558861" w="1558861">
                <a:moveTo>
                  <a:pt x="0" y="0"/>
                </a:moveTo>
                <a:lnTo>
                  <a:pt x="1558862" y="0"/>
                </a:lnTo>
                <a:lnTo>
                  <a:pt x="1558862" y="1558862"/>
                </a:lnTo>
                <a:lnTo>
                  <a:pt x="0" y="1558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6723" y="416560"/>
            <a:ext cx="8164244" cy="942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53" indent="-280677" lvl="1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F8F5ED"/>
                </a:solidFill>
                <a:latin typeface="Garet 2 Bold"/>
              </a:rPr>
              <a:t>Password Strength Indicator: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 Add a feature to indicate the strength of the generated password.</a:t>
            </a:r>
          </a:p>
          <a:p>
            <a:pPr algn="just">
              <a:lnSpc>
                <a:spcPts val="3380"/>
              </a:lnSpc>
            </a:pPr>
          </a:p>
          <a:p>
            <a:pPr algn="just" marL="561353" indent="-280677" lvl="1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F8F5ED"/>
                </a:solidFill>
                <a:latin typeface="Garet 2 Bold"/>
              </a:rPr>
              <a:t>Password History: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 Save and display previously generated passwords.</a:t>
            </a:r>
          </a:p>
          <a:p>
            <a:pPr algn="just">
              <a:lnSpc>
                <a:spcPts val="3380"/>
              </a:lnSpc>
            </a:pPr>
          </a:p>
          <a:p>
            <a:pPr algn="just" marL="561353" indent="-280677" lvl="1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F8F5ED"/>
                </a:solidFill>
                <a:latin typeface="Garet 2 Bold"/>
              </a:rPr>
              <a:t>Additional Complexity Options: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 Include options for avoiding similar characters (e.g., 1, l, I, |) or rep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eat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ing cha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r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act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e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r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s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.</a:t>
            </a:r>
          </a:p>
          <a:p>
            <a:pPr algn="just">
              <a:lnSpc>
                <a:spcPts val="3380"/>
              </a:lnSpc>
            </a:pPr>
          </a:p>
          <a:p>
            <a:pPr algn="just" marL="561353" indent="-280677" lvl="1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F8F5ED"/>
                </a:solidFill>
                <a:latin typeface="Garet 2 Bold"/>
              </a:rPr>
              <a:t>Customization: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 Allow users to customize character sets and include/exclude specific characters.</a:t>
            </a:r>
          </a:p>
          <a:p>
            <a:pPr algn="just">
              <a:lnSpc>
                <a:spcPts val="3380"/>
              </a:lnSpc>
            </a:pPr>
          </a:p>
          <a:p>
            <a:pPr algn="just" marL="561353" indent="-280677" lvl="1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F8F5ED"/>
                </a:solidFill>
                <a:latin typeface="Garet 2 Bold"/>
              </a:rPr>
              <a:t>Clipbo</a:t>
            </a:r>
            <a:r>
              <a:rPr lang="en-US" sz="2600">
                <a:solidFill>
                  <a:srgbClr val="F8F5ED"/>
                </a:solidFill>
                <a:latin typeface="Garet 2 Bold"/>
              </a:rPr>
              <a:t>ard Functionality: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 Add a feature to copy the generated password to the clipboard for easy use.</a:t>
            </a:r>
          </a:p>
          <a:p>
            <a:pPr algn="just">
              <a:lnSpc>
                <a:spcPts val="3380"/>
              </a:lnSpc>
            </a:pPr>
          </a:p>
          <a:p>
            <a:pPr algn="just" marL="561353" indent="-280677" lvl="1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F8F5ED"/>
                </a:solidFill>
                <a:latin typeface="Garet 2 Bold"/>
              </a:rPr>
              <a:t>Password Management: 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Integrate with password manag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e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me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n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t to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ols 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to 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s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av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e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 an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d</a:t>
            </a:r>
            <a:r>
              <a:rPr lang="en-US" sz="2600">
                <a:solidFill>
                  <a:srgbClr val="F8F5ED"/>
                </a:solidFill>
                <a:latin typeface="Garet 2"/>
              </a:rPr>
              <a:t> manage generated passwords securely.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20247" y="3076575"/>
            <a:ext cx="10322954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BF7343"/>
                </a:solidFill>
                <a:latin typeface="TAN Mon Cheri"/>
              </a:rPr>
              <a:t>Thank 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07769" y="9061449"/>
            <a:ext cx="7672462" cy="46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F8F5ED"/>
                </a:solidFill>
                <a:latin typeface="Garet 2"/>
              </a:rPr>
              <a:t>22/08/22 · Week 6 Term 3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243200" y="3202520"/>
            <a:ext cx="1558861" cy="1558861"/>
          </a:xfrm>
          <a:custGeom>
            <a:avLst/>
            <a:gdLst/>
            <a:ahLst/>
            <a:cxnLst/>
            <a:rect r="r" b="b" t="t" l="l"/>
            <a:pathLst>
              <a:path h="1558861" w="1558861">
                <a:moveTo>
                  <a:pt x="0" y="0"/>
                </a:moveTo>
                <a:lnTo>
                  <a:pt x="1558862" y="0"/>
                </a:lnTo>
                <a:lnTo>
                  <a:pt x="1558862" y="1558861"/>
                </a:lnTo>
                <a:lnTo>
                  <a:pt x="0" y="1558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5400000">
            <a:off x="12876686" y="4875686"/>
            <a:ext cx="10287000" cy="535627"/>
            <a:chOff x="0" y="0"/>
            <a:chExt cx="2709333" cy="1410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3" cy="141070"/>
            </a:xfrm>
            <a:custGeom>
              <a:avLst/>
              <a:gdLst/>
              <a:ahLst/>
              <a:cxnLst/>
              <a:rect r="r" b="b" t="t" l="l"/>
              <a:pathLst>
                <a:path h="14107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141070"/>
                  </a:lnTo>
                  <a:lnTo>
                    <a:pt x="0" y="141070"/>
                  </a:lnTo>
                  <a:close/>
                </a:path>
              </a:pathLst>
            </a:custGeom>
            <a:solidFill>
              <a:srgbClr val="BF734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3" cy="17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8497887" y="496887"/>
            <a:ext cx="1292226" cy="18288000"/>
            <a:chOff x="0" y="0"/>
            <a:chExt cx="340339" cy="48165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0339" cy="4816592"/>
            </a:xfrm>
            <a:custGeom>
              <a:avLst/>
              <a:gdLst/>
              <a:ahLst/>
              <a:cxnLst/>
              <a:rect r="r" b="b" t="t" l="l"/>
              <a:pathLst>
                <a:path h="4816592" w="340339">
                  <a:moveTo>
                    <a:pt x="0" y="0"/>
                  </a:moveTo>
                  <a:lnTo>
                    <a:pt x="340339" y="0"/>
                  </a:lnTo>
                  <a:lnTo>
                    <a:pt x="340339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BF73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40339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8867692" y="-8867692"/>
            <a:ext cx="552616" cy="18288000"/>
            <a:chOff x="0" y="0"/>
            <a:chExt cx="145545" cy="48165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5545" cy="4816592"/>
            </a:xfrm>
            <a:custGeom>
              <a:avLst/>
              <a:gdLst/>
              <a:ahLst/>
              <a:cxnLst/>
              <a:rect r="r" b="b" t="t" l="l"/>
              <a:pathLst>
                <a:path h="4816592" w="145545">
                  <a:moveTo>
                    <a:pt x="0" y="0"/>
                  </a:moveTo>
                  <a:lnTo>
                    <a:pt x="145545" y="0"/>
                  </a:lnTo>
                  <a:lnTo>
                    <a:pt x="145545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BF734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5545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00000">
            <a:off x="-5143500" y="4351796"/>
            <a:ext cx="10287000" cy="1583407"/>
            <a:chOff x="0" y="0"/>
            <a:chExt cx="2709333" cy="4170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09333" cy="417029"/>
            </a:xfrm>
            <a:custGeom>
              <a:avLst/>
              <a:gdLst/>
              <a:ahLst/>
              <a:cxnLst/>
              <a:rect r="r" b="b" t="t" l="l"/>
              <a:pathLst>
                <a:path h="417029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17029"/>
                  </a:lnTo>
                  <a:lnTo>
                    <a:pt x="0" y="417029"/>
                  </a:lnTo>
                  <a:close/>
                </a:path>
              </a:pathLst>
            </a:custGeom>
            <a:solidFill>
              <a:srgbClr val="BF734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709333" cy="455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DAGHJ1ducOE</dc:identifier>
  <dcterms:modified xsi:type="dcterms:W3CDTF">2011-08-01T06:04:30Z</dcterms:modified>
  <cp:revision>1</cp:revision>
  <dc:title>Password Generator - OIBSIP</dc:title>
</cp:coreProperties>
</file>