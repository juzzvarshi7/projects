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latsi" panose="020B0604020202020204" charset="0"/>
      <p:regular r:id="rId17"/>
    </p:embeddedFont>
    <p:embeddedFont>
      <p:font typeface="Open Sa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E00F4-9528-4055-A7B4-DB685B25D568}" type="datetimeFigureOut">
              <a:rPr lang="en-IN" smtClean="0"/>
              <a:t>11-06-2024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F2CAB-0284-4272-B2F5-141412BB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41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I'm Varshini A, and today I will be discussing how we can enhance player support for the games Gravity Guy and </a:t>
            </a:r>
            <a:r>
              <a:rPr lang="en-US" dirty="0" err="1"/>
              <a:t>Fireboy</a:t>
            </a:r>
            <a:r>
              <a:rPr lang="en-US" dirty="0"/>
              <a:t> and </a:t>
            </a:r>
            <a:r>
              <a:rPr lang="en-US" dirty="0" err="1"/>
              <a:t>Watergirl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Our goal is to attract a broader player base and enhance the competitive edge of </a:t>
            </a:r>
            <a:r>
              <a:rPr lang="en-US" dirty="0" err="1"/>
              <a:t>Mobalytics</a:t>
            </a:r>
            <a:r>
              <a:rPr lang="en-US" dirty="0"/>
              <a:t> by understanding player psychology and addressing common player requests.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F2CAB-0284-4272-B2F5-141412BB840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91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the agenda for today’s presentation. We’ll start with an executive summary, then move on to an overview of the genre and games, followed by a detailed look at player psychology. After that, I'll present our recommendations and conclude with final thoughts.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F2CAB-0284-4272-B2F5-141412BB840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142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Mobalytics</a:t>
            </a:r>
            <a:r>
              <a:rPr lang="en-US" dirty="0"/>
              <a:t> aims to diversify its offerings to attract a broader player base. Understanding player psychology and common requests is crucial for providing effective support.</a:t>
            </a:r>
          </a:p>
          <a:p>
            <a:r>
              <a:rPr lang="en-US" dirty="0"/>
              <a:t>We have chosen two genres: Endless Runner with Gravity Guy and Cooperative Puzzle-Platformer with </a:t>
            </a:r>
            <a:r>
              <a:rPr lang="en-US" dirty="0" err="1"/>
              <a:t>Fireboy</a:t>
            </a:r>
            <a:r>
              <a:rPr lang="en-US" dirty="0"/>
              <a:t> and </a:t>
            </a:r>
            <a:r>
              <a:rPr lang="en-US" dirty="0" err="1"/>
              <a:t>Watergirl</a:t>
            </a:r>
            <a:r>
              <a:rPr lang="en-US" dirty="0"/>
              <a:t>.</a:t>
            </a:r>
          </a:p>
          <a:p>
            <a:r>
              <a:rPr lang="en-US" dirty="0"/>
              <a:t>Gravity Guy is a fast-paced endless runner game that challenges players' reflexes and timing through gravity manipulation.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F2CAB-0284-4272-B2F5-141412BB840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098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game is a cooperative puzzle-platformer that emphasizes teamwork and strategic thinking.</a:t>
            </a:r>
          </a:p>
          <a:p>
            <a:r>
              <a:rPr lang="en-US" dirty="0"/>
              <a:t>We need to focus on player psychology, such as motivations like competition, exploration, and social interaction. Common player requests include more comprehensive guides, community features, and personalized gameplay tips.</a:t>
            </a:r>
          </a:p>
          <a:p>
            <a:r>
              <a:rPr lang="en-US" dirty="0"/>
              <a:t>We should enhance analytics for cooperative games, improve community engagement features, and provide targeted performance insights.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F2CAB-0284-4272-B2F5-141412BB840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702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profile a typical player. Varshini, an intermediate player, enjoys puzzle-platformers, collaboration, tackling difficult levels, and exploring new game mechanics.</a:t>
            </a:r>
          </a:p>
          <a:p>
            <a:r>
              <a:rPr lang="en-US" dirty="0"/>
              <a:t>Key motivations include collaboration, challenge, and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F2CAB-0284-4272-B2F5-141412BB840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423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Players participate in online forums and co-op gaming groups, and follow YouTube channels for tips and tricks.</a:t>
            </a:r>
          </a:p>
          <a:p>
            <a:r>
              <a:rPr lang="en-US" dirty="0"/>
              <a:t>They use a dual-controller setup for optimal gameplay and community forums for level strategies.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F2CAB-0284-4272-B2F5-141412BB840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824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series includes several titles like The Forest Temple, The Light Temple, The Ice Temple, The Crystal Temple, Elements, and Fairy Tales.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F2CAB-0284-4272-B2F5-141412BB840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597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6241693" y="2338534"/>
            <a:ext cx="8534002" cy="185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9"/>
              </a:lnSpc>
            </a:pPr>
            <a:r>
              <a:rPr lang="en-US" sz="7401">
                <a:solidFill>
                  <a:srgbClr val="000000"/>
                </a:solidFill>
                <a:latin typeface="Alatsi"/>
              </a:rPr>
              <a:t>ENHANCING PLAYER SUPPORT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646898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633952" y="5360802"/>
            <a:ext cx="12625348" cy="72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9"/>
              </a:lnSpc>
            </a:pPr>
            <a:r>
              <a:rPr lang="en-US" sz="4335">
                <a:solidFill>
                  <a:srgbClr val="000000"/>
                </a:solidFill>
                <a:latin typeface="Alatsi Bold"/>
              </a:rPr>
              <a:t>For Gravity Guy and Fireboy and Watergirl Games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67640" y="7378370"/>
            <a:ext cx="6882108" cy="533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 Bold"/>
              </a:rPr>
              <a:t>Presented By: Varshini A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118095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3980" y="866775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 Bold"/>
              </a:rPr>
              <a:t>AGENDA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826815" y="3325155"/>
            <a:ext cx="4883779" cy="4102787"/>
            <a:chOff x="0" y="0"/>
            <a:chExt cx="6511705" cy="5470382"/>
          </a:xfrm>
        </p:grpSpPr>
        <p:sp>
          <p:nvSpPr>
            <p:cNvPr id="5" name="TextBox 5"/>
            <p:cNvSpPr txBox="1"/>
            <p:nvPr/>
          </p:nvSpPr>
          <p:spPr>
            <a:xfrm>
              <a:off x="0" y="-66675"/>
              <a:ext cx="6511705" cy="817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Alatsi Bold"/>
                </a:rPr>
                <a:t>Executive summary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67092"/>
              <a:ext cx="5974613" cy="1693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Alatsi Bold"/>
                </a:rPr>
                <a:t>Genre and Games 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776414"/>
              <a:ext cx="5974613" cy="1693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Alatsi Bold"/>
                </a:rPr>
                <a:t>Player Psychology Overview 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7270" y="3325155"/>
            <a:ext cx="5055568" cy="5099154"/>
            <a:chOff x="0" y="0"/>
            <a:chExt cx="6740757" cy="6798873"/>
          </a:xfrm>
        </p:grpSpPr>
        <p:sp>
          <p:nvSpPr>
            <p:cNvPr id="9" name="TextBox 9"/>
            <p:cNvSpPr txBox="1"/>
            <p:nvPr/>
          </p:nvSpPr>
          <p:spPr>
            <a:xfrm>
              <a:off x="45405" y="-66675"/>
              <a:ext cx="5974613" cy="1693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Alatsi Bold"/>
                </a:rPr>
                <a:t>Player Psychology Overview II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061905"/>
              <a:ext cx="6647705" cy="817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Alatsi Bold"/>
                </a:rPr>
                <a:t>Recommendations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776414"/>
              <a:ext cx="6740757" cy="1693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Alatsi Bold"/>
                </a:rPr>
                <a:t>Concluding Thoughts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981204"/>
              <a:ext cx="5974613" cy="817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000000"/>
                  </a:solidFill>
                  <a:latin typeface="Alatsi Bold"/>
                </a:rPr>
                <a:t>Q&amp;A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6" name="Group 1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2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2845001" y="43433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601700" y="614206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982861" y="593323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53980" y="866775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 Bold"/>
              </a:rPr>
              <a:t>INTRODUCTION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3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2976858"/>
            <a:ext cx="16212097" cy="515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Situation and Complication: Mobalytics aims to diversify its offerings to attract a broader player base and enhance competitive edge. There is a need to understand player psychology and common requests for effective support.</a:t>
            </a:r>
          </a:p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Chosen Genre: Endless Runner (Gravity Guy) and Cooperative Puzzle-Platformer (Fireboy and Watergirl).</a:t>
            </a:r>
          </a:p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Gravity Guy: A fast-paced endless runner game that challenges players' reflexes and timing through gravity manipulation.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982861" y="593323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53980" y="866775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 Bold"/>
              </a:rPr>
              <a:t>INTRODUCTION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4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2653008"/>
            <a:ext cx="16212097" cy="580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Fireboy and Watergirl: A cooperative puzzle-platformer that emphasizes teamwork and strategic thinking.</a:t>
            </a:r>
          </a:p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Support Recommendations:</a:t>
            </a:r>
          </a:p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Player Psychology Focus: Tap into motivations such as competition, exploration, and social interaction.</a:t>
            </a:r>
          </a:p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Common Player Requests: More comprehensive guides, community features, and personalized gameplay tips.</a:t>
            </a:r>
          </a:p>
          <a:p>
            <a:pPr marL="794598" lvl="1" indent="-397299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Alatsi Bold"/>
              </a:rPr>
              <a:t>System Gaps: Enhance analytics for cooperative games, improve community engagement features, and provide targeted performance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9431"/>
            <a:ext cx="16230600" cy="119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Alatsi Bold"/>
              </a:rPr>
              <a:t>FIREBOY AND WATERGIRL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90722" y="3102810"/>
            <a:ext cx="7362681" cy="4421131"/>
            <a:chOff x="0" y="0"/>
            <a:chExt cx="1939142" cy="1164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9142" cy="1164413"/>
            </a:xfrm>
            <a:custGeom>
              <a:avLst/>
              <a:gdLst/>
              <a:ahLst/>
              <a:cxnLst/>
              <a:rect l="l" t="t" r="r" b="b"/>
              <a:pathLst>
                <a:path w="1939142" h="1164413">
                  <a:moveTo>
                    <a:pt x="53627" y="0"/>
                  </a:moveTo>
                  <a:lnTo>
                    <a:pt x="1885515" y="0"/>
                  </a:lnTo>
                  <a:cubicBezTo>
                    <a:pt x="1915133" y="0"/>
                    <a:pt x="1939142" y="24010"/>
                    <a:pt x="1939142" y="53627"/>
                  </a:cubicBezTo>
                  <a:lnTo>
                    <a:pt x="1939142" y="1110786"/>
                  </a:lnTo>
                  <a:cubicBezTo>
                    <a:pt x="1939142" y="1140403"/>
                    <a:pt x="1915133" y="1164413"/>
                    <a:pt x="1885515" y="1164413"/>
                  </a:cubicBezTo>
                  <a:lnTo>
                    <a:pt x="53627" y="1164413"/>
                  </a:lnTo>
                  <a:cubicBezTo>
                    <a:pt x="39404" y="1164413"/>
                    <a:pt x="25764" y="1158763"/>
                    <a:pt x="15707" y="1148706"/>
                  </a:cubicBezTo>
                  <a:cubicBezTo>
                    <a:pt x="5650" y="1138649"/>
                    <a:pt x="0" y="1125009"/>
                    <a:pt x="0" y="1110786"/>
                  </a:cubicBezTo>
                  <a:lnTo>
                    <a:pt x="0" y="53627"/>
                  </a:lnTo>
                  <a:cubicBezTo>
                    <a:pt x="0" y="39404"/>
                    <a:pt x="5650" y="25764"/>
                    <a:pt x="15707" y="15707"/>
                  </a:cubicBezTo>
                  <a:cubicBezTo>
                    <a:pt x="25764" y="5650"/>
                    <a:pt x="39404" y="0"/>
                    <a:pt x="53627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39142" cy="1202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508477" y="4190066"/>
            <a:ext cx="5499127" cy="270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Player Name: Varshini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Avatar: Fire and Water duo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Preferred Genre: Puzzle-Platformer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Experience Level: Intermediate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79902" y="3496012"/>
            <a:ext cx="387823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 Bold"/>
              </a:rPr>
              <a:t>Profile</a:t>
            </a:r>
          </a:p>
        </p:txBody>
      </p:sp>
      <p:sp>
        <p:nvSpPr>
          <p:cNvPr id="9" name="Freeform 9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534597" y="3102810"/>
            <a:ext cx="7540491" cy="5418592"/>
            <a:chOff x="0" y="0"/>
            <a:chExt cx="1985973" cy="14271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5973" cy="1427119"/>
            </a:xfrm>
            <a:custGeom>
              <a:avLst/>
              <a:gdLst/>
              <a:ahLst/>
              <a:cxnLst/>
              <a:rect l="l" t="t" r="r" b="b"/>
              <a:pathLst>
                <a:path w="1985973" h="1427119">
                  <a:moveTo>
                    <a:pt x="52362" y="0"/>
                  </a:moveTo>
                  <a:lnTo>
                    <a:pt x="1933610" y="0"/>
                  </a:lnTo>
                  <a:cubicBezTo>
                    <a:pt x="1947498" y="0"/>
                    <a:pt x="1960816" y="5517"/>
                    <a:pt x="1970636" y="15337"/>
                  </a:cubicBezTo>
                  <a:cubicBezTo>
                    <a:pt x="1980456" y="25156"/>
                    <a:pt x="1985973" y="38475"/>
                    <a:pt x="1985973" y="52362"/>
                  </a:cubicBezTo>
                  <a:lnTo>
                    <a:pt x="1985973" y="1374756"/>
                  </a:lnTo>
                  <a:cubicBezTo>
                    <a:pt x="1985973" y="1403675"/>
                    <a:pt x="1962529" y="1427119"/>
                    <a:pt x="1933610" y="1427119"/>
                  </a:cubicBezTo>
                  <a:lnTo>
                    <a:pt x="52362" y="1427119"/>
                  </a:lnTo>
                  <a:cubicBezTo>
                    <a:pt x="38475" y="1427119"/>
                    <a:pt x="25156" y="1421602"/>
                    <a:pt x="15337" y="1411782"/>
                  </a:cubicBezTo>
                  <a:cubicBezTo>
                    <a:pt x="5517" y="1401962"/>
                    <a:pt x="0" y="1388644"/>
                    <a:pt x="0" y="1374756"/>
                  </a:cubicBezTo>
                  <a:lnTo>
                    <a:pt x="0" y="52362"/>
                  </a:lnTo>
                  <a:cubicBezTo>
                    <a:pt x="0" y="23443"/>
                    <a:pt x="23443" y="0"/>
                    <a:pt x="52362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85973" cy="1465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67924" y="4190066"/>
            <a:ext cx="5691347" cy="433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Collaboration: Enjoys working together to solve puzzles.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Challenge: Loves tackling difficult levels.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Exploration: Interested in discovering new game mechanics and strategies.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latsi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39349" y="3496012"/>
            <a:ext cx="387823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 Bold"/>
              </a:rPr>
              <a:t>Motivation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739665" y="3615357"/>
            <a:ext cx="516960" cy="51696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44736" y="3615357"/>
            <a:ext cx="516960" cy="51696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4" name="Group 2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5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928728" y="1814519"/>
            <a:ext cx="1443054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Chosen for its unique cooperative gameplay that emphasizes teamwork and problem-solving.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9431"/>
            <a:ext cx="16230600" cy="119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Alatsi Bold"/>
              </a:rPr>
              <a:t>FIREBOY AND WATERGIRL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4" name="Freeform 4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28728" y="3102810"/>
            <a:ext cx="6369296" cy="4278256"/>
            <a:chOff x="0" y="0"/>
            <a:chExt cx="8492394" cy="570434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8492394" cy="5704341"/>
              <a:chOff x="0" y="0"/>
              <a:chExt cx="1677510" cy="112678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77510" cy="1126783"/>
              </a:xfrm>
              <a:custGeom>
                <a:avLst/>
                <a:gdLst/>
                <a:ahLst/>
                <a:cxnLst/>
                <a:rect l="l" t="t" r="r" b="b"/>
                <a:pathLst>
                  <a:path w="1677510" h="1126783">
                    <a:moveTo>
                      <a:pt x="61991" y="0"/>
                    </a:moveTo>
                    <a:lnTo>
                      <a:pt x="1615519" y="0"/>
                    </a:lnTo>
                    <a:cubicBezTo>
                      <a:pt x="1649756" y="0"/>
                      <a:pt x="1677510" y="27754"/>
                      <a:pt x="1677510" y="61991"/>
                    </a:cubicBezTo>
                    <a:lnTo>
                      <a:pt x="1677510" y="1064793"/>
                    </a:lnTo>
                    <a:cubicBezTo>
                      <a:pt x="1677510" y="1081234"/>
                      <a:pt x="1670979" y="1097001"/>
                      <a:pt x="1659353" y="1108627"/>
                    </a:cubicBezTo>
                    <a:cubicBezTo>
                      <a:pt x="1647728" y="1120252"/>
                      <a:pt x="1631960" y="1126783"/>
                      <a:pt x="1615519" y="1126783"/>
                    </a:cubicBezTo>
                    <a:lnTo>
                      <a:pt x="61991" y="1126783"/>
                    </a:lnTo>
                    <a:cubicBezTo>
                      <a:pt x="45550" y="1126783"/>
                      <a:pt x="29782" y="1120252"/>
                      <a:pt x="18157" y="1108627"/>
                    </a:cubicBezTo>
                    <a:cubicBezTo>
                      <a:pt x="6531" y="1097001"/>
                      <a:pt x="0" y="1081234"/>
                      <a:pt x="0" y="1064793"/>
                    </a:cubicBezTo>
                    <a:lnTo>
                      <a:pt x="0" y="61991"/>
                    </a:lnTo>
                    <a:cubicBezTo>
                      <a:pt x="0" y="45550"/>
                      <a:pt x="6531" y="29782"/>
                      <a:pt x="18157" y="18157"/>
                    </a:cubicBezTo>
                    <a:cubicBezTo>
                      <a:pt x="29782" y="6531"/>
                      <a:pt x="45550" y="0"/>
                      <a:pt x="61991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677510" cy="11648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85688" y="1390454"/>
              <a:ext cx="7332169" cy="3581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Participates in online forums and co-op gaming groups.</a:t>
              </a:r>
            </a:p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Follows popular YouTube channels for tips and tricks.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58686" y="352894"/>
              <a:ext cx="5170976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latsi Bold"/>
                </a:rPr>
                <a:t>Community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41048" y="429094"/>
              <a:ext cx="689280" cy="68928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0446488" y="3102810"/>
            <a:ext cx="5941999" cy="3946297"/>
            <a:chOff x="0" y="0"/>
            <a:chExt cx="7922666" cy="526173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922666" cy="5261730"/>
              <a:chOff x="0" y="0"/>
              <a:chExt cx="1564971" cy="103935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564971" cy="1039354"/>
              </a:xfrm>
              <a:custGeom>
                <a:avLst/>
                <a:gdLst/>
                <a:ahLst/>
                <a:cxnLst/>
                <a:rect l="l" t="t" r="r" b="b"/>
                <a:pathLst>
                  <a:path w="1564971" h="1039354">
                    <a:moveTo>
                      <a:pt x="66449" y="0"/>
                    </a:moveTo>
                    <a:lnTo>
                      <a:pt x="1498522" y="0"/>
                    </a:lnTo>
                    <a:cubicBezTo>
                      <a:pt x="1516146" y="0"/>
                      <a:pt x="1533047" y="7001"/>
                      <a:pt x="1545509" y="19462"/>
                    </a:cubicBezTo>
                    <a:cubicBezTo>
                      <a:pt x="1557970" y="31924"/>
                      <a:pt x="1564971" y="48825"/>
                      <a:pt x="1564971" y="66449"/>
                    </a:cubicBezTo>
                    <a:lnTo>
                      <a:pt x="1564971" y="972905"/>
                    </a:lnTo>
                    <a:cubicBezTo>
                      <a:pt x="1564971" y="1009604"/>
                      <a:pt x="1535221" y="1039354"/>
                      <a:pt x="1498522" y="1039354"/>
                    </a:cubicBezTo>
                    <a:lnTo>
                      <a:pt x="66449" y="1039354"/>
                    </a:lnTo>
                    <a:cubicBezTo>
                      <a:pt x="48825" y="1039354"/>
                      <a:pt x="31924" y="1032353"/>
                      <a:pt x="19462" y="1019892"/>
                    </a:cubicBezTo>
                    <a:cubicBezTo>
                      <a:pt x="7001" y="1007430"/>
                      <a:pt x="0" y="990529"/>
                      <a:pt x="0" y="972905"/>
                    </a:cubicBezTo>
                    <a:lnTo>
                      <a:pt x="0" y="66449"/>
                    </a:lnTo>
                    <a:cubicBezTo>
                      <a:pt x="0" y="48825"/>
                      <a:pt x="7001" y="31924"/>
                      <a:pt x="19462" y="19462"/>
                    </a:cubicBezTo>
                    <a:cubicBezTo>
                      <a:pt x="31924" y="7001"/>
                      <a:pt x="48825" y="0"/>
                      <a:pt x="66449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564971" cy="1077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34203" y="1578671"/>
              <a:ext cx="7588463" cy="28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Dual-controller setup for optimal gameplay.</a:t>
              </a:r>
            </a:p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Community forums for level strategies.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60354" y="302887"/>
              <a:ext cx="5170976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latsi Bold"/>
                </a:rPr>
                <a:t>Resources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334203" y="436614"/>
              <a:ext cx="689280" cy="689280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3" name="AutoShape 2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6" name="Group 2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6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928728" y="1814519"/>
            <a:ext cx="1443054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Chosen for its unique cooperative gameplay that emphasizes teamwork and problem-solving.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9431"/>
            <a:ext cx="16230600" cy="119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Alatsi Bold"/>
              </a:rPr>
              <a:t>FIREBOY AND WATERGIRL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4" name="Freeform 4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7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90720" y="2479364"/>
            <a:ext cx="7553280" cy="5930346"/>
          </a:xfrm>
          <a:custGeom>
            <a:avLst/>
            <a:gdLst/>
            <a:ahLst/>
            <a:cxnLst/>
            <a:rect l="l" t="t" r="r" b="b"/>
            <a:pathLst>
              <a:path w="7553280" h="5930346">
                <a:moveTo>
                  <a:pt x="0" y="0"/>
                </a:moveTo>
                <a:lnTo>
                  <a:pt x="7553280" y="0"/>
                </a:lnTo>
                <a:lnTo>
                  <a:pt x="7553280" y="5930346"/>
                </a:lnTo>
                <a:lnTo>
                  <a:pt x="0" y="5930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928728" y="1814519"/>
            <a:ext cx="1443054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Chosen for its unique cooperative gameplay that emphasizes teamwork and problem-solving.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52142" y="3735856"/>
            <a:ext cx="9810262" cy="3360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6485" lvl="1" indent="-348242" algn="just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000000"/>
                </a:solidFill>
                <a:latin typeface="Alatsi Bold"/>
              </a:rPr>
              <a:t>Fireboy and Watergirl 1: The Forest Temple.</a:t>
            </a:r>
          </a:p>
          <a:p>
            <a:pPr marL="696485" lvl="1" indent="-348242" algn="just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000000"/>
                </a:solidFill>
                <a:latin typeface="Alatsi Bold"/>
              </a:rPr>
              <a:t>Fireboy and Watergirl 2: The Light Temple.</a:t>
            </a:r>
          </a:p>
          <a:p>
            <a:pPr marL="696485" lvl="1" indent="-348242" algn="just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000000"/>
                </a:solidFill>
                <a:latin typeface="Alatsi Bold"/>
              </a:rPr>
              <a:t>Fireboy and Watergirl 3: The Ice Temple.</a:t>
            </a:r>
          </a:p>
          <a:p>
            <a:pPr marL="696485" lvl="1" indent="-348242" algn="just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000000"/>
                </a:solidFill>
                <a:latin typeface="Alatsi Bold"/>
              </a:rPr>
              <a:t>Fireboy and Watergirl 4: The Crystal Temple.</a:t>
            </a:r>
          </a:p>
          <a:p>
            <a:pPr marL="696485" lvl="1" indent="-348242" algn="just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000000"/>
                </a:solidFill>
                <a:latin typeface="Alatsi Bold"/>
              </a:rPr>
              <a:t>Fireboy and Watergirl 5: Elements.</a:t>
            </a:r>
          </a:p>
          <a:p>
            <a:pPr marL="696485" lvl="1" indent="-348242" algn="just">
              <a:lnSpc>
                <a:spcPts val="4516"/>
              </a:lnSpc>
              <a:spcBef>
                <a:spcPct val="0"/>
              </a:spcBef>
              <a:buFont typeface="Arial"/>
              <a:buChar char="•"/>
            </a:pPr>
            <a:r>
              <a:rPr lang="en-US" sz="3225">
                <a:solidFill>
                  <a:srgbClr val="000000"/>
                </a:solidFill>
                <a:latin typeface="Alatsi Bold"/>
              </a:rPr>
              <a:t>Fireboy and Watergirl 6: Fairy Tales.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9431"/>
            <a:ext cx="16230600" cy="119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Alatsi Bold"/>
              </a:rPr>
              <a:t>GRAVITY GUY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90722" y="3102810"/>
            <a:ext cx="7362681" cy="4421131"/>
            <a:chOff x="0" y="0"/>
            <a:chExt cx="1939142" cy="1164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9142" cy="1164413"/>
            </a:xfrm>
            <a:custGeom>
              <a:avLst/>
              <a:gdLst/>
              <a:ahLst/>
              <a:cxnLst/>
              <a:rect l="l" t="t" r="r" b="b"/>
              <a:pathLst>
                <a:path w="1939142" h="1164413">
                  <a:moveTo>
                    <a:pt x="53627" y="0"/>
                  </a:moveTo>
                  <a:lnTo>
                    <a:pt x="1885515" y="0"/>
                  </a:lnTo>
                  <a:cubicBezTo>
                    <a:pt x="1915133" y="0"/>
                    <a:pt x="1939142" y="24010"/>
                    <a:pt x="1939142" y="53627"/>
                  </a:cubicBezTo>
                  <a:lnTo>
                    <a:pt x="1939142" y="1110786"/>
                  </a:lnTo>
                  <a:cubicBezTo>
                    <a:pt x="1939142" y="1140403"/>
                    <a:pt x="1915133" y="1164413"/>
                    <a:pt x="1885515" y="1164413"/>
                  </a:cubicBezTo>
                  <a:lnTo>
                    <a:pt x="53627" y="1164413"/>
                  </a:lnTo>
                  <a:cubicBezTo>
                    <a:pt x="39404" y="1164413"/>
                    <a:pt x="25764" y="1158763"/>
                    <a:pt x="15707" y="1148706"/>
                  </a:cubicBezTo>
                  <a:cubicBezTo>
                    <a:pt x="5650" y="1138649"/>
                    <a:pt x="0" y="1125009"/>
                    <a:pt x="0" y="1110786"/>
                  </a:cubicBezTo>
                  <a:lnTo>
                    <a:pt x="0" y="53627"/>
                  </a:lnTo>
                  <a:cubicBezTo>
                    <a:pt x="0" y="39404"/>
                    <a:pt x="5650" y="25764"/>
                    <a:pt x="15707" y="15707"/>
                  </a:cubicBezTo>
                  <a:cubicBezTo>
                    <a:pt x="25764" y="5650"/>
                    <a:pt x="39404" y="0"/>
                    <a:pt x="53627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39142" cy="1202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508477" y="4190066"/>
            <a:ext cx="5499127" cy="270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Player Name: Varshini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Avatar: Gravity-defying hero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Preferred Genre: Endless Runner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Experience Level: Advanced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79902" y="3496012"/>
            <a:ext cx="387823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 Bold"/>
              </a:rPr>
              <a:t>Profile</a:t>
            </a:r>
          </a:p>
        </p:txBody>
      </p:sp>
      <p:sp>
        <p:nvSpPr>
          <p:cNvPr id="9" name="Freeform 9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534597" y="3102810"/>
            <a:ext cx="7540491" cy="5418592"/>
            <a:chOff x="0" y="0"/>
            <a:chExt cx="1985973" cy="14271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5973" cy="1427119"/>
            </a:xfrm>
            <a:custGeom>
              <a:avLst/>
              <a:gdLst/>
              <a:ahLst/>
              <a:cxnLst/>
              <a:rect l="l" t="t" r="r" b="b"/>
              <a:pathLst>
                <a:path w="1985973" h="1427119">
                  <a:moveTo>
                    <a:pt x="52362" y="0"/>
                  </a:moveTo>
                  <a:lnTo>
                    <a:pt x="1933610" y="0"/>
                  </a:lnTo>
                  <a:cubicBezTo>
                    <a:pt x="1947498" y="0"/>
                    <a:pt x="1960816" y="5517"/>
                    <a:pt x="1970636" y="15337"/>
                  </a:cubicBezTo>
                  <a:cubicBezTo>
                    <a:pt x="1980456" y="25156"/>
                    <a:pt x="1985973" y="38475"/>
                    <a:pt x="1985973" y="52362"/>
                  </a:cubicBezTo>
                  <a:lnTo>
                    <a:pt x="1985973" y="1374756"/>
                  </a:lnTo>
                  <a:cubicBezTo>
                    <a:pt x="1985973" y="1403675"/>
                    <a:pt x="1962529" y="1427119"/>
                    <a:pt x="1933610" y="1427119"/>
                  </a:cubicBezTo>
                  <a:lnTo>
                    <a:pt x="52362" y="1427119"/>
                  </a:lnTo>
                  <a:cubicBezTo>
                    <a:pt x="38475" y="1427119"/>
                    <a:pt x="25156" y="1421602"/>
                    <a:pt x="15337" y="1411782"/>
                  </a:cubicBezTo>
                  <a:cubicBezTo>
                    <a:pt x="5517" y="1401962"/>
                    <a:pt x="0" y="1388644"/>
                    <a:pt x="0" y="1374756"/>
                  </a:cubicBezTo>
                  <a:lnTo>
                    <a:pt x="0" y="52362"/>
                  </a:lnTo>
                  <a:cubicBezTo>
                    <a:pt x="0" y="23443"/>
                    <a:pt x="23443" y="0"/>
                    <a:pt x="52362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85973" cy="1465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67924" y="4190066"/>
            <a:ext cx="5691347" cy="378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Competition: Thrives on beating high scores.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Achievement: Enjoys setting new records.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Reflex Challenge: Loves fast-paced action requiring quick reflexes.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39349" y="3496012"/>
            <a:ext cx="387823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 Bold"/>
              </a:rPr>
              <a:t>Motivation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739665" y="3615357"/>
            <a:ext cx="516960" cy="51696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44736" y="3615357"/>
            <a:ext cx="516960" cy="51696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4" name="Group 2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8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928728" y="1814519"/>
            <a:ext cx="1443054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Chosen for its fast-paced, reflex-intensive gameplay and unique gravity mechanics.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9431"/>
            <a:ext cx="16230600" cy="119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Alatsi Bold"/>
              </a:rPr>
              <a:t>GRAVITY GUY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4" name="Freeform 4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887415" y="3102810"/>
            <a:ext cx="6451458" cy="5134487"/>
            <a:chOff x="0" y="0"/>
            <a:chExt cx="1699149" cy="13522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9149" cy="1352293"/>
            </a:xfrm>
            <a:custGeom>
              <a:avLst/>
              <a:gdLst/>
              <a:ahLst/>
              <a:cxnLst/>
              <a:rect l="l" t="t" r="r" b="b"/>
              <a:pathLst>
                <a:path w="1699149" h="1352293">
                  <a:moveTo>
                    <a:pt x="61201" y="0"/>
                  </a:moveTo>
                  <a:lnTo>
                    <a:pt x="1637948" y="0"/>
                  </a:lnTo>
                  <a:cubicBezTo>
                    <a:pt x="1671749" y="0"/>
                    <a:pt x="1699149" y="27401"/>
                    <a:pt x="1699149" y="61201"/>
                  </a:cubicBezTo>
                  <a:lnTo>
                    <a:pt x="1699149" y="1291091"/>
                  </a:lnTo>
                  <a:cubicBezTo>
                    <a:pt x="1699149" y="1324892"/>
                    <a:pt x="1671749" y="1352293"/>
                    <a:pt x="1637948" y="1352293"/>
                  </a:cubicBezTo>
                  <a:lnTo>
                    <a:pt x="61201" y="1352293"/>
                  </a:lnTo>
                  <a:cubicBezTo>
                    <a:pt x="27401" y="1352293"/>
                    <a:pt x="0" y="1324892"/>
                    <a:pt x="0" y="1291091"/>
                  </a:cubicBezTo>
                  <a:lnTo>
                    <a:pt x="0" y="61201"/>
                  </a:lnTo>
                  <a:cubicBezTo>
                    <a:pt x="0" y="27401"/>
                    <a:pt x="27401" y="0"/>
                    <a:pt x="61201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99149" cy="1390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96430" y="3561720"/>
            <a:ext cx="516960" cy="51696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4" name="Group 1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9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438473" y="2693082"/>
            <a:ext cx="7820827" cy="5750608"/>
          </a:xfrm>
          <a:custGeom>
            <a:avLst/>
            <a:gdLst/>
            <a:ahLst/>
            <a:cxnLst/>
            <a:rect l="l" t="t" r="r" b="b"/>
            <a:pathLst>
              <a:path w="7820827" h="5750608">
                <a:moveTo>
                  <a:pt x="0" y="0"/>
                </a:moveTo>
                <a:lnTo>
                  <a:pt x="7820827" y="0"/>
                </a:lnTo>
                <a:lnTo>
                  <a:pt x="782082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554910" y="5076825"/>
            <a:ext cx="5499127" cy="270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Play-styles: Aggressive, Fast-paced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latsi Bold"/>
              </a:rPr>
              <a:t>Performance Metrics: High score, survival time, reflex accuracy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81429" y="3348430"/>
            <a:ext cx="3878232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 Bold"/>
              </a:rPr>
              <a:t>Gameplay and Performance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28728" y="1814519"/>
            <a:ext cx="1443054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Chosen for its unique cooperative gameplay that emphasizes teamwork and problem-solving.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9431"/>
            <a:ext cx="16230600" cy="119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Alatsi Bold"/>
              </a:rPr>
              <a:t>GRAVITY GUY</a:t>
            </a:r>
            <a:endParaRPr lang="en-US" sz="7000" dirty="0">
              <a:solidFill>
                <a:srgbClr val="000000"/>
              </a:solidFill>
              <a:latin typeface="Alatsi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4" name="Freeform 4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28728" y="3102810"/>
            <a:ext cx="6369296" cy="4278256"/>
            <a:chOff x="0" y="0"/>
            <a:chExt cx="8492394" cy="570434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8492394" cy="5704341"/>
              <a:chOff x="0" y="0"/>
              <a:chExt cx="1677510" cy="112678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77510" cy="1126783"/>
              </a:xfrm>
              <a:custGeom>
                <a:avLst/>
                <a:gdLst/>
                <a:ahLst/>
                <a:cxnLst/>
                <a:rect l="l" t="t" r="r" b="b"/>
                <a:pathLst>
                  <a:path w="1677510" h="1126783">
                    <a:moveTo>
                      <a:pt x="61991" y="0"/>
                    </a:moveTo>
                    <a:lnTo>
                      <a:pt x="1615519" y="0"/>
                    </a:lnTo>
                    <a:cubicBezTo>
                      <a:pt x="1649756" y="0"/>
                      <a:pt x="1677510" y="27754"/>
                      <a:pt x="1677510" y="61991"/>
                    </a:cubicBezTo>
                    <a:lnTo>
                      <a:pt x="1677510" y="1064793"/>
                    </a:lnTo>
                    <a:cubicBezTo>
                      <a:pt x="1677510" y="1081234"/>
                      <a:pt x="1670979" y="1097001"/>
                      <a:pt x="1659353" y="1108627"/>
                    </a:cubicBezTo>
                    <a:cubicBezTo>
                      <a:pt x="1647728" y="1120252"/>
                      <a:pt x="1631960" y="1126783"/>
                      <a:pt x="1615519" y="1126783"/>
                    </a:cubicBezTo>
                    <a:lnTo>
                      <a:pt x="61991" y="1126783"/>
                    </a:lnTo>
                    <a:cubicBezTo>
                      <a:pt x="45550" y="1126783"/>
                      <a:pt x="29782" y="1120252"/>
                      <a:pt x="18157" y="1108627"/>
                    </a:cubicBezTo>
                    <a:cubicBezTo>
                      <a:pt x="6531" y="1097001"/>
                      <a:pt x="0" y="1081234"/>
                      <a:pt x="0" y="1064793"/>
                    </a:cubicBezTo>
                    <a:lnTo>
                      <a:pt x="0" y="61991"/>
                    </a:lnTo>
                    <a:cubicBezTo>
                      <a:pt x="0" y="45550"/>
                      <a:pt x="6531" y="29782"/>
                      <a:pt x="18157" y="18157"/>
                    </a:cubicBezTo>
                    <a:cubicBezTo>
                      <a:pt x="29782" y="6531"/>
                      <a:pt x="45550" y="0"/>
                      <a:pt x="61991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677510" cy="11648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85688" y="1390454"/>
              <a:ext cx="7332169" cy="3581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Participates in online leaderboards and challenges.</a:t>
              </a:r>
            </a:p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Follows competitive streaming platforms.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58686" y="352894"/>
              <a:ext cx="5170976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latsi Bold"/>
                </a:rPr>
                <a:t>Community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41048" y="429094"/>
              <a:ext cx="689280" cy="68928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AutoShape 14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7" name="Group 1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10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910268" y="3102810"/>
            <a:ext cx="3449004" cy="2759203"/>
          </a:xfrm>
          <a:custGeom>
            <a:avLst/>
            <a:gdLst/>
            <a:ahLst/>
            <a:cxnLst/>
            <a:rect l="l" t="t" r="r" b="b"/>
            <a:pathLst>
              <a:path w="3449004" h="2759203">
                <a:moveTo>
                  <a:pt x="0" y="0"/>
                </a:moveTo>
                <a:lnTo>
                  <a:pt x="3449004" y="0"/>
                </a:lnTo>
                <a:lnTo>
                  <a:pt x="3449004" y="2759203"/>
                </a:lnTo>
                <a:lnTo>
                  <a:pt x="0" y="2759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057143" y="5241937"/>
            <a:ext cx="3527911" cy="2818783"/>
          </a:xfrm>
          <a:custGeom>
            <a:avLst/>
            <a:gdLst/>
            <a:ahLst/>
            <a:cxnLst/>
            <a:rect l="l" t="t" r="r" b="b"/>
            <a:pathLst>
              <a:path w="3527911" h="2818783">
                <a:moveTo>
                  <a:pt x="0" y="0"/>
                </a:moveTo>
                <a:lnTo>
                  <a:pt x="3527911" y="0"/>
                </a:lnTo>
                <a:lnTo>
                  <a:pt x="3527911" y="2818784"/>
                </a:lnTo>
                <a:lnTo>
                  <a:pt x="0" y="2818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928728" y="1814519"/>
            <a:ext cx="1443054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Chosen for its unique cooperative gameplay that emphasizes teamwork and problem-solving.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9431"/>
            <a:ext cx="16230600" cy="119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Alatsi Bold"/>
              </a:rPr>
              <a:t>GRAVITY GUY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4" name="Freeform 4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11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446488" y="3102810"/>
            <a:ext cx="5941999" cy="3946297"/>
            <a:chOff x="0" y="0"/>
            <a:chExt cx="7922666" cy="526173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922666" cy="5261730"/>
              <a:chOff x="0" y="0"/>
              <a:chExt cx="1564971" cy="103935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564971" cy="1039354"/>
              </a:xfrm>
              <a:custGeom>
                <a:avLst/>
                <a:gdLst/>
                <a:ahLst/>
                <a:cxnLst/>
                <a:rect l="l" t="t" r="r" b="b"/>
                <a:pathLst>
                  <a:path w="1564971" h="1039354">
                    <a:moveTo>
                      <a:pt x="66449" y="0"/>
                    </a:moveTo>
                    <a:lnTo>
                      <a:pt x="1498522" y="0"/>
                    </a:lnTo>
                    <a:cubicBezTo>
                      <a:pt x="1516146" y="0"/>
                      <a:pt x="1533047" y="7001"/>
                      <a:pt x="1545509" y="19462"/>
                    </a:cubicBezTo>
                    <a:cubicBezTo>
                      <a:pt x="1557970" y="31924"/>
                      <a:pt x="1564971" y="48825"/>
                      <a:pt x="1564971" y="66449"/>
                    </a:cubicBezTo>
                    <a:lnTo>
                      <a:pt x="1564971" y="972905"/>
                    </a:lnTo>
                    <a:cubicBezTo>
                      <a:pt x="1564971" y="1009604"/>
                      <a:pt x="1535221" y="1039354"/>
                      <a:pt x="1498522" y="1039354"/>
                    </a:cubicBezTo>
                    <a:lnTo>
                      <a:pt x="66449" y="1039354"/>
                    </a:lnTo>
                    <a:cubicBezTo>
                      <a:pt x="48825" y="1039354"/>
                      <a:pt x="31924" y="1032353"/>
                      <a:pt x="19462" y="1019892"/>
                    </a:cubicBezTo>
                    <a:cubicBezTo>
                      <a:pt x="7001" y="1007430"/>
                      <a:pt x="0" y="990529"/>
                      <a:pt x="0" y="972905"/>
                    </a:cubicBezTo>
                    <a:lnTo>
                      <a:pt x="0" y="66449"/>
                    </a:lnTo>
                    <a:cubicBezTo>
                      <a:pt x="0" y="48825"/>
                      <a:pt x="7001" y="31924"/>
                      <a:pt x="19462" y="19462"/>
                    </a:cubicBezTo>
                    <a:cubicBezTo>
                      <a:pt x="31924" y="7001"/>
                      <a:pt x="48825" y="0"/>
                      <a:pt x="66449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564971" cy="1077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34203" y="1578671"/>
              <a:ext cx="7588463" cy="28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High-refresh-rate monitor for smooth gameplay.</a:t>
              </a:r>
            </a:p>
            <a:p>
              <a:pPr marL="669289" lvl="1" indent="-334645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Alatsi Bold"/>
                </a:rPr>
                <a:t>Engages with competitive gaming forums for tips.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60354" y="302887"/>
              <a:ext cx="5170976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latsi Bold"/>
                </a:rPr>
                <a:t>Resources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334203" y="436614"/>
              <a:ext cx="689280" cy="689280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2306464" y="3102810"/>
            <a:ext cx="6191925" cy="4953540"/>
          </a:xfrm>
          <a:custGeom>
            <a:avLst/>
            <a:gdLst/>
            <a:ahLst/>
            <a:cxnLst/>
            <a:rect l="l" t="t" r="r" b="b"/>
            <a:pathLst>
              <a:path w="6191925" h="4953540">
                <a:moveTo>
                  <a:pt x="0" y="0"/>
                </a:moveTo>
                <a:lnTo>
                  <a:pt x="6191926" y="0"/>
                </a:lnTo>
                <a:lnTo>
                  <a:pt x="6191926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928728" y="1814519"/>
            <a:ext cx="1443054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Chosen for its unique cooperative gameplay that emphasizes teamwork and problem-solving.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18390" y="251471"/>
            <a:ext cx="1045121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 Bold"/>
              </a:rPr>
              <a:t>RECOMMENDATIONS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673194" y="2364321"/>
            <a:ext cx="6651535" cy="3435170"/>
            <a:chOff x="0" y="0"/>
            <a:chExt cx="8868713" cy="458022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8868713" cy="4580226"/>
              <a:chOff x="0" y="0"/>
              <a:chExt cx="1751844" cy="90473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751844" cy="904736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904736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845376"/>
                    </a:lnTo>
                    <a:cubicBezTo>
                      <a:pt x="1751844" y="861119"/>
                      <a:pt x="1745590" y="876218"/>
                      <a:pt x="1734458" y="887350"/>
                    </a:cubicBezTo>
                    <a:cubicBezTo>
                      <a:pt x="1723326" y="898482"/>
                      <a:pt x="1708227" y="904736"/>
                      <a:pt x="1692484" y="904736"/>
                    </a:cubicBezTo>
                    <a:lnTo>
                      <a:pt x="59360" y="904736"/>
                    </a:lnTo>
                    <a:cubicBezTo>
                      <a:pt x="26577" y="904736"/>
                      <a:pt x="0" y="878159"/>
                      <a:pt x="0" y="845376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751844" cy="9428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95604" y="133350"/>
              <a:ext cx="7735510" cy="40738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5073" lvl="1" indent="-312536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000000"/>
                  </a:solidFill>
                  <a:latin typeface="Alatsi Bold"/>
                </a:rPr>
                <a:t>Limited analytics for cooperative gameplay.</a:t>
              </a:r>
            </a:p>
            <a:p>
              <a:pPr marL="625073" lvl="1" indent="-312536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000000"/>
                  </a:solidFill>
                  <a:latin typeface="Alatsi Bold"/>
                </a:rPr>
                <a:t>Lack of community engagement features.</a:t>
              </a:r>
            </a:p>
            <a:p>
              <a:pPr marL="625073" lvl="1" indent="-312536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000000"/>
                  </a:solidFill>
                  <a:latin typeface="Alatsi Bold"/>
                </a:rPr>
                <a:t>Insufficient personalized performance insights.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550637" y="1734900"/>
            <a:ext cx="6308519" cy="62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sz="3719">
                <a:solidFill>
                  <a:srgbClr val="000000"/>
                </a:solidFill>
                <a:latin typeface="Alatsi Bold"/>
              </a:rPr>
              <a:t>Gaps in the Current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52253" y="2883406"/>
            <a:ext cx="6691747" cy="389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2"/>
              </a:lnSpc>
            </a:pPr>
            <a:r>
              <a:rPr lang="en-US" sz="3709">
                <a:solidFill>
                  <a:srgbClr val="000000"/>
                </a:solidFill>
                <a:latin typeface="Alatsi Bold"/>
              </a:rPr>
              <a:t>Mobalytics should consider expanding their services to these games because of the diverse player motivations and the potential for personalized insights.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95751" y="6337377"/>
            <a:ext cx="6651535" cy="3949520"/>
            <a:chOff x="0" y="0"/>
            <a:chExt cx="8868713" cy="526602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868713" cy="5266026"/>
              <a:chOff x="0" y="0"/>
              <a:chExt cx="1751844" cy="104020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51844" cy="1040203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1040203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980842"/>
                    </a:lnTo>
                    <a:cubicBezTo>
                      <a:pt x="1751844" y="1013626"/>
                      <a:pt x="1725268" y="1040203"/>
                      <a:pt x="1692484" y="1040203"/>
                    </a:cubicBezTo>
                    <a:lnTo>
                      <a:pt x="59360" y="1040203"/>
                    </a:lnTo>
                    <a:cubicBezTo>
                      <a:pt x="26577" y="1040203"/>
                      <a:pt x="0" y="1013626"/>
                      <a:pt x="0" y="980842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751844" cy="1078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95604" y="133350"/>
              <a:ext cx="7735510" cy="4759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5073" lvl="1" indent="-312536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000000"/>
                  </a:solidFill>
                  <a:latin typeface="Alatsi Bold"/>
                </a:rPr>
                <a:t>Develop advanced analytics tools for cooperative games.</a:t>
              </a:r>
            </a:p>
            <a:p>
              <a:pPr marL="625073" lvl="1" indent="-312536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000000"/>
                  </a:solidFill>
                  <a:latin typeface="Alatsi Bold"/>
                </a:rPr>
                <a:t>Create robust community features to foster engagement.</a:t>
              </a:r>
            </a:p>
            <a:p>
              <a:pPr marL="625073" lvl="1" indent="-312536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000000"/>
                  </a:solidFill>
                  <a:latin typeface="Alatsi Bold"/>
                </a:rPr>
                <a:t>Offer tailored performance feedback based on individual and team metrics.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 rot="-5400000">
            <a:off x="-2373736" y="4911090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73194" y="5648394"/>
            <a:ext cx="5276728" cy="62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sz="3719">
                <a:solidFill>
                  <a:srgbClr val="000000"/>
                </a:solidFill>
                <a:latin typeface="Alatsi Bold"/>
              </a:rPr>
              <a:t>Oppurtunities</a:t>
            </a:r>
          </a:p>
        </p:txBody>
      </p:sp>
      <p:sp>
        <p:nvSpPr>
          <p:cNvPr id="17" name="AutoShape 17"/>
          <p:cNvSpPr/>
          <p:nvPr/>
        </p:nvSpPr>
        <p:spPr>
          <a:xfrm flipH="1" flipV="1">
            <a:off x="1090490" y="-104525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H="1" flipV="1">
            <a:off x="1085850" y="7289441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0" name="Group 20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12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92058" y="904810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16230600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 Bold"/>
              </a:rPr>
              <a:t>CONLUDING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04735" y="3085639"/>
            <a:ext cx="15516465" cy="1105361"/>
            <a:chOff x="0" y="0"/>
            <a:chExt cx="20688620" cy="147381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30580"/>
              <a:ext cx="1473815" cy="1117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>
                  <a:solidFill>
                    <a:srgbClr val="000000"/>
                  </a:solidFill>
                  <a:latin typeface="Alatsi Bold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11697" y="-63120"/>
              <a:ext cx="18976923" cy="1416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087">
                  <a:solidFill>
                    <a:srgbClr val="000000"/>
                  </a:solidFill>
                  <a:latin typeface="Alatsi Bold"/>
                </a:rPr>
                <a:t>Context: Research highlights the need for diversified player support to attract a broader player base.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42835" y="4451259"/>
            <a:ext cx="15516465" cy="1105361"/>
            <a:chOff x="0" y="0"/>
            <a:chExt cx="20688620" cy="147381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130580"/>
              <a:ext cx="1473815" cy="1117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>
                  <a:solidFill>
                    <a:srgbClr val="000000"/>
                  </a:solidFill>
                  <a:latin typeface="Alatsi Bold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1697" y="-64898"/>
              <a:ext cx="18976923" cy="1416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087">
                  <a:solidFill>
                    <a:srgbClr val="000000"/>
                  </a:solidFill>
                  <a:latin typeface="Alatsi Bold"/>
                </a:rPr>
                <a:t>Insight: Focusing on player psychology and common requests can significantly enhance player satisfaction.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42835" y="5813795"/>
            <a:ext cx="15516465" cy="1105361"/>
            <a:chOff x="0" y="0"/>
            <a:chExt cx="20688620" cy="1473815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130580"/>
              <a:ext cx="1473815" cy="1117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>
                  <a:solidFill>
                    <a:srgbClr val="000000"/>
                  </a:solidFill>
                  <a:latin typeface="Alatsi Bold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1697" y="-66675"/>
              <a:ext cx="18976923" cy="1416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087">
                  <a:solidFill>
                    <a:srgbClr val="000000"/>
                  </a:solidFill>
                  <a:latin typeface="Alatsi Bold"/>
                </a:rPr>
                <a:t>Next Steps: Further research into player needs, development of new tools, and implementation of community features.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 rot="-5400000">
            <a:off x="-2373736" y="4911090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sp>
        <p:nvSpPr>
          <p:cNvPr id="25" name="AutoShape 25"/>
          <p:cNvSpPr/>
          <p:nvPr/>
        </p:nvSpPr>
        <p:spPr>
          <a:xfrm flipH="1" flipV="1">
            <a:off x="1085850" y="7289441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flipH="1" flipV="1">
            <a:off x="1090490" y="-104525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8" name="Group 2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>
                  <a:solidFill>
                    <a:srgbClr val="000000"/>
                  </a:solidFill>
                  <a:latin typeface="Open Sans Bold"/>
                </a:rPr>
                <a:t>13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969754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64423" y="-164117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1742835" y="7289441"/>
            <a:ext cx="15516465" cy="1557543"/>
            <a:chOff x="0" y="0"/>
            <a:chExt cx="20688620" cy="2076723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473815" cy="1473815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0" y="130580"/>
              <a:ext cx="1473815" cy="1117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48"/>
                </a:lnSpc>
              </a:pPr>
              <a:r>
                <a:rPr lang="en-US" sz="5034">
                  <a:solidFill>
                    <a:srgbClr val="000000"/>
                  </a:solidFill>
                  <a:latin typeface="Alatsi Bold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11697" y="-66675"/>
              <a:ext cx="18976923" cy="2143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087">
                  <a:solidFill>
                    <a:srgbClr val="000000"/>
                  </a:solidFill>
                  <a:latin typeface="Alatsi Bold"/>
                </a:rPr>
                <a:t>Most Important Takeaway: Mobalytics has a significant opportunity to expand its services and improve player experiences by addressing current system gaps and focusing on player motivations.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33857" y="6762653"/>
            <a:ext cx="10669737" cy="70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3"/>
              </a:lnSpc>
            </a:pPr>
            <a:r>
              <a:rPr lang="en-US" sz="4116">
                <a:solidFill>
                  <a:srgbClr val="000000"/>
                </a:solidFill>
                <a:latin typeface="Alatsi Bold"/>
              </a:rPr>
              <a:t>Presented By : Adeline Palmerston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27671" y="1846941"/>
            <a:ext cx="6882108" cy="533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 Bold"/>
              </a:rPr>
              <a:t>Mobalytics | Extern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1061</Words>
  <Application>Microsoft Office PowerPoint</Application>
  <PresentationFormat>Custom</PresentationFormat>
  <Paragraphs>140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Alatsi Bold</vt:lpstr>
      <vt:lpstr>Open Sans Bold</vt:lpstr>
      <vt:lpstr>Arial</vt:lpstr>
      <vt:lpstr>Calibri</vt:lpstr>
      <vt:lpstr>Alatsi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Mobalytics Externship Final Presentation</dc:title>
  <cp:lastModifiedBy>Varshini A</cp:lastModifiedBy>
  <cp:revision>3</cp:revision>
  <dcterms:created xsi:type="dcterms:W3CDTF">2006-08-16T00:00:00Z</dcterms:created>
  <dcterms:modified xsi:type="dcterms:W3CDTF">2024-06-11T06:08:17Z</dcterms:modified>
  <dc:identifier>DAGHETOQ32s</dc:identifier>
</cp:coreProperties>
</file>