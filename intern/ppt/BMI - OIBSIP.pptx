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he Seasons Bold" charset="1" panose="00000000000000000000"/>
      <p:regular r:id="rId15"/>
    </p:embeddedFont>
    <p:embeddedFont>
      <p:font typeface="Body Grotesque" charset="1" panose="02000503040000020004"/>
      <p:regular r:id="rId16"/>
    </p:embeddedFont>
    <p:embeddedFont>
      <p:font typeface="Body Grotesque Bold" charset="1" panose="0200050304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6.xml" Type="http://schemas.openxmlformats.org/officeDocument/2006/relationships/slide"/><Relationship Id="rId3" Target="slide7.xml" Type="http://schemas.openxmlformats.org/officeDocument/2006/relationships/slide"/><Relationship Id="rId4" Target="slide8.xml" Type="http://schemas.openxmlformats.org/officeDocument/2006/relationships/slid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30735" y="5143500"/>
            <a:ext cx="4428565" cy="4114800"/>
          </a:xfrm>
          <a:custGeom>
            <a:avLst/>
            <a:gdLst/>
            <a:ahLst/>
            <a:cxnLst/>
            <a:rect r="r" b="b" t="t" l="l"/>
            <a:pathLst>
              <a:path h="4114800" w="4428565">
                <a:moveTo>
                  <a:pt x="0" y="0"/>
                </a:moveTo>
                <a:lnTo>
                  <a:pt x="4428565" y="0"/>
                </a:lnTo>
                <a:lnTo>
                  <a:pt x="44285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64332" y="1716501"/>
            <a:ext cx="12748104" cy="3114561"/>
            <a:chOff x="0" y="0"/>
            <a:chExt cx="16997472" cy="415274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16997472" cy="299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949"/>
                </a:lnSpc>
              </a:pPr>
              <a:r>
                <a:rPr lang="en-US" sz="14499" spc="-362">
                  <a:solidFill>
                    <a:srgbClr val="222222"/>
                  </a:solidFill>
                  <a:latin typeface="The Seasons Bold"/>
                </a:rPr>
                <a:t>BMI Calculator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281671"/>
              <a:ext cx="16997472" cy="871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5597"/>
                </a:lnSpc>
                <a:spcBef>
                  <a:spcPct val="0"/>
                </a:spcBef>
              </a:pPr>
              <a:r>
                <a:rPr lang="en-US" sz="3997">
                  <a:solidFill>
                    <a:srgbClr val="222222"/>
                  </a:solidFill>
                  <a:latin typeface="Body Grotesque"/>
                </a:rPr>
                <a:t>From Command-Line to GUI-Based Applications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64332" y="7585065"/>
            <a:ext cx="3214155" cy="812799"/>
            <a:chOff x="0" y="0"/>
            <a:chExt cx="846526" cy="2140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6526" cy="214071"/>
            </a:xfrm>
            <a:custGeom>
              <a:avLst/>
              <a:gdLst/>
              <a:ahLst/>
              <a:cxnLst/>
              <a:rect r="r" b="b" t="t" l="l"/>
              <a:pathLst>
                <a:path h="214071" w="846526">
                  <a:moveTo>
                    <a:pt x="107035" y="0"/>
                  </a:moveTo>
                  <a:lnTo>
                    <a:pt x="739491" y="0"/>
                  </a:lnTo>
                  <a:cubicBezTo>
                    <a:pt x="767879" y="0"/>
                    <a:pt x="795103" y="11277"/>
                    <a:pt x="815176" y="31350"/>
                  </a:cubicBezTo>
                  <a:cubicBezTo>
                    <a:pt x="835249" y="51423"/>
                    <a:pt x="846526" y="78648"/>
                    <a:pt x="846526" y="107035"/>
                  </a:cubicBezTo>
                  <a:lnTo>
                    <a:pt x="846526" y="107035"/>
                  </a:lnTo>
                  <a:cubicBezTo>
                    <a:pt x="846526" y="135423"/>
                    <a:pt x="835249" y="162648"/>
                    <a:pt x="815176" y="182721"/>
                  </a:cubicBezTo>
                  <a:cubicBezTo>
                    <a:pt x="795103" y="202794"/>
                    <a:pt x="767879" y="214071"/>
                    <a:pt x="739491" y="214071"/>
                  </a:cubicBezTo>
                  <a:lnTo>
                    <a:pt x="107035" y="214071"/>
                  </a:lnTo>
                  <a:cubicBezTo>
                    <a:pt x="78648" y="214071"/>
                    <a:pt x="51423" y="202794"/>
                    <a:pt x="31350" y="182721"/>
                  </a:cubicBezTo>
                  <a:cubicBezTo>
                    <a:pt x="11277" y="162648"/>
                    <a:pt x="0" y="135423"/>
                    <a:pt x="0" y="107035"/>
                  </a:cubicBezTo>
                  <a:lnTo>
                    <a:pt x="0" y="107035"/>
                  </a:lnTo>
                  <a:cubicBezTo>
                    <a:pt x="0" y="78648"/>
                    <a:pt x="11277" y="51423"/>
                    <a:pt x="31350" y="31350"/>
                  </a:cubicBezTo>
                  <a:cubicBezTo>
                    <a:pt x="51423" y="11277"/>
                    <a:pt x="78648" y="0"/>
                    <a:pt x="107035" y="0"/>
                  </a:cubicBezTo>
                  <a:close/>
                </a:path>
              </a:pathLst>
            </a:custGeom>
            <a:solidFill>
              <a:srgbClr val="222222"/>
            </a:solidFill>
            <a:ln w="3810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46526" cy="26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AFAFA"/>
                  </a:solidFill>
                  <a:latin typeface="Body Grotesque"/>
                </a:rPr>
                <a:t>Presented By: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648662" y="7713969"/>
            <a:ext cx="4979443" cy="49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222222"/>
                </a:solidFill>
                <a:latin typeface="Body Grotesque"/>
              </a:rPr>
              <a:t>Varshini 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650" y="6602012"/>
            <a:ext cx="7131382" cy="791965"/>
            <a:chOff x="0" y="0"/>
            <a:chExt cx="1927633" cy="214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7633" cy="214071"/>
            </a:xfrm>
            <a:custGeom>
              <a:avLst/>
              <a:gdLst/>
              <a:ahLst/>
              <a:cxnLst/>
              <a:rect r="r" b="b" t="t" l="l"/>
              <a:pathLst>
                <a:path h="214071" w="1927633">
                  <a:moveTo>
                    <a:pt x="55366" y="0"/>
                  </a:moveTo>
                  <a:lnTo>
                    <a:pt x="1872267" y="0"/>
                  </a:lnTo>
                  <a:cubicBezTo>
                    <a:pt x="1902845" y="0"/>
                    <a:pt x="1927633" y="24788"/>
                    <a:pt x="1927633" y="55366"/>
                  </a:cubicBezTo>
                  <a:lnTo>
                    <a:pt x="1927633" y="158704"/>
                  </a:lnTo>
                  <a:cubicBezTo>
                    <a:pt x="1927633" y="173388"/>
                    <a:pt x="1921800" y="187471"/>
                    <a:pt x="1911416" y="197854"/>
                  </a:cubicBezTo>
                  <a:cubicBezTo>
                    <a:pt x="1901033" y="208237"/>
                    <a:pt x="1886951" y="214071"/>
                    <a:pt x="1872267" y="214071"/>
                  </a:cubicBezTo>
                  <a:lnTo>
                    <a:pt x="55366" y="214071"/>
                  </a:lnTo>
                  <a:cubicBezTo>
                    <a:pt x="24788" y="214071"/>
                    <a:pt x="0" y="189282"/>
                    <a:pt x="0" y="158704"/>
                  </a:cubicBezTo>
                  <a:lnTo>
                    <a:pt x="0" y="55366"/>
                  </a:lnTo>
                  <a:cubicBezTo>
                    <a:pt x="0" y="40682"/>
                    <a:pt x="5833" y="26600"/>
                    <a:pt x="16216" y="16216"/>
                  </a:cubicBezTo>
                  <a:cubicBezTo>
                    <a:pt x="26600" y="5833"/>
                    <a:pt x="40682" y="0"/>
                    <a:pt x="55366" y="0"/>
                  </a:cubicBezTo>
                  <a:close/>
                </a:path>
              </a:pathLst>
            </a:custGeom>
            <a:solidFill>
              <a:srgbClr val="222222"/>
            </a:solidFill>
            <a:ln w="3810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27633" cy="26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AFAFA"/>
                  </a:solidFill>
                  <a:latin typeface="Body Grotesque"/>
                </a:rPr>
                <a:t>Easy Version Technologies Used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51968" y="3944083"/>
            <a:ext cx="7131382" cy="791965"/>
            <a:chOff x="0" y="0"/>
            <a:chExt cx="1927633" cy="214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7633" cy="214071"/>
            </a:xfrm>
            <a:custGeom>
              <a:avLst/>
              <a:gdLst/>
              <a:ahLst/>
              <a:cxnLst/>
              <a:rect r="r" b="b" t="t" l="l"/>
              <a:pathLst>
                <a:path h="214071" w="1927633">
                  <a:moveTo>
                    <a:pt x="55366" y="0"/>
                  </a:moveTo>
                  <a:lnTo>
                    <a:pt x="1872267" y="0"/>
                  </a:lnTo>
                  <a:cubicBezTo>
                    <a:pt x="1902845" y="0"/>
                    <a:pt x="1927633" y="24788"/>
                    <a:pt x="1927633" y="55366"/>
                  </a:cubicBezTo>
                  <a:lnTo>
                    <a:pt x="1927633" y="158704"/>
                  </a:lnTo>
                  <a:cubicBezTo>
                    <a:pt x="1927633" y="173388"/>
                    <a:pt x="1921800" y="187471"/>
                    <a:pt x="1911416" y="197854"/>
                  </a:cubicBezTo>
                  <a:cubicBezTo>
                    <a:pt x="1901033" y="208237"/>
                    <a:pt x="1886951" y="214071"/>
                    <a:pt x="1872267" y="214071"/>
                  </a:cubicBezTo>
                  <a:lnTo>
                    <a:pt x="55366" y="214071"/>
                  </a:lnTo>
                  <a:cubicBezTo>
                    <a:pt x="24788" y="214071"/>
                    <a:pt x="0" y="189282"/>
                    <a:pt x="0" y="158704"/>
                  </a:cubicBezTo>
                  <a:lnTo>
                    <a:pt x="0" y="55366"/>
                  </a:lnTo>
                  <a:cubicBezTo>
                    <a:pt x="0" y="40682"/>
                    <a:pt x="5833" y="26600"/>
                    <a:pt x="16216" y="16216"/>
                  </a:cubicBezTo>
                  <a:cubicBezTo>
                    <a:pt x="26600" y="5833"/>
                    <a:pt x="40682" y="0"/>
                    <a:pt x="55366" y="0"/>
                  </a:cubicBezTo>
                  <a:close/>
                </a:path>
              </a:pathLst>
            </a:custGeom>
            <a:solidFill>
              <a:srgbClr val="222222"/>
            </a:solidFill>
            <a:ln w="3810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27633" cy="26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AFAFA"/>
                  </a:solidFill>
                  <a:latin typeface="Body Grotesque"/>
                </a:rPr>
                <a:t>Easy Version Implementation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51968" y="5273189"/>
            <a:ext cx="7131382" cy="791965"/>
            <a:chOff x="0" y="0"/>
            <a:chExt cx="1927633" cy="2140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7633" cy="214071"/>
            </a:xfrm>
            <a:custGeom>
              <a:avLst/>
              <a:gdLst/>
              <a:ahLst/>
              <a:cxnLst/>
              <a:rect r="r" b="b" t="t" l="l"/>
              <a:pathLst>
                <a:path h="214071" w="1927633">
                  <a:moveTo>
                    <a:pt x="55366" y="0"/>
                  </a:moveTo>
                  <a:lnTo>
                    <a:pt x="1872267" y="0"/>
                  </a:lnTo>
                  <a:cubicBezTo>
                    <a:pt x="1902845" y="0"/>
                    <a:pt x="1927633" y="24788"/>
                    <a:pt x="1927633" y="55366"/>
                  </a:cubicBezTo>
                  <a:lnTo>
                    <a:pt x="1927633" y="158704"/>
                  </a:lnTo>
                  <a:cubicBezTo>
                    <a:pt x="1927633" y="173388"/>
                    <a:pt x="1921800" y="187471"/>
                    <a:pt x="1911416" y="197854"/>
                  </a:cubicBezTo>
                  <a:cubicBezTo>
                    <a:pt x="1901033" y="208237"/>
                    <a:pt x="1886951" y="214071"/>
                    <a:pt x="1872267" y="214071"/>
                  </a:cubicBezTo>
                  <a:lnTo>
                    <a:pt x="55366" y="214071"/>
                  </a:lnTo>
                  <a:cubicBezTo>
                    <a:pt x="24788" y="214071"/>
                    <a:pt x="0" y="189282"/>
                    <a:pt x="0" y="158704"/>
                  </a:cubicBezTo>
                  <a:lnTo>
                    <a:pt x="0" y="55366"/>
                  </a:lnTo>
                  <a:cubicBezTo>
                    <a:pt x="0" y="40682"/>
                    <a:pt x="5833" y="26600"/>
                    <a:pt x="16216" y="16216"/>
                  </a:cubicBezTo>
                  <a:cubicBezTo>
                    <a:pt x="26600" y="5833"/>
                    <a:pt x="40682" y="0"/>
                    <a:pt x="55366" y="0"/>
                  </a:cubicBezTo>
                  <a:close/>
                </a:path>
              </a:pathLst>
            </a:custGeom>
            <a:solidFill>
              <a:srgbClr val="FAFAFA"/>
            </a:solidFill>
            <a:ln w="3810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27633" cy="26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779"/>
                </a:lnSpc>
                <a:spcBef>
                  <a:spcPct val="0"/>
                </a:spcBef>
              </a:pPr>
              <a:r>
                <a:rPr lang="en-US" sz="2700" u="sng">
                  <a:solidFill>
                    <a:srgbClr val="222222"/>
                  </a:solidFill>
                  <a:latin typeface="Body Grotesque"/>
                  <a:hlinkClick r:id="rId2" action="ppaction://hlinksldjump"/>
                </a:rPr>
                <a:t>Methodology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51968" y="6602295"/>
            <a:ext cx="7131382" cy="791965"/>
            <a:chOff x="0" y="0"/>
            <a:chExt cx="1927633" cy="214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7633" cy="214071"/>
            </a:xfrm>
            <a:custGeom>
              <a:avLst/>
              <a:gdLst/>
              <a:ahLst/>
              <a:cxnLst/>
              <a:rect r="r" b="b" t="t" l="l"/>
              <a:pathLst>
                <a:path h="214071" w="1927633">
                  <a:moveTo>
                    <a:pt x="55366" y="0"/>
                  </a:moveTo>
                  <a:lnTo>
                    <a:pt x="1872267" y="0"/>
                  </a:lnTo>
                  <a:cubicBezTo>
                    <a:pt x="1902845" y="0"/>
                    <a:pt x="1927633" y="24788"/>
                    <a:pt x="1927633" y="55366"/>
                  </a:cubicBezTo>
                  <a:lnTo>
                    <a:pt x="1927633" y="158704"/>
                  </a:lnTo>
                  <a:cubicBezTo>
                    <a:pt x="1927633" y="173388"/>
                    <a:pt x="1921800" y="187471"/>
                    <a:pt x="1911416" y="197854"/>
                  </a:cubicBezTo>
                  <a:cubicBezTo>
                    <a:pt x="1901033" y="208237"/>
                    <a:pt x="1886951" y="214071"/>
                    <a:pt x="1872267" y="214071"/>
                  </a:cubicBezTo>
                  <a:lnTo>
                    <a:pt x="55366" y="214071"/>
                  </a:lnTo>
                  <a:cubicBezTo>
                    <a:pt x="24788" y="214071"/>
                    <a:pt x="0" y="189282"/>
                    <a:pt x="0" y="158704"/>
                  </a:cubicBezTo>
                  <a:lnTo>
                    <a:pt x="0" y="55366"/>
                  </a:lnTo>
                  <a:cubicBezTo>
                    <a:pt x="0" y="40682"/>
                    <a:pt x="5833" y="26600"/>
                    <a:pt x="16216" y="16216"/>
                  </a:cubicBezTo>
                  <a:cubicBezTo>
                    <a:pt x="26600" y="5833"/>
                    <a:pt x="40682" y="0"/>
                    <a:pt x="55366" y="0"/>
                  </a:cubicBezTo>
                  <a:close/>
                </a:path>
              </a:pathLst>
            </a:custGeom>
            <a:solidFill>
              <a:srgbClr val="222222"/>
            </a:solidFill>
            <a:ln w="3810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927633" cy="26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779"/>
                </a:lnSpc>
                <a:spcBef>
                  <a:spcPct val="0"/>
                </a:spcBef>
              </a:pPr>
              <a:r>
                <a:rPr lang="en-US" sz="2700" u="sng">
                  <a:solidFill>
                    <a:srgbClr val="FAFAFA"/>
                  </a:solidFill>
                  <a:latin typeface="Body Grotesque"/>
                  <a:hlinkClick r:id="rId3" action="ppaction://hlinksldjump"/>
                </a:rPr>
                <a:t>Results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04650" y="3943235"/>
            <a:ext cx="7131382" cy="791965"/>
            <a:chOff x="0" y="0"/>
            <a:chExt cx="1927633" cy="2140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27633" cy="214071"/>
            </a:xfrm>
            <a:custGeom>
              <a:avLst/>
              <a:gdLst/>
              <a:ahLst/>
              <a:cxnLst/>
              <a:rect r="r" b="b" t="t" l="l"/>
              <a:pathLst>
                <a:path h="214071" w="1927633">
                  <a:moveTo>
                    <a:pt x="55366" y="0"/>
                  </a:moveTo>
                  <a:lnTo>
                    <a:pt x="1872267" y="0"/>
                  </a:lnTo>
                  <a:cubicBezTo>
                    <a:pt x="1902845" y="0"/>
                    <a:pt x="1927633" y="24788"/>
                    <a:pt x="1927633" y="55366"/>
                  </a:cubicBezTo>
                  <a:lnTo>
                    <a:pt x="1927633" y="158704"/>
                  </a:lnTo>
                  <a:cubicBezTo>
                    <a:pt x="1927633" y="173388"/>
                    <a:pt x="1921800" y="187471"/>
                    <a:pt x="1911416" y="197854"/>
                  </a:cubicBezTo>
                  <a:cubicBezTo>
                    <a:pt x="1901033" y="208237"/>
                    <a:pt x="1886951" y="214071"/>
                    <a:pt x="1872267" y="214071"/>
                  </a:cubicBezTo>
                  <a:lnTo>
                    <a:pt x="55366" y="214071"/>
                  </a:lnTo>
                  <a:cubicBezTo>
                    <a:pt x="24788" y="214071"/>
                    <a:pt x="0" y="189282"/>
                    <a:pt x="0" y="158704"/>
                  </a:cubicBezTo>
                  <a:lnTo>
                    <a:pt x="0" y="55366"/>
                  </a:lnTo>
                  <a:cubicBezTo>
                    <a:pt x="0" y="40682"/>
                    <a:pt x="5833" y="26600"/>
                    <a:pt x="16216" y="16216"/>
                  </a:cubicBezTo>
                  <a:cubicBezTo>
                    <a:pt x="26600" y="5833"/>
                    <a:pt x="40682" y="0"/>
                    <a:pt x="55366" y="0"/>
                  </a:cubicBezTo>
                  <a:close/>
                </a:path>
              </a:pathLst>
            </a:custGeom>
            <a:solidFill>
              <a:srgbClr val="222222"/>
            </a:solidFill>
            <a:ln w="3810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27633" cy="26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779"/>
                </a:lnSpc>
                <a:spcBef>
                  <a:spcPct val="0"/>
                </a:spcBef>
              </a:pPr>
              <a:r>
                <a:rPr lang="en-US" sz="2700" u="sng">
                  <a:solidFill>
                    <a:srgbClr val="FAFAFA"/>
                  </a:solidFill>
                  <a:latin typeface="Body Grotesque"/>
                </a:rPr>
                <a:t>Introduction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4650" y="5272624"/>
            <a:ext cx="7131382" cy="791965"/>
            <a:chOff x="0" y="0"/>
            <a:chExt cx="1927633" cy="2140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7633" cy="214071"/>
            </a:xfrm>
            <a:custGeom>
              <a:avLst/>
              <a:gdLst/>
              <a:ahLst/>
              <a:cxnLst/>
              <a:rect r="r" b="b" t="t" l="l"/>
              <a:pathLst>
                <a:path h="214071" w="1927633">
                  <a:moveTo>
                    <a:pt x="55366" y="0"/>
                  </a:moveTo>
                  <a:lnTo>
                    <a:pt x="1872267" y="0"/>
                  </a:lnTo>
                  <a:cubicBezTo>
                    <a:pt x="1902845" y="0"/>
                    <a:pt x="1927633" y="24788"/>
                    <a:pt x="1927633" y="55366"/>
                  </a:cubicBezTo>
                  <a:lnTo>
                    <a:pt x="1927633" y="158704"/>
                  </a:lnTo>
                  <a:cubicBezTo>
                    <a:pt x="1927633" y="173388"/>
                    <a:pt x="1921800" y="187471"/>
                    <a:pt x="1911416" y="197854"/>
                  </a:cubicBezTo>
                  <a:cubicBezTo>
                    <a:pt x="1901033" y="208237"/>
                    <a:pt x="1886951" y="214071"/>
                    <a:pt x="1872267" y="214071"/>
                  </a:cubicBezTo>
                  <a:lnTo>
                    <a:pt x="55366" y="214071"/>
                  </a:lnTo>
                  <a:cubicBezTo>
                    <a:pt x="24788" y="214071"/>
                    <a:pt x="0" y="189282"/>
                    <a:pt x="0" y="158704"/>
                  </a:cubicBezTo>
                  <a:lnTo>
                    <a:pt x="0" y="55366"/>
                  </a:lnTo>
                  <a:cubicBezTo>
                    <a:pt x="0" y="40682"/>
                    <a:pt x="5833" y="26600"/>
                    <a:pt x="16216" y="16216"/>
                  </a:cubicBezTo>
                  <a:cubicBezTo>
                    <a:pt x="26600" y="5833"/>
                    <a:pt x="40682" y="0"/>
                    <a:pt x="55366" y="0"/>
                  </a:cubicBezTo>
                  <a:close/>
                </a:path>
              </a:pathLst>
            </a:custGeom>
            <a:solidFill>
              <a:srgbClr val="FAFAFA"/>
            </a:solidFill>
            <a:ln w="3810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27633" cy="26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222222"/>
                  </a:solidFill>
                  <a:latin typeface="Body Grotesque"/>
                </a:rPr>
                <a:t>Easy  Version Overview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04650" y="7931401"/>
            <a:ext cx="14878700" cy="791965"/>
            <a:chOff x="0" y="0"/>
            <a:chExt cx="4021755" cy="2140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1755" cy="214071"/>
            </a:xfrm>
            <a:custGeom>
              <a:avLst/>
              <a:gdLst/>
              <a:ahLst/>
              <a:cxnLst/>
              <a:rect r="r" b="b" t="t" l="l"/>
              <a:pathLst>
                <a:path h="214071" w="4021755">
                  <a:moveTo>
                    <a:pt x="26537" y="0"/>
                  </a:moveTo>
                  <a:lnTo>
                    <a:pt x="3995218" y="0"/>
                  </a:lnTo>
                  <a:cubicBezTo>
                    <a:pt x="4009874" y="0"/>
                    <a:pt x="4021755" y="11881"/>
                    <a:pt x="4021755" y="26537"/>
                  </a:cubicBezTo>
                  <a:lnTo>
                    <a:pt x="4021755" y="187533"/>
                  </a:lnTo>
                  <a:cubicBezTo>
                    <a:pt x="4021755" y="194571"/>
                    <a:pt x="4018959" y="201321"/>
                    <a:pt x="4013983" y="206298"/>
                  </a:cubicBezTo>
                  <a:cubicBezTo>
                    <a:pt x="4009006" y="211275"/>
                    <a:pt x="4002256" y="214071"/>
                    <a:pt x="3995218" y="214071"/>
                  </a:cubicBezTo>
                  <a:lnTo>
                    <a:pt x="26537" y="214071"/>
                  </a:lnTo>
                  <a:cubicBezTo>
                    <a:pt x="11881" y="214071"/>
                    <a:pt x="0" y="202189"/>
                    <a:pt x="0" y="187533"/>
                  </a:cubicBezTo>
                  <a:lnTo>
                    <a:pt x="0" y="26537"/>
                  </a:lnTo>
                  <a:cubicBezTo>
                    <a:pt x="0" y="19499"/>
                    <a:pt x="2796" y="12749"/>
                    <a:pt x="7773" y="7773"/>
                  </a:cubicBezTo>
                  <a:cubicBezTo>
                    <a:pt x="12749" y="2796"/>
                    <a:pt x="19499" y="0"/>
                    <a:pt x="26537" y="0"/>
                  </a:cubicBezTo>
                  <a:close/>
                </a:path>
              </a:pathLst>
            </a:custGeom>
            <a:solidFill>
              <a:srgbClr val="FAFAFA"/>
            </a:solidFill>
            <a:ln w="3810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021755" cy="26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779"/>
                </a:lnSpc>
                <a:spcBef>
                  <a:spcPct val="0"/>
                </a:spcBef>
              </a:pPr>
              <a:r>
                <a:rPr lang="en-US" sz="2700" u="sng">
                  <a:solidFill>
                    <a:srgbClr val="222222"/>
                  </a:solidFill>
                  <a:latin typeface="Body Grotesque"/>
                  <a:hlinkClick r:id="rId4" action="ppaction://hlinksldjump"/>
                </a:rPr>
                <a:t>Conclusion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04650" y="1535059"/>
            <a:ext cx="7131382" cy="131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00">
                <a:solidFill>
                  <a:srgbClr val="222222"/>
                </a:solidFill>
                <a:latin typeface="The Seasons Bold"/>
              </a:rPr>
              <a:t>Overview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957475" y="-2057400"/>
            <a:ext cx="4120368" cy="4114800"/>
          </a:xfrm>
          <a:custGeom>
            <a:avLst/>
            <a:gdLst/>
            <a:ahLst/>
            <a:cxnLst/>
            <a:rect r="r" b="b" t="t" l="l"/>
            <a:pathLst>
              <a:path h="4114800" w="4120368">
                <a:moveTo>
                  <a:pt x="0" y="0"/>
                </a:moveTo>
                <a:lnTo>
                  <a:pt x="4120368" y="0"/>
                </a:lnTo>
                <a:lnTo>
                  <a:pt x="4120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7093" y="3929655"/>
            <a:ext cx="8229702" cy="6613454"/>
          </a:xfrm>
          <a:custGeom>
            <a:avLst/>
            <a:gdLst/>
            <a:ahLst/>
            <a:cxnLst/>
            <a:rect r="r" b="b" t="t" l="l"/>
            <a:pathLst>
              <a:path h="6613454" w="8229702">
                <a:moveTo>
                  <a:pt x="0" y="0"/>
                </a:moveTo>
                <a:lnTo>
                  <a:pt x="8229702" y="0"/>
                </a:lnTo>
                <a:lnTo>
                  <a:pt x="8229702" y="6613455"/>
                </a:lnTo>
                <a:lnTo>
                  <a:pt x="0" y="6613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02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16750" y="2271976"/>
            <a:ext cx="6856094" cy="668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u="sng">
                <a:solidFill>
                  <a:srgbClr val="000000"/>
                </a:solidFill>
                <a:latin typeface="Body Grotesque Bold"/>
              </a:rPr>
              <a:t>Brief Overview of the BMI Calculator Project</a:t>
            </a:r>
            <a:r>
              <a:rPr lang="en-US" sz="2400">
                <a:solidFill>
                  <a:srgbClr val="000000"/>
                </a:solidFill>
                <a:latin typeface="Body Grotesque"/>
              </a:rPr>
              <a:t> The BMI (Body Mass Index) calculator project aims to provide a tool for users to determine their BMI based on their height and weight. The project is divided into two versions: a simple console-based implementation and a more advanced graphical user interface (GUI) version.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u="sng">
                <a:solidFill>
                  <a:srgbClr val="000000"/>
                </a:solidFill>
                <a:latin typeface="Body Grotesque Bold"/>
              </a:rPr>
              <a:t>Comparison of Easy and Advanced Versions</a:t>
            </a:r>
            <a:r>
              <a:rPr lang="en-US" sz="2400">
                <a:solidFill>
                  <a:srgbClr val="000000"/>
                </a:solidFill>
                <a:latin typeface="Body Grotesque"/>
              </a:rPr>
              <a:t> The easy version of the BMI calculator is a basic console application that takes user input for height and weight, calculates the BMI, and categorizes it. The advanced version includes a GUI for a more user-friendly experience, along with additional features like unit conversion and error handling.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57093" y="1667139"/>
            <a:ext cx="6902207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00">
                <a:solidFill>
                  <a:srgbClr val="222222"/>
                </a:solidFill>
                <a:latin typeface="The Seasons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837683" y="600504"/>
            <a:ext cx="2340447" cy="4109582"/>
          </a:xfrm>
          <a:custGeom>
            <a:avLst/>
            <a:gdLst/>
            <a:ahLst/>
            <a:cxnLst/>
            <a:rect r="r" b="b" t="t" l="l"/>
            <a:pathLst>
              <a:path h="4109582" w="2340447">
                <a:moveTo>
                  <a:pt x="0" y="0"/>
                </a:moveTo>
                <a:lnTo>
                  <a:pt x="2340447" y="0"/>
                </a:lnTo>
                <a:lnTo>
                  <a:pt x="2340447" y="4109583"/>
                </a:lnTo>
                <a:lnTo>
                  <a:pt x="0" y="4109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5302" y="5090160"/>
            <a:ext cx="15837396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u="sng">
                <a:solidFill>
                  <a:srgbClr val="000000"/>
                </a:solidFill>
                <a:latin typeface="Body Grotesque Bold"/>
              </a:rPr>
              <a:t>Objective: Calculate BMI Using User Input</a:t>
            </a:r>
            <a:r>
              <a:rPr lang="en-US" sz="2400">
                <a:solidFill>
                  <a:srgbClr val="000000"/>
                </a:solidFill>
                <a:latin typeface="Body Grotesque"/>
              </a:rPr>
              <a:t> The easy version's goal is to perform BMI calculations based on user input for height and weight, and provide a categorization based on the calculated BMI.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u="sng">
                <a:solidFill>
                  <a:srgbClr val="000000"/>
                </a:solidFill>
                <a:latin typeface="Body Grotesque Bold"/>
              </a:rPr>
              <a:t>Features</a:t>
            </a:r>
            <a:r>
              <a:rPr lang="en-US" sz="2400">
                <a:solidFill>
                  <a:srgbClr val="000000"/>
                </a:solidFill>
                <a:latin typeface="Body Grotesque"/>
              </a:rPr>
              <a:t>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Body Grotesque"/>
              </a:rPr>
              <a:t>User input for height and weight.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Body Grotesque"/>
              </a:rPr>
              <a:t>BMI calculation.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Body Grotesque"/>
              </a:rPr>
              <a:t>Categorization of BMI.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u="sng">
                <a:solidFill>
                  <a:srgbClr val="000000"/>
                </a:solidFill>
                <a:latin typeface="Body Grotesque Bold"/>
              </a:rPr>
              <a:t>Technologies Used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u="none">
                <a:solidFill>
                  <a:srgbClr val="000000"/>
                </a:solidFill>
                <a:latin typeface="Body Grotesque"/>
              </a:rPr>
              <a:t>Python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5302" y="2012358"/>
            <a:ext cx="881572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00">
                <a:solidFill>
                  <a:srgbClr val="222222"/>
                </a:solidFill>
                <a:latin typeface="The Seasons Bold"/>
              </a:rPr>
              <a:t>Easy Version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6849" y="3929655"/>
            <a:ext cx="8357757" cy="6720167"/>
          </a:xfrm>
          <a:custGeom>
            <a:avLst/>
            <a:gdLst/>
            <a:ahLst/>
            <a:cxnLst/>
            <a:rect r="r" b="b" t="t" l="l"/>
            <a:pathLst>
              <a:path h="6720167" w="8357757">
                <a:moveTo>
                  <a:pt x="0" y="0"/>
                </a:moveTo>
                <a:lnTo>
                  <a:pt x="8357756" y="0"/>
                </a:lnTo>
                <a:lnTo>
                  <a:pt x="8357756" y="6720167"/>
                </a:lnTo>
                <a:lnTo>
                  <a:pt x="0" y="6720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10" t="0" r="-984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11908" y="3891555"/>
            <a:ext cx="8047392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Body Grotesque"/>
              </a:rPr>
              <a:t>User Input Handling: The application prompts the user to in</a:t>
            </a:r>
            <a:r>
              <a:rPr lang="en-US" sz="2400" u="none">
                <a:solidFill>
                  <a:srgbClr val="000000"/>
                </a:solidFill>
                <a:latin typeface="Body Grotesque"/>
              </a:rPr>
              <a:t>p</a:t>
            </a:r>
            <a:r>
              <a:rPr lang="en-US" sz="2400">
                <a:solidFill>
                  <a:srgbClr val="000000"/>
                </a:solidFill>
                <a:latin typeface="Body Grotesque"/>
              </a:rPr>
              <a:t>ut</a:t>
            </a:r>
            <a:r>
              <a:rPr lang="en-US" sz="2400" u="none">
                <a:solidFill>
                  <a:srgbClr val="000000"/>
                </a:solidFill>
                <a:latin typeface="Body Grotesque"/>
              </a:rPr>
              <a:t> </a:t>
            </a:r>
            <a:r>
              <a:rPr lang="en-US" sz="2400">
                <a:solidFill>
                  <a:srgbClr val="000000"/>
                </a:solidFill>
                <a:latin typeface="Body Grotesque"/>
              </a:rPr>
              <a:t>their height in meters and weight in kilograms.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Body Grotesque"/>
              </a:rPr>
              <a:t>BMI Formula Implementation: The BMI is calculated using the formula: BMI = kg/m^2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Body Grotesque"/>
              </a:rPr>
              <a:t>C</a:t>
            </a:r>
            <a:r>
              <a:rPr lang="en-US" sz="2400" u="none">
                <a:solidFill>
                  <a:srgbClr val="000000"/>
                </a:solidFill>
                <a:latin typeface="Body Grotesque"/>
              </a:rPr>
              <a:t>a</a:t>
            </a:r>
            <a:r>
              <a:rPr lang="en-US" sz="2400">
                <a:solidFill>
                  <a:srgbClr val="000000"/>
                </a:solidFill>
                <a:latin typeface="Body Grotesque"/>
              </a:rPr>
              <a:t>te</a:t>
            </a:r>
            <a:r>
              <a:rPr lang="en-US" sz="2400" u="none">
                <a:solidFill>
                  <a:srgbClr val="000000"/>
                </a:solidFill>
                <a:latin typeface="Body Grotesque"/>
              </a:rPr>
              <a:t>g</a:t>
            </a:r>
            <a:r>
              <a:rPr lang="en-US" sz="2400">
                <a:solidFill>
                  <a:srgbClr val="000000"/>
                </a:solidFill>
                <a:latin typeface="Body Grotesque"/>
              </a:rPr>
              <a:t>o</a:t>
            </a:r>
            <a:r>
              <a:rPr lang="en-US" sz="2400" u="none">
                <a:solidFill>
                  <a:srgbClr val="000000"/>
                </a:solidFill>
                <a:latin typeface="Body Grotesque"/>
              </a:rPr>
              <a:t>r</a:t>
            </a:r>
            <a:r>
              <a:rPr lang="en-US" sz="2400">
                <a:solidFill>
                  <a:srgbClr val="000000"/>
                </a:solidFill>
                <a:latin typeface="Body Grotesque"/>
              </a:rPr>
              <a:t>iz</a:t>
            </a:r>
            <a:r>
              <a:rPr lang="en-US" sz="2400" u="none">
                <a:solidFill>
                  <a:srgbClr val="000000"/>
                </a:solidFill>
                <a:latin typeface="Body Grotesque"/>
              </a:rPr>
              <a:t>a</a:t>
            </a:r>
            <a:r>
              <a:rPr lang="en-US" sz="2400">
                <a:solidFill>
                  <a:srgbClr val="000000"/>
                </a:solidFill>
                <a:latin typeface="Body Grotesque"/>
              </a:rPr>
              <a:t>tion: The BMI value is categorized into underweight, normal weight, overweight, or obesity.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83604" y="1667139"/>
            <a:ext cx="7142169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00">
                <a:solidFill>
                  <a:srgbClr val="222222"/>
                </a:solidFill>
                <a:latin typeface="The Seasons Bold"/>
              </a:rPr>
              <a:t>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35850" y="886871"/>
            <a:ext cx="3886126" cy="851325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6681970" y="952470"/>
            <a:ext cx="9626735" cy="8382060"/>
            <a:chOff x="0" y="0"/>
            <a:chExt cx="12835647" cy="111760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837260"/>
              <a:ext cx="12835647" cy="8338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u="sng">
                  <a:solidFill>
                    <a:srgbClr val="000000"/>
                  </a:solidFill>
                  <a:latin typeface="Body Grotesque Bold"/>
                </a:rPr>
                <a:t>Objective: Provide a Graphical Interface for BMI Calculation</a:t>
              </a: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 The advanced version aims to create a user-friendly application with a graphical interface for calculating BMI, including unit conversions and enhanced error handling.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400" u="sng">
                  <a:solidFill>
                    <a:srgbClr val="000000"/>
                  </a:solidFill>
                  <a:latin typeface="Body Grotesque Bold"/>
                </a:rPr>
                <a:t>Features: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GUI for user input.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BMI calculation.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Categorization.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Data visualization (future improvement).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400" u="sng">
                  <a:solidFill>
                    <a:srgbClr val="000000"/>
                  </a:solidFill>
                  <a:latin typeface="Body Grotesque Bold"/>
                </a:rPr>
                <a:t>Technologies Used: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Python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Library: tkinter</a:t>
              </a:r>
            </a:p>
            <a:p>
              <a:pPr algn="l">
                <a:lnSpc>
                  <a:spcPts val="3359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12835647" cy="166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00">
                  <a:solidFill>
                    <a:srgbClr val="222222"/>
                  </a:solidFill>
                  <a:latin typeface="The Seasons Bold"/>
                </a:rPr>
                <a:t>Advanced Version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950812" y="-1652009"/>
            <a:ext cx="3308488" cy="3304017"/>
          </a:xfrm>
          <a:custGeom>
            <a:avLst/>
            <a:gdLst/>
            <a:ahLst/>
            <a:cxnLst/>
            <a:rect r="r" b="b" t="t" l="l"/>
            <a:pathLst>
              <a:path h="3304017" w="3308488">
                <a:moveTo>
                  <a:pt x="0" y="0"/>
                </a:moveTo>
                <a:lnTo>
                  <a:pt x="3308488" y="0"/>
                </a:lnTo>
                <a:lnTo>
                  <a:pt x="3308488" y="3304018"/>
                </a:lnTo>
                <a:lnTo>
                  <a:pt x="0" y="33040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78432" y="1297086"/>
            <a:ext cx="8354636" cy="7692828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551152" y="1928983"/>
            <a:ext cx="7243910" cy="6429034"/>
            <a:chOff x="0" y="0"/>
            <a:chExt cx="9658547" cy="85720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468425"/>
              <a:ext cx="9658547" cy="6103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GUI Design with tkinter: The application uses tkinter to create a graphical interface for user interaction.</a:t>
              </a:r>
            </a:p>
            <a:p>
              <a:pPr algn="l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BMI Calculation </a:t>
              </a:r>
              <a:r>
                <a:rPr lang="en-US" sz="2400" u="none">
                  <a:solidFill>
                    <a:srgbClr val="000000"/>
                  </a:solidFill>
                  <a:latin typeface="Body Grotesque"/>
                </a:rPr>
                <a:t>a</a:t>
              </a: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nd C</a:t>
              </a:r>
              <a:r>
                <a:rPr lang="en-US" sz="2400" u="none">
                  <a:solidFill>
                    <a:srgbClr val="000000"/>
                  </a:solidFill>
                  <a:latin typeface="Body Grotesque"/>
                </a:rPr>
                <a:t>a</a:t>
              </a: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te</a:t>
              </a:r>
              <a:r>
                <a:rPr lang="en-US" sz="2400" u="none">
                  <a:solidFill>
                    <a:srgbClr val="000000"/>
                  </a:solidFill>
                  <a:latin typeface="Body Grotesque"/>
                </a:rPr>
                <a:t>g</a:t>
              </a: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o</a:t>
              </a:r>
              <a:r>
                <a:rPr lang="en-US" sz="2400" u="none">
                  <a:solidFill>
                    <a:srgbClr val="000000"/>
                  </a:solidFill>
                  <a:latin typeface="Body Grotesque"/>
                </a:rPr>
                <a:t>r</a:t>
              </a: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iz</a:t>
              </a:r>
              <a:r>
                <a:rPr lang="en-US" sz="2400" u="none">
                  <a:solidFill>
                    <a:srgbClr val="000000"/>
                  </a:solidFill>
                  <a:latin typeface="Body Grotesque"/>
                </a:rPr>
                <a:t>a</a:t>
              </a: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tion:</a:t>
              </a:r>
              <a:r>
                <a:rPr lang="en-US" sz="2400" u="none">
                  <a:solidFill>
                    <a:srgbClr val="000000"/>
                  </a:solidFill>
                  <a:latin typeface="Body Grotesque"/>
                </a:rPr>
                <a:t> </a:t>
              </a: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Similar to the easy version, but with added functionality for unit conversion and better user interaction.</a:t>
              </a:r>
            </a:p>
            <a:p>
              <a:pPr algn="l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Error Handling: The application includes error messages for invalid input and unexpected errors.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9658547" cy="166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00">
                  <a:solidFill>
                    <a:srgbClr val="222222"/>
                  </a:solidFill>
                  <a:latin typeface="The Seasons Bold"/>
                </a:rPr>
                <a:t>Implementation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9742" y="3843758"/>
            <a:ext cx="2599484" cy="2599484"/>
          </a:xfrm>
          <a:custGeom>
            <a:avLst/>
            <a:gdLst/>
            <a:ahLst/>
            <a:cxnLst/>
            <a:rect r="r" b="b" t="t" l="l"/>
            <a:pathLst>
              <a:path h="2599484" w="2599484">
                <a:moveTo>
                  <a:pt x="0" y="0"/>
                </a:moveTo>
                <a:lnTo>
                  <a:pt x="2599484" y="0"/>
                </a:lnTo>
                <a:lnTo>
                  <a:pt x="2599484" y="2599484"/>
                </a:lnTo>
                <a:lnTo>
                  <a:pt x="0" y="2599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56579" y="-947268"/>
            <a:ext cx="2396731" cy="2396731"/>
          </a:xfrm>
          <a:custGeom>
            <a:avLst/>
            <a:gdLst/>
            <a:ahLst/>
            <a:cxnLst/>
            <a:rect r="r" b="b" t="t" l="l"/>
            <a:pathLst>
              <a:path h="2396731" w="2396731">
                <a:moveTo>
                  <a:pt x="0" y="0"/>
                </a:moveTo>
                <a:lnTo>
                  <a:pt x="2396731" y="0"/>
                </a:lnTo>
                <a:lnTo>
                  <a:pt x="2396731" y="2396731"/>
                </a:lnTo>
                <a:lnTo>
                  <a:pt x="0" y="239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70279" y="2420756"/>
            <a:ext cx="2396731" cy="2396731"/>
          </a:xfrm>
          <a:custGeom>
            <a:avLst/>
            <a:gdLst/>
            <a:ahLst/>
            <a:cxnLst/>
            <a:rect r="r" b="b" t="t" l="l"/>
            <a:pathLst>
              <a:path h="2396731" w="2396731">
                <a:moveTo>
                  <a:pt x="0" y="0"/>
                </a:moveTo>
                <a:lnTo>
                  <a:pt x="2396731" y="0"/>
                </a:lnTo>
                <a:lnTo>
                  <a:pt x="2396731" y="2396731"/>
                </a:lnTo>
                <a:lnTo>
                  <a:pt x="0" y="239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29479" y="1114697"/>
            <a:ext cx="10429042" cy="8143603"/>
            <a:chOff x="0" y="0"/>
            <a:chExt cx="13905389" cy="1085813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3603098" y="6658372"/>
              <a:ext cx="6699193" cy="1055954"/>
              <a:chOff x="0" y="0"/>
              <a:chExt cx="1358108" cy="21407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8108" cy="214071"/>
              </a:xfrm>
              <a:custGeom>
                <a:avLst/>
                <a:gdLst/>
                <a:ahLst/>
                <a:cxnLst/>
                <a:rect r="r" b="b" t="t" l="l"/>
                <a:pathLst>
                  <a:path h="214071" w="1358108">
                    <a:moveTo>
                      <a:pt x="78584" y="0"/>
                    </a:moveTo>
                    <a:lnTo>
                      <a:pt x="1279524" y="0"/>
                    </a:lnTo>
                    <a:cubicBezTo>
                      <a:pt x="1300366" y="0"/>
                      <a:pt x="1320354" y="8279"/>
                      <a:pt x="1335091" y="23017"/>
                    </a:cubicBezTo>
                    <a:cubicBezTo>
                      <a:pt x="1349829" y="37754"/>
                      <a:pt x="1358108" y="57742"/>
                      <a:pt x="1358108" y="78584"/>
                    </a:cubicBezTo>
                    <a:lnTo>
                      <a:pt x="1358108" y="135486"/>
                    </a:lnTo>
                    <a:cubicBezTo>
                      <a:pt x="1358108" y="156328"/>
                      <a:pt x="1349829" y="176316"/>
                      <a:pt x="1335091" y="191054"/>
                    </a:cubicBezTo>
                    <a:cubicBezTo>
                      <a:pt x="1320354" y="205791"/>
                      <a:pt x="1300366" y="214071"/>
                      <a:pt x="1279524" y="214071"/>
                    </a:cubicBezTo>
                    <a:lnTo>
                      <a:pt x="78584" y="214071"/>
                    </a:lnTo>
                    <a:cubicBezTo>
                      <a:pt x="35183" y="214071"/>
                      <a:pt x="0" y="178887"/>
                      <a:pt x="0" y="135486"/>
                    </a:cubicBezTo>
                    <a:lnTo>
                      <a:pt x="0" y="78584"/>
                    </a:lnTo>
                    <a:cubicBezTo>
                      <a:pt x="0" y="57742"/>
                      <a:pt x="8279" y="37754"/>
                      <a:pt x="23017" y="23017"/>
                    </a:cubicBezTo>
                    <a:cubicBezTo>
                      <a:pt x="37754" y="8279"/>
                      <a:pt x="57742" y="0"/>
                      <a:pt x="78584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 w="38100" cap="rnd">
                <a:solidFill>
                  <a:srgbClr val="222222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1358108" cy="280745"/>
              </a:xfrm>
              <a:prstGeom prst="rect">
                <a:avLst/>
              </a:prstGeom>
            </p:spPr>
            <p:txBody>
              <a:bodyPr anchor="t" rtlCol="false" tIns="50800" lIns="50800" bIns="50800" rIns="50800"/>
              <a:lstStyle/>
              <a:p>
                <a:pPr algn="ctr" marL="0" indent="0" lvl="1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000">
                    <a:solidFill>
                      <a:srgbClr val="222222"/>
                    </a:solidFill>
                    <a:latin typeface="Body Grotesque"/>
                  </a:rPr>
                  <a:t>Summary of Both Versions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5785779" cy="5785756"/>
              <a:chOff x="0" y="0"/>
              <a:chExt cx="6350000" cy="634997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49975"/>
              </a:xfrm>
              <a:custGeom>
                <a:avLst/>
                <a:gdLst/>
                <a:ahLst/>
                <a:cxnLst/>
                <a:rect r="r" b="b" t="t" l="l"/>
                <a:pathLst>
                  <a:path h="6349975" w="6350000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-16963" r="0" b="-33036"/>
                </a:stretch>
              </a:blip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119610" y="0"/>
              <a:ext cx="5785779" cy="5785756"/>
              <a:chOff x="0" y="0"/>
              <a:chExt cx="6350000" cy="634997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49975"/>
              </a:xfrm>
              <a:custGeom>
                <a:avLst/>
                <a:gdLst/>
                <a:ahLst/>
                <a:cxnLst/>
                <a:rect r="r" b="b" t="t" l="l"/>
                <a:pathLst>
                  <a:path h="6349975" w="6350000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6609" t="0" r="-35048" b="0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1211213" y="8107318"/>
              <a:ext cx="11482963" cy="2750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The easy version of the BMI calculator is a straightforward console application that handles basic input and output for BMI calculation. The advanced version significantly enhances user experience by providing a graphical interface, unit conversion, and better error handling.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718943" y="-947268"/>
            <a:ext cx="2396731" cy="2396731"/>
          </a:xfrm>
          <a:custGeom>
            <a:avLst/>
            <a:gdLst/>
            <a:ahLst/>
            <a:cxnLst/>
            <a:rect r="r" b="b" t="t" l="l"/>
            <a:pathLst>
              <a:path h="2396731" w="2396731">
                <a:moveTo>
                  <a:pt x="0" y="0"/>
                </a:moveTo>
                <a:lnTo>
                  <a:pt x="2396731" y="0"/>
                </a:lnTo>
                <a:lnTo>
                  <a:pt x="2396731" y="2396731"/>
                </a:lnTo>
                <a:lnTo>
                  <a:pt x="0" y="239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1946" y="1923544"/>
            <a:ext cx="15944108" cy="6439913"/>
            <a:chOff x="0" y="0"/>
            <a:chExt cx="21258811" cy="8586551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9895152" y="2187393"/>
              <a:ext cx="1468507" cy="2578545"/>
            </a:xfrm>
            <a:custGeom>
              <a:avLst/>
              <a:gdLst/>
              <a:ahLst/>
              <a:cxnLst/>
              <a:rect r="r" b="b" t="t" l="l"/>
              <a:pathLst>
                <a:path h="2578545" w="1468507">
                  <a:moveTo>
                    <a:pt x="0" y="0"/>
                  </a:moveTo>
                  <a:lnTo>
                    <a:pt x="1468507" y="0"/>
                  </a:lnTo>
                  <a:lnTo>
                    <a:pt x="1468507" y="2578545"/>
                  </a:lnTo>
                  <a:lnTo>
                    <a:pt x="0" y="2578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5276931"/>
              <a:ext cx="21258811" cy="3309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Data Visualization: Add </a:t>
              </a:r>
              <a:r>
                <a:rPr lang="en-US" sz="2400" u="none">
                  <a:solidFill>
                    <a:srgbClr val="000000"/>
                  </a:solidFill>
                  <a:latin typeface="Body Grotesque"/>
                </a:rPr>
                <a:t>graph</a:t>
              </a: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ical</a:t>
              </a:r>
              <a:r>
                <a:rPr lang="en-US" sz="2400" u="none">
                  <a:solidFill>
                    <a:srgbClr val="000000"/>
                  </a:solidFill>
                  <a:latin typeface="Body Grotesque"/>
                </a:rPr>
                <a:t> </a:t>
              </a: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representations of BMI data for better understanding.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Health Recommendations: Provide personalized health and fitness recommendations based on BMI.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Historical Data Tracking: Allow users to track their BMI over time.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Inte</a:t>
              </a:r>
              <a:r>
                <a:rPr lang="en-US" sz="2400" u="none">
                  <a:solidFill>
                    <a:srgbClr val="000000"/>
                  </a:solidFill>
                  <a:latin typeface="Body Grotesque"/>
                </a:rPr>
                <a:t>gra</a:t>
              </a: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tion with Wearable Devices: Connect with fitness trackers to automatically update height and weight data.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Body Grotesque"/>
                </a:rPr>
                <a:t>Multi-Language Support: Offer the application in multiple languages to reach a broader audience.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21258811" cy="166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800"/>
                </a:lnSpc>
              </a:pPr>
              <a:r>
                <a:rPr lang="en-US" sz="8000" spc="-200">
                  <a:solidFill>
                    <a:srgbClr val="222222"/>
                  </a:solidFill>
                  <a:latin typeface="The Seasons Bold"/>
                </a:rPr>
                <a:t>Potential Future Improvements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DAGHJ6c5nxI</dc:identifier>
  <dcterms:modified xsi:type="dcterms:W3CDTF">2011-08-01T06:04:30Z</dcterms:modified>
  <cp:revision>1</cp:revision>
  <dc:title>BMI - OIBSIP</dc:title>
</cp:coreProperties>
</file>