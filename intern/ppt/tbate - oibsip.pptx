
<file path=[Content_Types].xml><?xml version="1.0" encoding="utf-8"?>
<Types xmlns="http://schemas.openxmlformats.org/package/2006/content-types">
  <Default ContentType="application/x-fontdata" Extension="fntdata"/>
  <Default ContentType="image/gif" Extension="gif"/>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Disket Mono" charset="1" panose="020B0509050000020004"/>
      <p:regular r:id="rId21"/>
    </p:embeddedFont>
    <p:embeddedFont>
      <p:font typeface="Arcade Gamer" charset="1" panose="000000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gif"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6.png" Type="http://schemas.openxmlformats.org/officeDocument/2006/relationships/image"/><Relationship Id="rId7" Target="../media/image17.png" Type="http://schemas.openxmlformats.org/officeDocument/2006/relationships/image"/><Relationship Id="rId8" Target="../media/image18.svg" Type="http://schemas.openxmlformats.org/officeDocument/2006/relationships/image"/><Relationship Id="rId9" Target="../media/image19.gif"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png" Type="http://schemas.openxmlformats.org/officeDocument/2006/relationships/image"/><Relationship Id="rId11" Target="../media/image33.svg" Type="http://schemas.openxmlformats.org/officeDocument/2006/relationships/image"/><Relationship Id="rId12" Target="../media/image34.png" Type="http://schemas.openxmlformats.org/officeDocument/2006/relationships/image"/><Relationship Id="rId13" Target="../media/image35.svg" Type="http://schemas.openxmlformats.org/officeDocument/2006/relationships/image"/><Relationship Id="rId14" Target="../media/image3.png" Type="http://schemas.openxmlformats.org/officeDocument/2006/relationships/image"/><Relationship Id="rId15" Target="../media/image4.svg" Type="http://schemas.openxmlformats.org/officeDocument/2006/relationships/image"/><Relationship Id="rId16" Target="../media/image36.png" Type="http://schemas.openxmlformats.org/officeDocument/2006/relationships/image"/><Relationship Id="rId17" Target="../media/image37.svg" Type="http://schemas.openxmlformats.org/officeDocument/2006/relationships/image"/><Relationship Id="rId2" Target="../media/image12.png" Type="http://schemas.openxmlformats.org/officeDocument/2006/relationships/image"/><Relationship Id="rId3" Target="../media/image13.sv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28.png" Type="http://schemas.openxmlformats.org/officeDocument/2006/relationships/image"/><Relationship Id="rId7" Target="../media/image29.svg" Type="http://schemas.openxmlformats.org/officeDocument/2006/relationships/image"/><Relationship Id="rId8" Target="../media/image30.png" Type="http://schemas.openxmlformats.org/officeDocument/2006/relationships/image"/><Relationship Id="rId9" Target="../media/image31.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9705109"/>
            <a:ext cx="18288000" cy="1163782"/>
            <a:chOff x="0" y="0"/>
            <a:chExt cx="24384000" cy="1551709"/>
          </a:xfrm>
        </p:grpSpPr>
        <p:sp>
          <p:nvSpPr>
            <p:cNvPr name="Freeform 4" id="4"/>
            <p:cNvSpPr/>
            <p:nvPr/>
          </p:nvSpPr>
          <p:spPr>
            <a:xfrm flipH="false" flipV="false" rot="0">
              <a:off x="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128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256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7" id="7"/>
          <p:cNvGrpSpPr/>
          <p:nvPr/>
        </p:nvGrpSpPr>
        <p:grpSpPr>
          <a:xfrm rot="0">
            <a:off x="1509980" y="1509980"/>
            <a:ext cx="15268040" cy="6685149"/>
            <a:chOff x="0" y="0"/>
            <a:chExt cx="4021212" cy="1760698"/>
          </a:xfrm>
        </p:grpSpPr>
        <p:sp>
          <p:nvSpPr>
            <p:cNvPr name="Freeform 8" id="8"/>
            <p:cNvSpPr/>
            <p:nvPr/>
          </p:nvSpPr>
          <p:spPr>
            <a:xfrm flipH="false" flipV="false" rot="0">
              <a:off x="0" y="0"/>
              <a:ext cx="4021212" cy="1760698"/>
            </a:xfrm>
            <a:custGeom>
              <a:avLst/>
              <a:gdLst/>
              <a:ahLst/>
              <a:cxnLst/>
              <a:rect r="r" b="b" t="t" l="l"/>
              <a:pathLst>
                <a:path h="1760698" w="4021212">
                  <a:moveTo>
                    <a:pt x="24846" y="0"/>
                  </a:moveTo>
                  <a:lnTo>
                    <a:pt x="3996366" y="0"/>
                  </a:lnTo>
                  <a:cubicBezTo>
                    <a:pt x="4010088" y="0"/>
                    <a:pt x="4021212" y="11124"/>
                    <a:pt x="4021212" y="24846"/>
                  </a:cubicBezTo>
                  <a:lnTo>
                    <a:pt x="4021212" y="1735851"/>
                  </a:lnTo>
                  <a:cubicBezTo>
                    <a:pt x="4021212" y="1749574"/>
                    <a:pt x="4010088" y="1760698"/>
                    <a:pt x="3996366" y="1760698"/>
                  </a:cubicBezTo>
                  <a:lnTo>
                    <a:pt x="24846" y="1760698"/>
                  </a:lnTo>
                  <a:cubicBezTo>
                    <a:pt x="11124" y="1760698"/>
                    <a:pt x="0" y="1749574"/>
                    <a:pt x="0" y="1735851"/>
                  </a:cubicBezTo>
                  <a:lnTo>
                    <a:pt x="0" y="24846"/>
                  </a:lnTo>
                  <a:cubicBezTo>
                    <a:pt x="0" y="11124"/>
                    <a:pt x="11124" y="0"/>
                    <a:pt x="24846" y="0"/>
                  </a:cubicBezTo>
                  <a:close/>
                </a:path>
              </a:pathLst>
            </a:custGeom>
            <a:solidFill>
              <a:srgbClr val="000000"/>
            </a:solidFill>
            <a:ln w="47625" cap="rnd">
              <a:solidFill>
                <a:srgbClr val="21EF80"/>
              </a:solidFill>
              <a:prstDash val="solid"/>
              <a:round/>
            </a:ln>
          </p:spPr>
        </p:sp>
        <p:sp>
          <p:nvSpPr>
            <p:cNvPr name="TextBox 9" id="9"/>
            <p:cNvSpPr txBox="true"/>
            <p:nvPr/>
          </p:nvSpPr>
          <p:spPr>
            <a:xfrm>
              <a:off x="0" y="-28575"/>
              <a:ext cx="4021212" cy="1789273"/>
            </a:xfrm>
            <a:prstGeom prst="rect">
              <a:avLst/>
            </a:prstGeom>
          </p:spPr>
          <p:txBody>
            <a:bodyPr anchor="ctr" rtlCol="false" tIns="254000" lIns="254000" bIns="254000" rIns="254000"/>
            <a:lstStyle/>
            <a:p>
              <a:pPr algn="ctr">
                <a:lnSpc>
                  <a:spcPts val="2100"/>
                </a:lnSpc>
              </a:pPr>
            </a:p>
          </p:txBody>
        </p:sp>
      </p:grpSp>
      <p:sp>
        <p:nvSpPr>
          <p:cNvPr name="Freeform 10" id="10"/>
          <p:cNvSpPr/>
          <p:nvPr/>
        </p:nvSpPr>
        <p:spPr>
          <a:xfrm flipH="false" flipV="false" rot="0">
            <a:off x="15341087" y="6151992"/>
            <a:ext cx="3370555" cy="3571879"/>
          </a:xfrm>
          <a:custGeom>
            <a:avLst/>
            <a:gdLst/>
            <a:ahLst/>
            <a:cxnLst/>
            <a:rect r="r" b="b" t="t" l="l"/>
            <a:pathLst>
              <a:path h="3571879" w="3370555">
                <a:moveTo>
                  <a:pt x="0" y="0"/>
                </a:moveTo>
                <a:lnTo>
                  <a:pt x="3370556" y="0"/>
                </a:lnTo>
                <a:lnTo>
                  <a:pt x="3370556" y="3571879"/>
                </a:lnTo>
                <a:lnTo>
                  <a:pt x="0" y="357187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true" flipV="false" rot="0">
            <a:off x="6457336" y="8762719"/>
            <a:ext cx="335928" cy="313329"/>
          </a:xfrm>
          <a:custGeom>
            <a:avLst/>
            <a:gdLst/>
            <a:ahLst/>
            <a:cxnLst/>
            <a:rect r="r" b="b" t="t" l="l"/>
            <a:pathLst>
              <a:path h="313329" w="335928">
                <a:moveTo>
                  <a:pt x="335928" y="0"/>
                </a:moveTo>
                <a:lnTo>
                  <a:pt x="0" y="0"/>
                </a:lnTo>
                <a:lnTo>
                  <a:pt x="0" y="313329"/>
                </a:lnTo>
                <a:lnTo>
                  <a:pt x="335928" y="313329"/>
                </a:lnTo>
                <a:lnTo>
                  <a:pt x="335928"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375433" y="6228904"/>
            <a:ext cx="2319577" cy="3476205"/>
          </a:xfrm>
          <a:custGeom>
            <a:avLst/>
            <a:gdLst/>
            <a:ahLst/>
            <a:cxnLst/>
            <a:rect r="r" b="b" t="t" l="l"/>
            <a:pathLst>
              <a:path h="3476205" w="2319577">
                <a:moveTo>
                  <a:pt x="0" y="0"/>
                </a:moveTo>
                <a:lnTo>
                  <a:pt x="2319576" y="0"/>
                </a:lnTo>
                <a:lnTo>
                  <a:pt x="2319576" y="3476205"/>
                </a:lnTo>
                <a:lnTo>
                  <a:pt x="0" y="347620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pic>
        <p:nvPicPr>
          <p:cNvPr name="Picture 13" id="13"/>
          <p:cNvPicPr>
            <a:picLocks noChangeAspect="true"/>
          </p:cNvPicPr>
          <p:nvPr/>
        </p:nvPicPr>
        <p:blipFill>
          <a:blip r:embed="rId12">
            <a:alphaModFix amt="71000"/>
          </a:blip>
          <a:srcRect l="0" t="0" r="0" b="0"/>
          <a:stretch>
            <a:fillRect/>
          </a:stretch>
        </p:blipFill>
        <p:spPr>
          <a:xfrm flipH="false" flipV="false" rot="604890">
            <a:off x="17509575" y="4896612"/>
            <a:ext cx="554300" cy="577396"/>
          </a:xfrm>
          <a:prstGeom prst="rect">
            <a:avLst/>
          </a:prstGeom>
        </p:spPr>
      </p:pic>
      <p:pic>
        <p:nvPicPr>
          <p:cNvPr name="Picture 14" id="14"/>
          <p:cNvPicPr>
            <a:picLocks noChangeAspect="true"/>
          </p:cNvPicPr>
          <p:nvPr/>
        </p:nvPicPr>
        <p:blipFill>
          <a:blip r:embed="rId12">
            <a:alphaModFix amt="71000"/>
          </a:blip>
          <a:srcRect l="0" t="0" r="0" b="0"/>
          <a:stretch>
            <a:fillRect/>
          </a:stretch>
        </p:blipFill>
        <p:spPr>
          <a:xfrm flipH="false" flipV="false" rot="-1221735">
            <a:off x="17085962" y="3338385"/>
            <a:ext cx="397359" cy="413915"/>
          </a:xfrm>
          <a:prstGeom prst="rect">
            <a:avLst/>
          </a:prstGeom>
        </p:spPr>
      </p:pic>
      <p:pic>
        <p:nvPicPr>
          <p:cNvPr name="Picture 15" id="15"/>
          <p:cNvPicPr>
            <a:picLocks noChangeAspect="true"/>
          </p:cNvPicPr>
          <p:nvPr/>
        </p:nvPicPr>
        <p:blipFill>
          <a:blip r:embed="rId12">
            <a:alphaModFix amt="71000"/>
          </a:blip>
          <a:srcRect l="0" t="0" r="0" b="0"/>
          <a:stretch>
            <a:fillRect/>
          </a:stretch>
        </p:blipFill>
        <p:spPr>
          <a:xfrm flipH="false" flipV="false" rot="0">
            <a:off x="17517576" y="1957766"/>
            <a:ext cx="269149" cy="280364"/>
          </a:xfrm>
          <a:prstGeom prst="rect">
            <a:avLst/>
          </a:prstGeom>
        </p:spPr>
      </p:pic>
      <p:pic>
        <p:nvPicPr>
          <p:cNvPr name="Picture 16" id="16"/>
          <p:cNvPicPr>
            <a:picLocks noChangeAspect="true"/>
          </p:cNvPicPr>
          <p:nvPr/>
        </p:nvPicPr>
        <p:blipFill>
          <a:blip r:embed="rId12">
            <a:alphaModFix amt="71000"/>
          </a:blip>
          <a:srcRect l="0" t="0" r="0" b="0"/>
          <a:stretch>
            <a:fillRect/>
          </a:stretch>
        </p:blipFill>
        <p:spPr>
          <a:xfrm flipH="false" flipV="false" rot="-599390">
            <a:off x="421312" y="5056909"/>
            <a:ext cx="554300" cy="577396"/>
          </a:xfrm>
          <a:prstGeom prst="rect">
            <a:avLst/>
          </a:prstGeom>
        </p:spPr>
      </p:pic>
      <p:pic>
        <p:nvPicPr>
          <p:cNvPr name="Picture 17" id="17"/>
          <p:cNvPicPr>
            <a:picLocks noChangeAspect="true"/>
          </p:cNvPicPr>
          <p:nvPr/>
        </p:nvPicPr>
        <p:blipFill>
          <a:blip r:embed="rId12">
            <a:alphaModFix amt="71000"/>
          </a:blip>
          <a:srcRect l="0" t="0" r="0" b="0"/>
          <a:stretch>
            <a:fillRect/>
          </a:stretch>
        </p:blipFill>
        <p:spPr>
          <a:xfrm flipH="false" flipV="false" rot="368085">
            <a:off x="788009" y="3418711"/>
            <a:ext cx="397359" cy="413915"/>
          </a:xfrm>
          <a:prstGeom prst="rect">
            <a:avLst/>
          </a:prstGeom>
        </p:spPr>
      </p:pic>
      <p:pic>
        <p:nvPicPr>
          <p:cNvPr name="Picture 18" id="18"/>
          <p:cNvPicPr>
            <a:picLocks noChangeAspect="true"/>
          </p:cNvPicPr>
          <p:nvPr/>
        </p:nvPicPr>
        <p:blipFill>
          <a:blip r:embed="rId12">
            <a:alphaModFix amt="71000"/>
          </a:blip>
          <a:srcRect l="0" t="0" r="0" b="0"/>
          <a:stretch>
            <a:fillRect/>
          </a:stretch>
        </p:blipFill>
        <p:spPr>
          <a:xfrm flipH="false" flipV="false" rot="-980286">
            <a:off x="463881" y="1925570"/>
            <a:ext cx="269149" cy="280364"/>
          </a:xfrm>
          <a:prstGeom prst="rect">
            <a:avLst/>
          </a:prstGeom>
        </p:spPr>
      </p:pic>
      <p:sp>
        <p:nvSpPr>
          <p:cNvPr name="TextBox 19" id="19"/>
          <p:cNvSpPr txBox="true"/>
          <p:nvPr/>
        </p:nvSpPr>
        <p:spPr>
          <a:xfrm rot="0">
            <a:off x="6197778" y="6576610"/>
            <a:ext cx="5892443" cy="474344"/>
          </a:xfrm>
          <a:prstGeom prst="rect">
            <a:avLst/>
          </a:prstGeom>
        </p:spPr>
        <p:txBody>
          <a:bodyPr anchor="t" rtlCol="false" tIns="0" lIns="0" bIns="0" rIns="0">
            <a:spAutoFit/>
          </a:bodyPr>
          <a:lstStyle/>
          <a:p>
            <a:pPr algn="l">
              <a:lnSpc>
                <a:spcPts val="3780"/>
              </a:lnSpc>
              <a:spcBef>
                <a:spcPct val="0"/>
              </a:spcBef>
            </a:pPr>
            <a:r>
              <a:rPr lang="en-US" sz="2700">
                <a:solidFill>
                  <a:srgbClr val="FFFFFF"/>
                </a:solidFill>
                <a:latin typeface="Disket Mono"/>
              </a:rPr>
              <a:t>overview and explanation</a:t>
            </a:r>
          </a:p>
        </p:txBody>
      </p:sp>
      <p:sp>
        <p:nvSpPr>
          <p:cNvPr name="TextBox 20" id="20"/>
          <p:cNvSpPr txBox="true"/>
          <p:nvPr/>
        </p:nvSpPr>
        <p:spPr>
          <a:xfrm rot="0">
            <a:off x="2361856" y="2470934"/>
            <a:ext cx="13564288" cy="3088003"/>
          </a:xfrm>
          <a:prstGeom prst="rect">
            <a:avLst/>
          </a:prstGeom>
        </p:spPr>
        <p:txBody>
          <a:bodyPr anchor="t" rtlCol="false" tIns="0" lIns="0" bIns="0" rIns="0">
            <a:spAutoFit/>
          </a:bodyPr>
          <a:lstStyle/>
          <a:p>
            <a:pPr algn="ctr">
              <a:lnSpc>
                <a:spcPts val="11759"/>
              </a:lnSpc>
            </a:pPr>
            <a:r>
              <a:rPr lang="en-US" sz="10499">
                <a:solidFill>
                  <a:srgbClr val="FF63D8"/>
                </a:solidFill>
                <a:latin typeface="Arcade Gamer"/>
              </a:rPr>
              <a:t>LANDING PAGE OF TBATE</a:t>
            </a:r>
          </a:p>
        </p:txBody>
      </p:sp>
      <p:sp>
        <p:nvSpPr>
          <p:cNvPr name="TextBox 21" id="21"/>
          <p:cNvSpPr txBox="true"/>
          <p:nvPr/>
        </p:nvSpPr>
        <p:spPr>
          <a:xfrm rot="0">
            <a:off x="7428469" y="8589618"/>
            <a:ext cx="3431062" cy="336677"/>
          </a:xfrm>
          <a:prstGeom prst="rect">
            <a:avLst/>
          </a:prstGeom>
        </p:spPr>
        <p:txBody>
          <a:bodyPr anchor="t" rtlCol="false" tIns="0" lIns="0" bIns="0" rIns="0">
            <a:spAutoFit/>
          </a:bodyPr>
          <a:lstStyle/>
          <a:p>
            <a:pPr algn="l">
              <a:lnSpc>
                <a:spcPts val="2463"/>
              </a:lnSpc>
            </a:pPr>
            <a:r>
              <a:rPr lang="en-US" sz="2199">
                <a:solidFill>
                  <a:srgbClr val="585EFF"/>
                </a:solidFill>
                <a:latin typeface="Arcade Gamer"/>
              </a:rPr>
              <a:t>BY VARSHINI 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85970" y="2934751"/>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807632" y="1949135"/>
            <a:ext cx="6451668" cy="10752781"/>
          </a:xfrm>
          <a:custGeom>
            <a:avLst/>
            <a:gdLst/>
            <a:ahLst/>
            <a:cxnLst/>
            <a:rect r="r" b="b" t="t" l="l"/>
            <a:pathLst>
              <a:path h="10752781" w="6451668">
                <a:moveTo>
                  <a:pt x="0" y="0"/>
                </a:moveTo>
                <a:lnTo>
                  <a:pt x="6451668" y="0"/>
                </a:lnTo>
                <a:lnTo>
                  <a:pt x="6451668" y="10752780"/>
                </a:lnTo>
                <a:lnTo>
                  <a:pt x="0" y="1075278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028700" y="5269834"/>
            <a:ext cx="8560485" cy="4255465"/>
            <a:chOff x="0" y="0"/>
            <a:chExt cx="2254613" cy="1120781"/>
          </a:xfrm>
        </p:grpSpPr>
        <p:sp>
          <p:nvSpPr>
            <p:cNvPr name="Freeform 5" id="5"/>
            <p:cNvSpPr/>
            <p:nvPr/>
          </p:nvSpPr>
          <p:spPr>
            <a:xfrm flipH="false" flipV="false" rot="0">
              <a:off x="0" y="0"/>
              <a:ext cx="2254613" cy="1120781"/>
            </a:xfrm>
            <a:custGeom>
              <a:avLst/>
              <a:gdLst/>
              <a:ahLst/>
              <a:cxnLst/>
              <a:rect r="r" b="b" t="t" l="l"/>
              <a:pathLst>
                <a:path h="1120781" w="2254613">
                  <a:moveTo>
                    <a:pt x="44315" y="0"/>
                  </a:moveTo>
                  <a:lnTo>
                    <a:pt x="2210299" y="0"/>
                  </a:lnTo>
                  <a:cubicBezTo>
                    <a:pt x="2222052" y="0"/>
                    <a:pt x="2233323" y="4669"/>
                    <a:pt x="2241634" y="12979"/>
                  </a:cubicBezTo>
                  <a:cubicBezTo>
                    <a:pt x="2249944" y="21290"/>
                    <a:pt x="2254613" y="32562"/>
                    <a:pt x="2254613" y="44315"/>
                  </a:cubicBezTo>
                  <a:lnTo>
                    <a:pt x="2254613" y="1076466"/>
                  </a:lnTo>
                  <a:cubicBezTo>
                    <a:pt x="2254613" y="1100941"/>
                    <a:pt x="2234773" y="1120781"/>
                    <a:pt x="2210299" y="1120781"/>
                  </a:cubicBezTo>
                  <a:lnTo>
                    <a:pt x="44315" y="1120781"/>
                  </a:lnTo>
                  <a:cubicBezTo>
                    <a:pt x="32562" y="1120781"/>
                    <a:pt x="21290" y="1116112"/>
                    <a:pt x="12979" y="1107801"/>
                  </a:cubicBezTo>
                  <a:cubicBezTo>
                    <a:pt x="4669" y="1099491"/>
                    <a:pt x="0" y="1088219"/>
                    <a:pt x="0" y="1076466"/>
                  </a:cubicBezTo>
                  <a:lnTo>
                    <a:pt x="0" y="44315"/>
                  </a:lnTo>
                  <a:cubicBezTo>
                    <a:pt x="0" y="32562"/>
                    <a:pt x="4669" y="21290"/>
                    <a:pt x="12979" y="12979"/>
                  </a:cubicBezTo>
                  <a:cubicBezTo>
                    <a:pt x="21290" y="4669"/>
                    <a:pt x="32562" y="0"/>
                    <a:pt x="44315" y="0"/>
                  </a:cubicBezTo>
                  <a:close/>
                </a:path>
              </a:pathLst>
            </a:custGeom>
            <a:solidFill>
              <a:srgbClr val="000000"/>
            </a:solidFill>
            <a:ln w="47625" cap="rnd">
              <a:solidFill>
                <a:srgbClr val="21EF80"/>
              </a:solidFill>
              <a:prstDash val="solid"/>
              <a:round/>
            </a:ln>
          </p:spPr>
        </p:sp>
        <p:sp>
          <p:nvSpPr>
            <p:cNvPr name="TextBox 6" id="6"/>
            <p:cNvSpPr txBox="true"/>
            <p:nvPr/>
          </p:nvSpPr>
          <p:spPr>
            <a:xfrm>
              <a:off x="0" y="-57150"/>
              <a:ext cx="2254613" cy="1177931"/>
            </a:xfrm>
            <a:prstGeom prst="rect">
              <a:avLst/>
            </a:prstGeom>
          </p:spPr>
          <p:txBody>
            <a:bodyPr anchor="t" rtlCol="false" tIns="254000" lIns="254000" bIns="254000" rIns="254000"/>
            <a:lstStyle/>
            <a:p>
              <a:pPr algn="l">
                <a:lnSpc>
                  <a:spcPts val="3359"/>
                </a:lnSpc>
              </a:pPr>
            </a:p>
            <a:p>
              <a:pPr algn="l">
                <a:lnSpc>
                  <a:spcPts val="3359"/>
                </a:lnSpc>
              </a:pPr>
              <a:r>
                <a:rPr lang="en-US" sz="2399">
                  <a:solidFill>
                    <a:srgbClr val="FFFFFF"/>
                  </a:solidFill>
                  <a:latin typeface="Disket Mono"/>
                </a:rPr>
                <a:t>     purpose of the tbate landing page</a:t>
              </a:r>
            </a:p>
            <a:p>
              <a:pPr algn="l">
                <a:lnSpc>
                  <a:spcPts val="3359"/>
                </a:lnSpc>
              </a:pPr>
            </a:p>
            <a:p>
              <a:pPr algn="l">
                <a:lnSpc>
                  <a:spcPts val="3359"/>
                </a:lnSpc>
              </a:pPr>
              <a:r>
                <a:rPr lang="en-US" sz="2399">
                  <a:solidFill>
                    <a:srgbClr val="FFFFFF"/>
                  </a:solidFill>
                  <a:latin typeface="Disket Mono"/>
                </a:rPr>
                <a:t>     KEY features - summary,</a:t>
              </a:r>
            </a:p>
            <a:p>
              <a:pPr algn="l">
                <a:lnSpc>
                  <a:spcPts val="3359"/>
                </a:lnSpc>
              </a:pPr>
              <a:r>
                <a:rPr lang="en-US" sz="2399">
                  <a:solidFill>
                    <a:srgbClr val="FFFFFF"/>
                  </a:solidFill>
                  <a:latin typeface="Disket Mono"/>
                </a:rPr>
                <a:t>    characters, comincs, download </a:t>
              </a:r>
            </a:p>
            <a:p>
              <a:pPr algn="l">
                <a:lnSpc>
                  <a:spcPts val="3359"/>
                </a:lnSpc>
              </a:pPr>
              <a:r>
                <a:rPr lang="en-US" sz="2399">
                  <a:solidFill>
                    <a:srgbClr val="FFFFFF"/>
                  </a:solidFill>
                  <a:latin typeface="Disket Mono"/>
                </a:rPr>
                <a:t>    links, fan art.</a:t>
              </a:r>
            </a:p>
            <a:p>
              <a:pPr algn="l">
                <a:lnSpc>
                  <a:spcPts val="3359"/>
                </a:lnSpc>
              </a:pPr>
              <a:r>
                <a:rPr lang="en-US" sz="2399">
                  <a:solidFill>
                    <a:srgbClr val="FFFFFF"/>
                  </a:solidFill>
                  <a:latin typeface="Disket Mono"/>
                </a:rPr>
                <a:t> </a:t>
              </a:r>
            </a:p>
            <a:p>
              <a:pPr algn="l">
                <a:lnSpc>
                  <a:spcPts val="3359"/>
                </a:lnSpc>
              </a:pPr>
              <a:r>
                <a:rPr lang="en-US" sz="2399">
                  <a:solidFill>
                    <a:srgbClr val="FFFFFF"/>
                  </a:solidFill>
                  <a:latin typeface="Disket Mono"/>
                </a:rPr>
                <a:t> </a:t>
              </a:r>
            </a:p>
            <a:p>
              <a:pPr algn="l">
                <a:lnSpc>
                  <a:spcPts val="3359"/>
                </a:lnSpc>
              </a:pPr>
            </a:p>
          </p:txBody>
        </p:sp>
      </p:grpSp>
      <p:grpSp>
        <p:nvGrpSpPr>
          <p:cNvPr name="Group 7" id="7"/>
          <p:cNvGrpSpPr>
            <a:grpSpLocks noChangeAspect="true"/>
          </p:cNvGrpSpPr>
          <p:nvPr/>
        </p:nvGrpSpPr>
        <p:grpSpPr>
          <a:xfrm rot="0">
            <a:off x="11050460" y="2191889"/>
            <a:ext cx="5966012" cy="3579607"/>
            <a:chOff x="0" y="0"/>
            <a:chExt cx="6350000" cy="3810000"/>
          </a:xfrm>
        </p:grpSpPr>
        <p:sp>
          <p:nvSpPr>
            <p:cNvPr name="Freeform 8" id="8"/>
            <p:cNvSpPr/>
            <p:nvPr/>
          </p:nvSpPr>
          <p:spPr>
            <a:xfrm flipH="false" flipV="false" rot="0">
              <a:off x="0" y="0"/>
              <a:ext cx="6350000" cy="3810000"/>
            </a:xfrm>
            <a:custGeom>
              <a:avLst/>
              <a:gdLst/>
              <a:ahLst/>
              <a:cxnLst/>
              <a:rect r="r" b="b" t="t" l="l"/>
              <a:pathLst>
                <a:path h="3810000" w="6350000">
                  <a:moveTo>
                    <a:pt x="0" y="3175000"/>
                  </a:moveTo>
                  <a:lnTo>
                    <a:pt x="0" y="635000"/>
                  </a:lnTo>
                  <a:cubicBezTo>
                    <a:pt x="0" y="284480"/>
                    <a:pt x="284480" y="0"/>
                    <a:pt x="635000" y="0"/>
                  </a:cubicBezTo>
                  <a:lnTo>
                    <a:pt x="5715000" y="0"/>
                  </a:lnTo>
                  <a:cubicBezTo>
                    <a:pt x="6065520" y="0"/>
                    <a:pt x="6350000" y="284480"/>
                    <a:pt x="6350000" y="635000"/>
                  </a:cubicBezTo>
                  <a:lnTo>
                    <a:pt x="6350000" y="3175000"/>
                  </a:lnTo>
                  <a:cubicBezTo>
                    <a:pt x="6350000" y="3525520"/>
                    <a:pt x="6065520" y="3810000"/>
                    <a:pt x="5715000" y="3810000"/>
                  </a:cubicBezTo>
                  <a:lnTo>
                    <a:pt x="635000" y="3810000"/>
                  </a:lnTo>
                  <a:cubicBezTo>
                    <a:pt x="284480" y="3810000"/>
                    <a:pt x="0" y="3525520"/>
                    <a:pt x="0" y="3175000"/>
                  </a:cubicBezTo>
                  <a:close/>
                </a:path>
              </a:pathLst>
            </a:custGeom>
            <a:blipFill>
              <a:blip r:embed="rId6"/>
              <a:stretch>
                <a:fillRect l="-18742" t="0" r="-18742" b="0"/>
              </a:stretch>
            </a:blipFill>
          </p:spPr>
        </p:sp>
        <p:sp>
          <p:nvSpPr>
            <p:cNvPr name="Freeform 9" id="9"/>
            <p:cNvSpPr/>
            <p:nvPr/>
          </p:nvSpPr>
          <p:spPr>
            <a:xfrm flipH="false" flipV="false" rot="0">
              <a:off x="0" y="0"/>
              <a:ext cx="6350000" cy="3810000"/>
            </a:xfrm>
            <a:custGeom>
              <a:avLst/>
              <a:gdLst/>
              <a:ahLst/>
              <a:cxnLst/>
              <a:rect r="r" b="b" t="t" l="l"/>
              <a:pathLst>
                <a:path h="3810000" w="6350000">
                  <a:moveTo>
                    <a:pt x="5715000" y="19050"/>
                  </a:moveTo>
                  <a:cubicBezTo>
                    <a:pt x="6054090" y="19050"/>
                    <a:pt x="6330950" y="295910"/>
                    <a:pt x="6330950" y="635000"/>
                  </a:cubicBezTo>
                  <a:lnTo>
                    <a:pt x="6330950" y="3175000"/>
                  </a:lnTo>
                  <a:cubicBezTo>
                    <a:pt x="6330950" y="3514090"/>
                    <a:pt x="6054090" y="3790950"/>
                    <a:pt x="5715000" y="3790950"/>
                  </a:cubicBezTo>
                  <a:lnTo>
                    <a:pt x="635000" y="3790950"/>
                  </a:lnTo>
                  <a:cubicBezTo>
                    <a:pt x="295910" y="3790950"/>
                    <a:pt x="19050" y="3514090"/>
                    <a:pt x="19050" y="3175000"/>
                  </a:cubicBezTo>
                  <a:lnTo>
                    <a:pt x="19050" y="635000"/>
                  </a:lnTo>
                  <a:cubicBezTo>
                    <a:pt x="19050" y="295910"/>
                    <a:pt x="295910" y="19050"/>
                    <a:pt x="635000" y="19050"/>
                  </a:cubicBezTo>
                  <a:lnTo>
                    <a:pt x="5715000" y="19050"/>
                  </a:lnTo>
                  <a:moveTo>
                    <a:pt x="5715000" y="0"/>
                  </a:moveTo>
                  <a:lnTo>
                    <a:pt x="635000" y="0"/>
                  </a:lnTo>
                  <a:cubicBezTo>
                    <a:pt x="284480" y="0"/>
                    <a:pt x="0" y="284480"/>
                    <a:pt x="0" y="635000"/>
                  </a:cubicBezTo>
                  <a:lnTo>
                    <a:pt x="0" y="3175000"/>
                  </a:lnTo>
                  <a:cubicBezTo>
                    <a:pt x="0" y="3525520"/>
                    <a:pt x="284480" y="3810000"/>
                    <a:pt x="635000" y="3810000"/>
                  </a:cubicBezTo>
                  <a:lnTo>
                    <a:pt x="5715000" y="3810000"/>
                  </a:lnTo>
                  <a:cubicBezTo>
                    <a:pt x="6065520" y="3810000"/>
                    <a:pt x="6350000" y="3525520"/>
                    <a:pt x="6350000" y="3175000"/>
                  </a:cubicBezTo>
                  <a:lnTo>
                    <a:pt x="6350000" y="635000"/>
                  </a:lnTo>
                  <a:cubicBezTo>
                    <a:pt x="6350000" y="284480"/>
                    <a:pt x="6065520" y="0"/>
                    <a:pt x="5715000" y="0"/>
                  </a:cubicBezTo>
                  <a:lnTo>
                    <a:pt x="5715000" y="0"/>
                  </a:lnTo>
                  <a:close/>
                </a:path>
              </a:pathLst>
            </a:custGeom>
            <a:solidFill>
              <a:srgbClr val="CB34A5"/>
            </a:solidFill>
          </p:spPr>
        </p:sp>
      </p:grpSp>
      <p:sp>
        <p:nvSpPr>
          <p:cNvPr name="Freeform 10" id="10"/>
          <p:cNvSpPr/>
          <p:nvPr/>
        </p:nvSpPr>
        <p:spPr>
          <a:xfrm flipH="true" flipV="false" rot="0">
            <a:off x="1626131" y="6032413"/>
            <a:ext cx="335928" cy="313329"/>
          </a:xfrm>
          <a:custGeom>
            <a:avLst/>
            <a:gdLst/>
            <a:ahLst/>
            <a:cxnLst/>
            <a:rect r="r" b="b" t="t" l="l"/>
            <a:pathLst>
              <a:path h="313329" w="335928">
                <a:moveTo>
                  <a:pt x="335928" y="0"/>
                </a:moveTo>
                <a:lnTo>
                  <a:pt x="0" y="0"/>
                </a:lnTo>
                <a:lnTo>
                  <a:pt x="0" y="313329"/>
                </a:lnTo>
                <a:lnTo>
                  <a:pt x="335928" y="313329"/>
                </a:lnTo>
                <a:lnTo>
                  <a:pt x="335928" y="0"/>
                </a:lnTo>
                <a:close/>
              </a:path>
            </a:pathLst>
          </a:custGeom>
          <a:blipFill>
            <a:blip r:embed="rId7">
              <a:extLst>
                <a:ext uri="{96DAC541-7B7A-43D3-8B79-37D633B846F1}">
                  <asvg:svgBlip xmlns:asvg="http://schemas.microsoft.com/office/drawing/2016/SVG/main" r:embed="rId8"/>
                </a:ext>
              </a:extLst>
            </a:blip>
            <a:stretch>
              <a:fillRect l="0" t="0" r="0" b="0"/>
            </a:stretch>
          </a:blipFill>
        </p:spPr>
      </p:sp>
      <p:pic>
        <p:nvPicPr>
          <p:cNvPr name="Picture 11" id="11"/>
          <p:cNvPicPr>
            <a:picLocks noChangeAspect="true"/>
          </p:cNvPicPr>
          <p:nvPr/>
        </p:nvPicPr>
        <p:blipFill>
          <a:blip r:embed="rId9"/>
          <a:srcRect l="0" t="0" r="0" b="0"/>
          <a:stretch>
            <a:fillRect/>
          </a:stretch>
        </p:blipFill>
        <p:spPr>
          <a:xfrm flipH="false" flipV="false" rot="0">
            <a:off x="16527434" y="5098352"/>
            <a:ext cx="978075" cy="934061"/>
          </a:xfrm>
          <a:prstGeom prst="rect">
            <a:avLst/>
          </a:prstGeom>
        </p:spPr>
      </p:pic>
      <p:sp>
        <p:nvSpPr>
          <p:cNvPr name="Freeform 12" id="12"/>
          <p:cNvSpPr/>
          <p:nvPr/>
        </p:nvSpPr>
        <p:spPr>
          <a:xfrm flipH="true" flipV="false" rot="0">
            <a:off x="1626131" y="6791698"/>
            <a:ext cx="335928" cy="313329"/>
          </a:xfrm>
          <a:custGeom>
            <a:avLst/>
            <a:gdLst/>
            <a:ahLst/>
            <a:cxnLst/>
            <a:rect r="r" b="b" t="t" l="l"/>
            <a:pathLst>
              <a:path h="313329" w="335928">
                <a:moveTo>
                  <a:pt x="335928" y="0"/>
                </a:moveTo>
                <a:lnTo>
                  <a:pt x="0" y="0"/>
                </a:lnTo>
                <a:lnTo>
                  <a:pt x="0" y="313329"/>
                </a:lnTo>
                <a:lnTo>
                  <a:pt x="335928" y="313329"/>
                </a:lnTo>
                <a:lnTo>
                  <a:pt x="335928"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3" id="13"/>
          <p:cNvSpPr txBox="true"/>
          <p:nvPr/>
        </p:nvSpPr>
        <p:spPr>
          <a:xfrm rot="0">
            <a:off x="957140" y="2691588"/>
            <a:ext cx="8632045" cy="1080770"/>
          </a:xfrm>
          <a:prstGeom prst="rect">
            <a:avLst/>
          </a:prstGeom>
        </p:spPr>
        <p:txBody>
          <a:bodyPr anchor="t" rtlCol="false" tIns="0" lIns="0" bIns="0" rIns="0">
            <a:spAutoFit/>
          </a:bodyPr>
          <a:lstStyle/>
          <a:p>
            <a:pPr algn="l">
              <a:lnSpc>
                <a:spcPts val="7839"/>
              </a:lnSpc>
            </a:pPr>
            <a:r>
              <a:rPr lang="en-US" sz="6999">
                <a:solidFill>
                  <a:srgbClr val="FF63D8"/>
                </a:solidFill>
                <a:latin typeface="Arcade Gamer"/>
              </a:rPr>
              <a:t>INTRODUCTION</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2719050" y="1342020"/>
            <a:ext cx="12849901" cy="1296036"/>
          </a:xfrm>
          <a:prstGeom prst="rect">
            <a:avLst/>
          </a:prstGeom>
        </p:spPr>
        <p:txBody>
          <a:bodyPr anchor="t" rtlCol="false" tIns="0" lIns="0" bIns="0" rIns="0">
            <a:spAutoFit/>
          </a:bodyPr>
          <a:lstStyle/>
          <a:p>
            <a:pPr algn="ctr">
              <a:lnSpc>
                <a:spcPts val="9520"/>
              </a:lnSpc>
            </a:pPr>
            <a:r>
              <a:rPr lang="en-US" sz="8500">
                <a:solidFill>
                  <a:srgbClr val="FF63D8"/>
                </a:solidFill>
                <a:latin typeface="Arcade Gamer"/>
              </a:rPr>
              <a:t>HTML STRUCTURE</a:t>
            </a:r>
          </a:p>
        </p:txBody>
      </p:sp>
      <p:grpSp>
        <p:nvGrpSpPr>
          <p:cNvPr name="Group 3" id="3"/>
          <p:cNvGrpSpPr/>
          <p:nvPr/>
        </p:nvGrpSpPr>
        <p:grpSpPr>
          <a:xfrm rot="0">
            <a:off x="2072580" y="3163391"/>
            <a:ext cx="14142840" cy="6094909"/>
            <a:chOff x="0" y="0"/>
            <a:chExt cx="3724863" cy="1605244"/>
          </a:xfrm>
        </p:grpSpPr>
        <p:sp>
          <p:nvSpPr>
            <p:cNvPr name="Freeform 4" id="4"/>
            <p:cNvSpPr/>
            <p:nvPr/>
          </p:nvSpPr>
          <p:spPr>
            <a:xfrm flipH="false" flipV="false" rot="0">
              <a:off x="0" y="0"/>
              <a:ext cx="3724863" cy="1605244"/>
            </a:xfrm>
            <a:custGeom>
              <a:avLst/>
              <a:gdLst/>
              <a:ahLst/>
              <a:cxnLst/>
              <a:rect r="r" b="b" t="t" l="l"/>
              <a:pathLst>
                <a:path h="1605244" w="3724863">
                  <a:moveTo>
                    <a:pt x="11496" y="0"/>
                  </a:moveTo>
                  <a:lnTo>
                    <a:pt x="3713368" y="0"/>
                  </a:lnTo>
                  <a:cubicBezTo>
                    <a:pt x="3716417" y="0"/>
                    <a:pt x="3719340" y="1211"/>
                    <a:pt x="3721496" y="3367"/>
                  </a:cubicBezTo>
                  <a:cubicBezTo>
                    <a:pt x="3723652" y="5523"/>
                    <a:pt x="3724863" y="8447"/>
                    <a:pt x="3724863" y="11496"/>
                  </a:cubicBezTo>
                  <a:lnTo>
                    <a:pt x="3724863" y="1593748"/>
                  </a:lnTo>
                  <a:cubicBezTo>
                    <a:pt x="3724863" y="1596797"/>
                    <a:pt x="3723652" y="1599721"/>
                    <a:pt x="3721496" y="1601877"/>
                  </a:cubicBezTo>
                  <a:cubicBezTo>
                    <a:pt x="3719340" y="1604032"/>
                    <a:pt x="3716417" y="1605244"/>
                    <a:pt x="3713368" y="1605244"/>
                  </a:cubicBezTo>
                  <a:lnTo>
                    <a:pt x="11496" y="1605244"/>
                  </a:lnTo>
                  <a:cubicBezTo>
                    <a:pt x="8447" y="1605244"/>
                    <a:pt x="5523" y="1604032"/>
                    <a:pt x="3367" y="1601877"/>
                  </a:cubicBezTo>
                  <a:cubicBezTo>
                    <a:pt x="1211" y="1599721"/>
                    <a:pt x="0" y="1596797"/>
                    <a:pt x="0" y="1593748"/>
                  </a:cubicBezTo>
                  <a:lnTo>
                    <a:pt x="0" y="11496"/>
                  </a:lnTo>
                  <a:cubicBezTo>
                    <a:pt x="0" y="8447"/>
                    <a:pt x="1211" y="5523"/>
                    <a:pt x="3367" y="3367"/>
                  </a:cubicBezTo>
                  <a:cubicBezTo>
                    <a:pt x="5523" y="1211"/>
                    <a:pt x="8447" y="0"/>
                    <a:pt x="11496" y="0"/>
                  </a:cubicBezTo>
                  <a:close/>
                </a:path>
              </a:pathLst>
            </a:custGeom>
            <a:solidFill>
              <a:srgbClr val="000000"/>
            </a:solidFill>
            <a:ln w="47625" cap="rnd">
              <a:solidFill>
                <a:srgbClr val="21EF80"/>
              </a:solidFill>
              <a:prstDash val="solid"/>
              <a:round/>
            </a:ln>
          </p:spPr>
        </p:sp>
        <p:sp>
          <p:nvSpPr>
            <p:cNvPr name="TextBox 5" id="5"/>
            <p:cNvSpPr txBox="true"/>
            <p:nvPr/>
          </p:nvSpPr>
          <p:spPr>
            <a:xfrm>
              <a:off x="0" y="-57150"/>
              <a:ext cx="3724863" cy="1662394"/>
            </a:xfrm>
            <a:prstGeom prst="rect">
              <a:avLst/>
            </a:prstGeom>
          </p:spPr>
          <p:txBody>
            <a:bodyPr anchor="t" rtlCol="false" tIns="254000" lIns="254000" bIns="254000" rIns="254000"/>
            <a:lstStyle/>
            <a:p>
              <a:pPr algn="l">
                <a:lnSpc>
                  <a:spcPts val="3359"/>
                </a:lnSpc>
              </a:pPr>
            </a:p>
            <a:p>
              <a:pPr algn="l">
                <a:lnSpc>
                  <a:spcPts val="3359"/>
                </a:lnSpc>
              </a:pPr>
              <a:r>
                <a:rPr lang="en-US" sz="2400">
                  <a:solidFill>
                    <a:srgbClr val="FFFFFF"/>
                  </a:solidFill>
                  <a:latin typeface="Disket Mono"/>
                </a:rPr>
                <a:t>  </a:t>
              </a:r>
            </a:p>
          </p:txBody>
        </p:sp>
      </p:grpSp>
      <p:sp>
        <p:nvSpPr>
          <p:cNvPr name="TextBox 6" id="6"/>
          <p:cNvSpPr txBox="true"/>
          <p:nvPr/>
        </p:nvSpPr>
        <p:spPr>
          <a:xfrm rot="0">
            <a:off x="2583996" y="3394710"/>
            <a:ext cx="13120008" cy="5444490"/>
          </a:xfrm>
          <a:prstGeom prst="rect">
            <a:avLst/>
          </a:prstGeom>
        </p:spPr>
        <p:txBody>
          <a:bodyPr anchor="t" rtlCol="false" tIns="0" lIns="0" bIns="0" rIns="0">
            <a:spAutoFit/>
          </a:bodyPr>
          <a:lstStyle/>
          <a:p>
            <a:pPr algn="l">
              <a:lnSpc>
                <a:spcPts val="3360"/>
              </a:lnSpc>
            </a:pPr>
            <a:r>
              <a:rPr lang="en-US" sz="2400">
                <a:solidFill>
                  <a:srgbClr val="FFFFFF"/>
                </a:solidFill>
                <a:latin typeface="Disket Mono"/>
              </a:rPr>
              <a:t>The HTML file is structured into key sections to organize the content effectively. It includes:</a:t>
            </a:r>
          </a:p>
          <a:p>
            <a:pPr algn="l">
              <a:lnSpc>
                <a:spcPts val="3360"/>
              </a:lnSpc>
            </a:pPr>
          </a:p>
          <a:p>
            <a:pPr algn="l" marL="518163" indent="-259082" lvl="1">
              <a:lnSpc>
                <a:spcPts val="3360"/>
              </a:lnSpc>
              <a:buFont typeface="Arial"/>
              <a:buChar char="•"/>
            </a:pPr>
            <a:r>
              <a:rPr lang="en-US" sz="2400">
                <a:solidFill>
                  <a:srgbClr val="FFFFFF"/>
                </a:solidFill>
                <a:latin typeface="Disket Mono"/>
              </a:rPr>
              <a:t>Header: Contains the logo and navigation links.</a:t>
            </a:r>
          </a:p>
          <a:p>
            <a:pPr algn="l" marL="518163" indent="-259082" lvl="1">
              <a:lnSpc>
                <a:spcPts val="3360"/>
              </a:lnSpc>
              <a:buFont typeface="Arial"/>
              <a:buChar char="•"/>
            </a:pPr>
            <a:r>
              <a:rPr lang="en-US" sz="2400">
                <a:solidFill>
                  <a:srgbClr val="FFFFFF"/>
                </a:solidFill>
                <a:latin typeface="Disket Mono"/>
              </a:rPr>
              <a:t>Hero Section: Features a title and a call-to-action button.</a:t>
            </a:r>
          </a:p>
          <a:p>
            <a:pPr algn="l" marL="518163" indent="-259082" lvl="1">
              <a:lnSpc>
                <a:spcPts val="3360"/>
              </a:lnSpc>
              <a:buFont typeface="Arial"/>
              <a:buChar char="•"/>
            </a:pPr>
            <a:r>
              <a:rPr lang="en-US" sz="2400">
                <a:solidFill>
                  <a:srgbClr val="FFFFFF"/>
                </a:solidFill>
                <a:latin typeface="Disket Mono"/>
              </a:rPr>
              <a:t>Summary Section: Provides an overview of the story.</a:t>
            </a:r>
          </a:p>
          <a:p>
            <a:pPr algn="l" marL="518163" indent="-259082" lvl="1">
              <a:lnSpc>
                <a:spcPts val="3360"/>
              </a:lnSpc>
              <a:buFont typeface="Arial"/>
              <a:buChar char="•"/>
            </a:pPr>
            <a:r>
              <a:rPr lang="en-US" sz="2400">
                <a:solidFill>
                  <a:srgbClr val="FFFFFF"/>
                </a:solidFill>
                <a:latin typeface="Disket Mono"/>
              </a:rPr>
              <a:t>Characters Section: Displays the main characters with images and descriptions.</a:t>
            </a:r>
          </a:p>
          <a:p>
            <a:pPr algn="l" marL="518163" indent="-259082" lvl="1">
              <a:lnSpc>
                <a:spcPts val="3360"/>
              </a:lnSpc>
              <a:buFont typeface="Arial"/>
              <a:buChar char="•"/>
            </a:pPr>
            <a:r>
              <a:rPr lang="en-US" sz="2400">
                <a:solidFill>
                  <a:srgbClr val="FFFFFF"/>
                </a:solidFill>
                <a:latin typeface="Disket Mono"/>
              </a:rPr>
              <a:t>Comics Section: Includes a link to the comic adaptation.</a:t>
            </a:r>
          </a:p>
          <a:p>
            <a:pPr algn="l" marL="518163" indent="-259082" lvl="1">
              <a:lnSpc>
                <a:spcPts val="3360"/>
              </a:lnSpc>
              <a:buFont typeface="Arial"/>
              <a:buChar char="•"/>
            </a:pPr>
            <a:r>
              <a:rPr lang="en-US" sz="2400">
                <a:solidFill>
                  <a:srgbClr val="FFFFFF"/>
                </a:solidFill>
                <a:latin typeface="Disket Mono"/>
              </a:rPr>
              <a:t>Download Section: Provides a link to download the ePub version.</a:t>
            </a:r>
          </a:p>
          <a:p>
            <a:pPr algn="l" marL="518163" indent="-259082" lvl="1">
              <a:lnSpc>
                <a:spcPts val="3360"/>
              </a:lnSpc>
              <a:buFont typeface="Arial"/>
              <a:buChar char="•"/>
            </a:pPr>
            <a:r>
              <a:rPr lang="en-US" sz="2400">
                <a:solidFill>
                  <a:srgbClr val="FFFFFF"/>
                </a:solidFill>
                <a:latin typeface="Disket Mono"/>
              </a:rPr>
              <a:t>Fan Art Section: Showcases fan art images.</a:t>
            </a:r>
          </a:p>
          <a:p>
            <a:pPr algn="l" marL="518163" indent="-259082" lvl="1">
              <a:lnSpc>
                <a:spcPts val="3360"/>
              </a:lnSpc>
              <a:buFont typeface="Arial"/>
              <a:buChar char="•"/>
            </a:pPr>
            <a:r>
              <a:rPr lang="en-US" sz="2400">
                <a:solidFill>
                  <a:srgbClr val="FFFFFF"/>
                </a:solidFill>
                <a:latin typeface="Disket Mono"/>
              </a:rPr>
              <a:t>Footer: Contains copyright information.</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2719050" y="1342020"/>
            <a:ext cx="12849901" cy="1296036"/>
          </a:xfrm>
          <a:prstGeom prst="rect">
            <a:avLst/>
          </a:prstGeom>
        </p:spPr>
        <p:txBody>
          <a:bodyPr anchor="t" rtlCol="false" tIns="0" lIns="0" bIns="0" rIns="0">
            <a:spAutoFit/>
          </a:bodyPr>
          <a:lstStyle/>
          <a:p>
            <a:pPr algn="ctr">
              <a:lnSpc>
                <a:spcPts val="9520"/>
              </a:lnSpc>
            </a:pPr>
            <a:r>
              <a:rPr lang="en-US" sz="8500">
                <a:solidFill>
                  <a:srgbClr val="FF63D8"/>
                </a:solidFill>
                <a:latin typeface="Arcade Gamer"/>
              </a:rPr>
              <a:t>CSS STYLING</a:t>
            </a:r>
          </a:p>
        </p:txBody>
      </p:sp>
      <p:grpSp>
        <p:nvGrpSpPr>
          <p:cNvPr name="Group 3" id="3"/>
          <p:cNvGrpSpPr/>
          <p:nvPr/>
        </p:nvGrpSpPr>
        <p:grpSpPr>
          <a:xfrm rot="0">
            <a:off x="2072580" y="3670374"/>
            <a:ext cx="14142840" cy="3999409"/>
            <a:chOff x="0" y="0"/>
            <a:chExt cx="3724863" cy="1053342"/>
          </a:xfrm>
        </p:grpSpPr>
        <p:sp>
          <p:nvSpPr>
            <p:cNvPr name="Freeform 4" id="4"/>
            <p:cNvSpPr/>
            <p:nvPr/>
          </p:nvSpPr>
          <p:spPr>
            <a:xfrm flipH="false" flipV="false" rot="0">
              <a:off x="0" y="0"/>
              <a:ext cx="3724863" cy="1053342"/>
            </a:xfrm>
            <a:custGeom>
              <a:avLst/>
              <a:gdLst/>
              <a:ahLst/>
              <a:cxnLst/>
              <a:rect r="r" b="b" t="t" l="l"/>
              <a:pathLst>
                <a:path h="1053342" w="3724863">
                  <a:moveTo>
                    <a:pt x="11496" y="0"/>
                  </a:moveTo>
                  <a:lnTo>
                    <a:pt x="3713368" y="0"/>
                  </a:lnTo>
                  <a:cubicBezTo>
                    <a:pt x="3716417" y="0"/>
                    <a:pt x="3719340" y="1211"/>
                    <a:pt x="3721496" y="3367"/>
                  </a:cubicBezTo>
                  <a:cubicBezTo>
                    <a:pt x="3723652" y="5523"/>
                    <a:pt x="3724863" y="8447"/>
                    <a:pt x="3724863" y="11496"/>
                  </a:cubicBezTo>
                  <a:lnTo>
                    <a:pt x="3724863" y="1041847"/>
                  </a:lnTo>
                  <a:cubicBezTo>
                    <a:pt x="3724863" y="1044896"/>
                    <a:pt x="3723652" y="1047820"/>
                    <a:pt x="3721496" y="1049975"/>
                  </a:cubicBezTo>
                  <a:cubicBezTo>
                    <a:pt x="3719340" y="1052131"/>
                    <a:pt x="3716417" y="1053342"/>
                    <a:pt x="3713368" y="1053342"/>
                  </a:cubicBezTo>
                  <a:lnTo>
                    <a:pt x="11496" y="1053342"/>
                  </a:lnTo>
                  <a:cubicBezTo>
                    <a:pt x="8447" y="1053342"/>
                    <a:pt x="5523" y="1052131"/>
                    <a:pt x="3367" y="1049975"/>
                  </a:cubicBezTo>
                  <a:cubicBezTo>
                    <a:pt x="1211" y="1047820"/>
                    <a:pt x="0" y="1044896"/>
                    <a:pt x="0" y="1041847"/>
                  </a:cubicBezTo>
                  <a:lnTo>
                    <a:pt x="0" y="11496"/>
                  </a:lnTo>
                  <a:cubicBezTo>
                    <a:pt x="0" y="8447"/>
                    <a:pt x="1211" y="5523"/>
                    <a:pt x="3367" y="3367"/>
                  </a:cubicBezTo>
                  <a:cubicBezTo>
                    <a:pt x="5523" y="1211"/>
                    <a:pt x="8447" y="0"/>
                    <a:pt x="11496" y="0"/>
                  </a:cubicBezTo>
                  <a:close/>
                </a:path>
              </a:pathLst>
            </a:custGeom>
            <a:solidFill>
              <a:srgbClr val="000000"/>
            </a:solidFill>
            <a:ln w="47625" cap="rnd">
              <a:solidFill>
                <a:srgbClr val="21EF80"/>
              </a:solidFill>
              <a:prstDash val="solid"/>
              <a:round/>
            </a:ln>
          </p:spPr>
        </p:sp>
        <p:sp>
          <p:nvSpPr>
            <p:cNvPr name="TextBox 5" id="5"/>
            <p:cNvSpPr txBox="true"/>
            <p:nvPr/>
          </p:nvSpPr>
          <p:spPr>
            <a:xfrm>
              <a:off x="0" y="-57150"/>
              <a:ext cx="3724863" cy="1110492"/>
            </a:xfrm>
            <a:prstGeom prst="rect">
              <a:avLst/>
            </a:prstGeom>
          </p:spPr>
          <p:txBody>
            <a:bodyPr anchor="t" rtlCol="false" tIns="254000" lIns="254000" bIns="254000" rIns="254000"/>
            <a:lstStyle/>
            <a:p>
              <a:pPr algn="l">
                <a:lnSpc>
                  <a:spcPts val="3359"/>
                </a:lnSpc>
              </a:pPr>
            </a:p>
            <a:p>
              <a:pPr algn="l">
                <a:lnSpc>
                  <a:spcPts val="3359"/>
                </a:lnSpc>
              </a:pPr>
              <a:r>
                <a:rPr lang="en-US" sz="2400">
                  <a:solidFill>
                    <a:srgbClr val="FFFFFF"/>
                  </a:solidFill>
                  <a:latin typeface="Disket Mono"/>
                </a:rPr>
                <a:t>  </a:t>
              </a:r>
            </a:p>
          </p:txBody>
        </p:sp>
      </p:grpSp>
      <p:sp>
        <p:nvSpPr>
          <p:cNvPr name="TextBox 6" id="6"/>
          <p:cNvSpPr txBox="true"/>
          <p:nvPr/>
        </p:nvSpPr>
        <p:spPr>
          <a:xfrm rot="0">
            <a:off x="2583996" y="3901694"/>
            <a:ext cx="13120008" cy="3768090"/>
          </a:xfrm>
          <a:prstGeom prst="rect">
            <a:avLst/>
          </a:prstGeom>
        </p:spPr>
        <p:txBody>
          <a:bodyPr anchor="t" rtlCol="false" tIns="0" lIns="0" bIns="0" rIns="0">
            <a:spAutoFit/>
          </a:bodyPr>
          <a:lstStyle/>
          <a:p>
            <a:pPr algn="l">
              <a:lnSpc>
                <a:spcPts val="3360"/>
              </a:lnSpc>
            </a:pPr>
            <a:r>
              <a:rPr lang="en-US" sz="2400">
                <a:solidFill>
                  <a:srgbClr val="FFFFFF"/>
                </a:solidFill>
                <a:latin typeface="Disket Mono"/>
              </a:rPr>
              <a:t>The CSS file defines the styles for layout and design. Key CSS rules include:</a:t>
            </a:r>
          </a:p>
          <a:p>
            <a:pPr algn="l" marL="518163" indent="-259082" lvl="1">
              <a:lnSpc>
                <a:spcPts val="3360"/>
              </a:lnSpc>
              <a:buFont typeface="Arial"/>
              <a:buChar char="•"/>
            </a:pPr>
            <a:r>
              <a:rPr lang="en-US" sz="2400">
                <a:solidFill>
                  <a:srgbClr val="FFFFFF"/>
                </a:solidFill>
                <a:latin typeface="Disket Mono"/>
              </a:rPr>
              <a:t>Fl</a:t>
            </a:r>
            <a:r>
              <a:rPr lang="en-US" sz="2400">
                <a:solidFill>
                  <a:srgbClr val="FFFFFF"/>
                </a:solidFill>
                <a:latin typeface="Disket Mono"/>
              </a:rPr>
              <a:t>exbox: Used for alignment and spacing in various sections.</a:t>
            </a:r>
          </a:p>
          <a:p>
            <a:pPr algn="l" marL="518163" indent="-259082" lvl="1">
              <a:lnSpc>
                <a:spcPts val="3360"/>
              </a:lnSpc>
              <a:buFont typeface="Arial"/>
              <a:buChar char="•"/>
            </a:pPr>
            <a:r>
              <a:rPr lang="en-US" sz="2400">
                <a:solidFill>
                  <a:srgbClr val="FFFFFF"/>
                </a:solidFill>
                <a:latin typeface="Disket Mono"/>
              </a:rPr>
              <a:t>Background Images and Colors: Enhance the visual appeal.</a:t>
            </a:r>
          </a:p>
          <a:p>
            <a:pPr algn="l" marL="518163" indent="-259082" lvl="1">
              <a:lnSpc>
                <a:spcPts val="3360"/>
              </a:lnSpc>
              <a:buFont typeface="Arial"/>
              <a:buChar char="•"/>
            </a:pPr>
            <a:r>
              <a:rPr lang="en-US" sz="2400">
                <a:solidFill>
                  <a:srgbClr val="FFFFFF"/>
                </a:solidFill>
                <a:latin typeface="Disket Mono"/>
              </a:rPr>
              <a:t>Butt</a:t>
            </a:r>
            <a:r>
              <a:rPr lang="en-US" sz="2400">
                <a:solidFill>
                  <a:srgbClr val="FFFFFF"/>
                </a:solidFill>
                <a:latin typeface="Disket Mono"/>
              </a:rPr>
              <a:t>on Styling: Makes the call-to-action buttons stand out.</a:t>
            </a:r>
          </a:p>
          <a:p>
            <a:pPr algn="l" marL="518163" indent="-259082" lvl="1">
              <a:lnSpc>
                <a:spcPts val="3360"/>
              </a:lnSpc>
              <a:buFont typeface="Arial"/>
              <a:buChar char="•"/>
            </a:pPr>
            <a:r>
              <a:rPr lang="en-US" sz="2400">
                <a:solidFill>
                  <a:srgbClr val="FFFFFF"/>
                </a:solidFill>
                <a:latin typeface="Disket Mono"/>
              </a:rPr>
              <a:t>Responsive Design: Ensures the page looks good on different screen sizes.</a:t>
            </a:r>
          </a:p>
          <a:p>
            <a:pPr algn="l">
              <a:lnSpc>
                <a:spcPts val="3360"/>
              </a:lnSpc>
            </a:pP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2719050" y="741945"/>
            <a:ext cx="12849901" cy="2496186"/>
          </a:xfrm>
          <a:prstGeom prst="rect">
            <a:avLst/>
          </a:prstGeom>
        </p:spPr>
        <p:txBody>
          <a:bodyPr anchor="t" rtlCol="false" tIns="0" lIns="0" bIns="0" rIns="0">
            <a:spAutoFit/>
          </a:bodyPr>
          <a:lstStyle/>
          <a:p>
            <a:pPr algn="ctr">
              <a:lnSpc>
                <a:spcPts val="9520"/>
              </a:lnSpc>
            </a:pPr>
            <a:r>
              <a:rPr lang="en-US" sz="8500">
                <a:solidFill>
                  <a:srgbClr val="FF63D8"/>
                </a:solidFill>
                <a:latin typeface="Arcade Gamer"/>
              </a:rPr>
              <a:t>ENHANCEMENTS AND AESTHETICS</a:t>
            </a:r>
          </a:p>
        </p:txBody>
      </p:sp>
      <p:grpSp>
        <p:nvGrpSpPr>
          <p:cNvPr name="Group 3" id="3"/>
          <p:cNvGrpSpPr/>
          <p:nvPr/>
        </p:nvGrpSpPr>
        <p:grpSpPr>
          <a:xfrm rot="0">
            <a:off x="2072580" y="3831502"/>
            <a:ext cx="14424814" cy="5426798"/>
            <a:chOff x="0" y="0"/>
            <a:chExt cx="3799128" cy="1429280"/>
          </a:xfrm>
        </p:grpSpPr>
        <p:sp>
          <p:nvSpPr>
            <p:cNvPr name="Freeform 4" id="4"/>
            <p:cNvSpPr/>
            <p:nvPr/>
          </p:nvSpPr>
          <p:spPr>
            <a:xfrm flipH="false" flipV="false" rot="0">
              <a:off x="0" y="0"/>
              <a:ext cx="3799128" cy="1429280"/>
            </a:xfrm>
            <a:custGeom>
              <a:avLst/>
              <a:gdLst/>
              <a:ahLst/>
              <a:cxnLst/>
              <a:rect r="r" b="b" t="t" l="l"/>
              <a:pathLst>
                <a:path h="1429280" w="3799128">
                  <a:moveTo>
                    <a:pt x="11271" y="0"/>
                  </a:moveTo>
                  <a:lnTo>
                    <a:pt x="3787857" y="0"/>
                  </a:lnTo>
                  <a:cubicBezTo>
                    <a:pt x="3790846" y="0"/>
                    <a:pt x="3793713" y="1187"/>
                    <a:pt x="3795826" y="3301"/>
                  </a:cubicBezTo>
                  <a:cubicBezTo>
                    <a:pt x="3797940" y="5415"/>
                    <a:pt x="3799128" y="8282"/>
                    <a:pt x="3799128" y="11271"/>
                  </a:cubicBezTo>
                  <a:lnTo>
                    <a:pt x="3799128" y="1418009"/>
                  </a:lnTo>
                  <a:cubicBezTo>
                    <a:pt x="3799128" y="1420998"/>
                    <a:pt x="3797940" y="1423865"/>
                    <a:pt x="3795826" y="1425979"/>
                  </a:cubicBezTo>
                  <a:cubicBezTo>
                    <a:pt x="3793713" y="1428093"/>
                    <a:pt x="3790846" y="1429280"/>
                    <a:pt x="3787857" y="1429280"/>
                  </a:cubicBezTo>
                  <a:lnTo>
                    <a:pt x="11271" y="1429280"/>
                  </a:lnTo>
                  <a:cubicBezTo>
                    <a:pt x="8282" y="1429280"/>
                    <a:pt x="5415" y="1428093"/>
                    <a:pt x="3301" y="1425979"/>
                  </a:cubicBezTo>
                  <a:cubicBezTo>
                    <a:pt x="1187" y="1423865"/>
                    <a:pt x="0" y="1420998"/>
                    <a:pt x="0" y="1418009"/>
                  </a:cubicBezTo>
                  <a:lnTo>
                    <a:pt x="0" y="11271"/>
                  </a:lnTo>
                  <a:cubicBezTo>
                    <a:pt x="0" y="8282"/>
                    <a:pt x="1187" y="5415"/>
                    <a:pt x="3301" y="3301"/>
                  </a:cubicBezTo>
                  <a:cubicBezTo>
                    <a:pt x="5415" y="1187"/>
                    <a:pt x="8282" y="0"/>
                    <a:pt x="11271" y="0"/>
                  </a:cubicBezTo>
                  <a:close/>
                </a:path>
              </a:pathLst>
            </a:custGeom>
            <a:solidFill>
              <a:srgbClr val="000000"/>
            </a:solidFill>
            <a:ln w="47625" cap="rnd">
              <a:solidFill>
                <a:srgbClr val="21EF80"/>
              </a:solidFill>
              <a:prstDash val="solid"/>
              <a:round/>
            </a:ln>
          </p:spPr>
        </p:sp>
        <p:sp>
          <p:nvSpPr>
            <p:cNvPr name="TextBox 5" id="5"/>
            <p:cNvSpPr txBox="true"/>
            <p:nvPr/>
          </p:nvSpPr>
          <p:spPr>
            <a:xfrm>
              <a:off x="0" y="-57150"/>
              <a:ext cx="3799128" cy="1486430"/>
            </a:xfrm>
            <a:prstGeom prst="rect">
              <a:avLst/>
            </a:prstGeom>
          </p:spPr>
          <p:txBody>
            <a:bodyPr anchor="t" rtlCol="false" tIns="254000" lIns="254000" bIns="254000" rIns="254000"/>
            <a:lstStyle/>
            <a:p>
              <a:pPr algn="l">
                <a:lnSpc>
                  <a:spcPts val="3359"/>
                </a:lnSpc>
              </a:pPr>
            </a:p>
            <a:p>
              <a:pPr algn="l">
                <a:lnSpc>
                  <a:spcPts val="3359"/>
                </a:lnSpc>
              </a:pPr>
              <a:r>
                <a:rPr lang="en-US" sz="2400">
                  <a:solidFill>
                    <a:srgbClr val="FFFFFF"/>
                  </a:solidFill>
                  <a:latin typeface="Disket Mono"/>
                </a:rPr>
                <a:t>  </a:t>
              </a:r>
            </a:p>
          </p:txBody>
        </p:sp>
      </p:grpSp>
      <p:sp>
        <p:nvSpPr>
          <p:cNvPr name="TextBox 6" id="6"/>
          <p:cNvSpPr txBox="true"/>
          <p:nvPr/>
        </p:nvSpPr>
        <p:spPr>
          <a:xfrm rot="0">
            <a:off x="2583996" y="4271952"/>
            <a:ext cx="13120008" cy="4606290"/>
          </a:xfrm>
          <a:prstGeom prst="rect">
            <a:avLst/>
          </a:prstGeom>
        </p:spPr>
        <p:txBody>
          <a:bodyPr anchor="t" rtlCol="false" tIns="0" lIns="0" bIns="0" rIns="0">
            <a:spAutoFit/>
          </a:bodyPr>
          <a:lstStyle/>
          <a:p>
            <a:pPr algn="l">
              <a:lnSpc>
                <a:spcPts val="3360"/>
              </a:lnSpc>
            </a:pPr>
            <a:r>
              <a:rPr lang="en-US" sz="2400">
                <a:solidFill>
                  <a:srgbClr val="FFFFFF"/>
                </a:solidFill>
                <a:latin typeface="Disket Mono"/>
              </a:rPr>
              <a:t>To enhance the aesthetics of the landing page, several visual improvements were made:</a:t>
            </a:r>
          </a:p>
          <a:p>
            <a:pPr algn="l">
              <a:lnSpc>
                <a:spcPts val="3360"/>
              </a:lnSpc>
            </a:pPr>
          </a:p>
          <a:p>
            <a:pPr algn="l" marL="518163" indent="-259082" lvl="1">
              <a:lnSpc>
                <a:spcPts val="3360"/>
              </a:lnSpc>
              <a:buFont typeface="Arial"/>
              <a:buChar char="•"/>
            </a:pPr>
            <a:r>
              <a:rPr lang="en-US" sz="2400">
                <a:solidFill>
                  <a:srgbClr val="FFFFFF"/>
                </a:solidFill>
                <a:latin typeface="Disket Mono"/>
              </a:rPr>
              <a:t>Background Image: A subtle background image adds depth to the page.</a:t>
            </a:r>
          </a:p>
          <a:p>
            <a:pPr algn="l" marL="518163" indent="-259082" lvl="1">
              <a:lnSpc>
                <a:spcPts val="3360"/>
              </a:lnSpc>
              <a:buFont typeface="Arial"/>
              <a:buChar char="•"/>
            </a:pPr>
            <a:r>
              <a:rPr lang="en-US" sz="2400">
                <a:solidFill>
                  <a:srgbClr val="FFFFFF"/>
                </a:solidFill>
                <a:latin typeface="Disket Mono"/>
              </a:rPr>
              <a:t>Gradient Overlay: Applied to the hero section for a modern and dynamic look.</a:t>
            </a:r>
          </a:p>
          <a:p>
            <a:pPr algn="l" marL="518163" indent="-259082" lvl="1">
              <a:lnSpc>
                <a:spcPts val="3360"/>
              </a:lnSpc>
              <a:buFont typeface="Arial"/>
              <a:buChar char="•"/>
            </a:pPr>
            <a:r>
              <a:rPr lang="en-US" sz="2400">
                <a:solidFill>
                  <a:srgbClr val="FFFFFF"/>
                </a:solidFill>
                <a:latin typeface="Disket Mono"/>
              </a:rPr>
              <a:t>Button Hover Effects: Provide visual feedback when users interact with buttons.</a:t>
            </a:r>
          </a:p>
          <a:p>
            <a:pPr algn="l" marL="518163" indent="-259082" lvl="1">
              <a:lnSpc>
                <a:spcPts val="3360"/>
              </a:lnSpc>
              <a:buFont typeface="Arial"/>
              <a:buChar char="•"/>
            </a:pPr>
            <a:r>
              <a:rPr lang="en-US" sz="2400">
                <a:solidFill>
                  <a:srgbClr val="FFFFFF"/>
                </a:solidFill>
                <a:latin typeface="Disket Mono"/>
              </a:rPr>
              <a:t>Typography: Consistent font styles and sizes improve readability and visual consistency.</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2719050" y="741945"/>
            <a:ext cx="12849901" cy="2496186"/>
          </a:xfrm>
          <a:prstGeom prst="rect">
            <a:avLst/>
          </a:prstGeom>
        </p:spPr>
        <p:txBody>
          <a:bodyPr anchor="t" rtlCol="false" tIns="0" lIns="0" bIns="0" rIns="0">
            <a:spAutoFit/>
          </a:bodyPr>
          <a:lstStyle/>
          <a:p>
            <a:pPr algn="ctr">
              <a:lnSpc>
                <a:spcPts val="9520"/>
              </a:lnSpc>
            </a:pPr>
            <a:r>
              <a:rPr lang="en-US" sz="8500">
                <a:solidFill>
                  <a:srgbClr val="FF63D8"/>
                </a:solidFill>
                <a:latin typeface="Arcade Gamer"/>
              </a:rPr>
              <a:t>INTERACTIVE ELEMENTS</a:t>
            </a:r>
          </a:p>
        </p:txBody>
      </p:sp>
      <p:grpSp>
        <p:nvGrpSpPr>
          <p:cNvPr name="Group 3" id="3"/>
          <p:cNvGrpSpPr/>
          <p:nvPr/>
        </p:nvGrpSpPr>
        <p:grpSpPr>
          <a:xfrm rot="0">
            <a:off x="2072580" y="3670374"/>
            <a:ext cx="14142840" cy="3999409"/>
            <a:chOff x="0" y="0"/>
            <a:chExt cx="3724863" cy="1053342"/>
          </a:xfrm>
        </p:grpSpPr>
        <p:sp>
          <p:nvSpPr>
            <p:cNvPr name="Freeform 4" id="4"/>
            <p:cNvSpPr/>
            <p:nvPr/>
          </p:nvSpPr>
          <p:spPr>
            <a:xfrm flipH="false" flipV="false" rot="0">
              <a:off x="0" y="0"/>
              <a:ext cx="3724863" cy="1053342"/>
            </a:xfrm>
            <a:custGeom>
              <a:avLst/>
              <a:gdLst/>
              <a:ahLst/>
              <a:cxnLst/>
              <a:rect r="r" b="b" t="t" l="l"/>
              <a:pathLst>
                <a:path h="1053342" w="3724863">
                  <a:moveTo>
                    <a:pt x="11496" y="0"/>
                  </a:moveTo>
                  <a:lnTo>
                    <a:pt x="3713368" y="0"/>
                  </a:lnTo>
                  <a:cubicBezTo>
                    <a:pt x="3716417" y="0"/>
                    <a:pt x="3719340" y="1211"/>
                    <a:pt x="3721496" y="3367"/>
                  </a:cubicBezTo>
                  <a:cubicBezTo>
                    <a:pt x="3723652" y="5523"/>
                    <a:pt x="3724863" y="8447"/>
                    <a:pt x="3724863" y="11496"/>
                  </a:cubicBezTo>
                  <a:lnTo>
                    <a:pt x="3724863" y="1041847"/>
                  </a:lnTo>
                  <a:cubicBezTo>
                    <a:pt x="3724863" y="1044896"/>
                    <a:pt x="3723652" y="1047820"/>
                    <a:pt x="3721496" y="1049975"/>
                  </a:cubicBezTo>
                  <a:cubicBezTo>
                    <a:pt x="3719340" y="1052131"/>
                    <a:pt x="3716417" y="1053342"/>
                    <a:pt x="3713368" y="1053342"/>
                  </a:cubicBezTo>
                  <a:lnTo>
                    <a:pt x="11496" y="1053342"/>
                  </a:lnTo>
                  <a:cubicBezTo>
                    <a:pt x="8447" y="1053342"/>
                    <a:pt x="5523" y="1052131"/>
                    <a:pt x="3367" y="1049975"/>
                  </a:cubicBezTo>
                  <a:cubicBezTo>
                    <a:pt x="1211" y="1047820"/>
                    <a:pt x="0" y="1044896"/>
                    <a:pt x="0" y="1041847"/>
                  </a:cubicBezTo>
                  <a:lnTo>
                    <a:pt x="0" y="11496"/>
                  </a:lnTo>
                  <a:cubicBezTo>
                    <a:pt x="0" y="8447"/>
                    <a:pt x="1211" y="5523"/>
                    <a:pt x="3367" y="3367"/>
                  </a:cubicBezTo>
                  <a:cubicBezTo>
                    <a:pt x="5523" y="1211"/>
                    <a:pt x="8447" y="0"/>
                    <a:pt x="11496" y="0"/>
                  </a:cubicBezTo>
                  <a:close/>
                </a:path>
              </a:pathLst>
            </a:custGeom>
            <a:solidFill>
              <a:srgbClr val="000000"/>
            </a:solidFill>
            <a:ln w="47625" cap="rnd">
              <a:solidFill>
                <a:srgbClr val="21EF80"/>
              </a:solidFill>
              <a:prstDash val="solid"/>
              <a:round/>
            </a:ln>
          </p:spPr>
        </p:sp>
        <p:sp>
          <p:nvSpPr>
            <p:cNvPr name="TextBox 5" id="5"/>
            <p:cNvSpPr txBox="true"/>
            <p:nvPr/>
          </p:nvSpPr>
          <p:spPr>
            <a:xfrm>
              <a:off x="0" y="-57150"/>
              <a:ext cx="3724863" cy="1110492"/>
            </a:xfrm>
            <a:prstGeom prst="rect">
              <a:avLst/>
            </a:prstGeom>
          </p:spPr>
          <p:txBody>
            <a:bodyPr anchor="t" rtlCol="false" tIns="254000" lIns="254000" bIns="254000" rIns="254000"/>
            <a:lstStyle/>
            <a:p>
              <a:pPr algn="l">
                <a:lnSpc>
                  <a:spcPts val="3359"/>
                </a:lnSpc>
              </a:pPr>
            </a:p>
            <a:p>
              <a:pPr algn="l">
                <a:lnSpc>
                  <a:spcPts val="3359"/>
                </a:lnSpc>
              </a:pPr>
              <a:r>
                <a:rPr lang="en-US" sz="2400">
                  <a:solidFill>
                    <a:srgbClr val="FFFFFF"/>
                  </a:solidFill>
                  <a:latin typeface="Disket Mono"/>
                </a:rPr>
                <a:t>  </a:t>
              </a:r>
            </a:p>
          </p:txBody>
        </p:sp>
      </p:grpSp>
      <p:sp>
        <p:nvSpPr>
          <p:cNvPr name="TextBox 6" id="6"/>
          <p:cNvSpPr txBox="true"/>
          <p:nvPr/>
        </p:nvSpPr>
        <p:spPr>
          <a:xfrm rot="0">
            <a:off x="2583996" y="3901694"/>
            <a:ext cx="13120008" cy="3348990"/>
          </a:xfrm>
          <a:prstGeom prst="rect">
            <a:avLst/>
          </a:prstGeom>
        </p:spPr>
        <p:txBody>
          <a:bodyPr anchor="t" rtlCol="false" tIns="0" lIns="0" bIns="0" rIns="0">
            <a:spAutoFit/>
          </a:bodyPr>
          <a:lstStyle/>
          <a:p>
            <a:pPr algn="l">
              <a:lnSpc>
                <a:spcPts val="3360"/>
              </a:lnSpc>
            </a:pPr>
            <a:r>
              <a:rPr lang="en-US" sz="2400">
                <a:solidFill>
                  <a:srgbClr val="FFFFFF"/>
                </a:solidFill>
                <a:latin typeface="Disket Mono"/>
              </a:rPr>
              <a:t>Interactive elements improve user experience:</a:t>
            </a:r>
          </a:p>
          <a:p>
            <a:pPr algn="l">
              <a:lnSpc>
                <a:spcPts val="3360"/>
              </a:lnSpc>
            </a:pPr>
          </a:p>
          <a:p>
            <a:pPr algn="l" marL="518163" indent="-259082" lvl="1">
              <a:lnSpc>
                <a:spcPts val="3360"/>
              </a:lnSpc>
              <a:buFont typeface="Arial"/>
              <a:buChar char="•"/>
            </a:pPr>
            <a:r>
              <a:rPr lang="en-US" sz="2400">
                <a:solidFill>
                  <a:srgbClr val="FFFFFF"/>
                </a:solidFill>
                <a:latin typeface="Disket Mono"/>
              </a:rPr>
              <a:t>New Tab Links: External links open in new tabs for convenience.</a:t>
            </a:r>
          </a:p>
          <a:p>
            <a:pPr algn="l" marL="518163" indent="-259082" lvl="1">
              <a:lnSpc>
                <a:spcPts val="3360"/>
              </a:lnSpc>
              <a:buFont typeface="Arial"/>
              <a:buChar char="•"/>
            </a:pPr>
            <a:r>
              <a:rPr lang="en-US" sz="2400">
                <a:solidFill>
                  <a:srgbClr val="FFFFFF"/>
                </a:solidFill>
                <a:latin typeface="Disket Mono"/>
              </a:rPr>
              <a:t>Hover Effects: Buttons and links change color on hover to indicate interactivity.</a:t>
            </a:r>
          </a:p>
          <a:p>
            <a:pPr algn="l" marL="518163" indent="-259082" lvl="1">
              <a:lnSpc>
                <a:spcPts val="3360"/>
              </a:lnSpc>
              <a:buFont typeface="Arial"/>
              <a:buChar char="•"/>
            </a:pPr>
            <a:r>
              <a:rPr lang="en-US" sz="2400">
                <a:solidFill>
                  <a:srgbClr val="FFFFFF"/>
                </a:solidFill>
                <a:latin typeface="Disket Mono"/>
              </a:rPr>
              <a:t>Responsive Navigation: Navigation links adjust based on screen size.</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2719050" y="741945"/>
            <a:ext cx="12849901" cy="2496186"/>
          </a:xfrm>
          <a:prstGeom prst="rect">
            <a:avLst/>
          </a:prstGeom>
        </p:spPr>
        <p:txBody>
          <a:bodyPr anchor="t" rtlCol="false" tIns="0" lIns="0" bIns="0" rIns="0">
            <a:spAutoFit/>
          </a:bodyPr>
          <a:lstStyle/>
          <a:p>
            <a:pPr algn="ctr">
              <a:lnSpc>
                <a:spcPts val="9520"/>
              </a:lnSpc>
            </a:pPr>
            <a:r>
              <a:rPr lang="en-US" sz="8500">
                <a:solidFill>
                  <a:srgbClr val="FF63D8"/>
                </a:solidFill>
                <a:latin typeface="Arcade Gamer"/>
              </a:rPr>
              <a:t>CHARACTER SECTION</a:t>
            </a:r>
          </a:p>
        </p:txBody>
      </p:sp>
      <p:grpSp>
        <p:nvGrpSpPr>
          <p:cNvPr name="Group 3" id="3"/>
          <p:cNvGrpSpPr/>
          <p:nvPr/>
        </p:nvGrpSpPr>
        <p:grpSpPr>
          <a:xfrm rot="0">
            <a:off x="2072580" y="3670374"/>
            <a:ext cx="14142840" cy="3999409"/>
            <a:chOff x="0" y="0"/>
            <a:chExt cx="3724863" cy="1053342"/>
          </a:xfrm>
        </p:grpSpPr>
        <p:sp>
          <p:nvSpPr>
            <p:cNvPr name="Freeform 4" id="4"/>
            <p:cNvSpPr/>
            <p:nvPr/>
          </p:nvSpPr>
          <p:spPr>
            <a:xfrm flipH="false" flipV="false" rot="0">
              <a:off x="0" y="0"/>
              <a:ext cx="3724863" cy="1053342"/>
            </a:xfrm>
            <a:custGeom>
              <a:avLst/>
              <a:gdLst/>
              <a:ahLst/>
              <a:cxnLst/>
              <a:rect r="r" b="b" t="t" l="l"/>
              <a:pathLst>
                <a:path h="1053342" w="3724863">
                  <a:moveTo>
                    <a:pt x="11496" y="0"/>
                  </a:moveTo>
                  <a:lnTo>
                    <a:pt x="3713368" y="0"/>
                  </a:lnTo>
                  <a:cubicBezTo>
                    <a:pt x="3716417" y="0"/>
                    <a:pt x="3719340" y="1211"/>
                    <a:pt x="3721496" y="3367"/>
                  </a:cubicBezTo>
                  <a:cubicBezTo>
                    <a:pt x="3723652" y="5523"/>
                    <a:pt x="3724863" y="8447"/>
                    <a:pt x="3724863" y="11496"/>
                  </a:cubicBezTo>
                  <a:lnTo>
                    <a:pt x="3724863" y="1041847"/>
                  </a:lnTo>
                  <a:cubicBezTo>
                    <a:pt x="3724863" y="1044896"/>
                    <a:pt x="3723652" y="1047820"/>
                    <a:pt x="3721496" y="1049975"/>
                  </a:cubicBezTo>
                  <a:cubicBezTo>
                    <a:pt x="3719340" y="1052131"/>
                    <a:pt x="3716417" y="1053342"/>
                    <a:pt x="3713368" y="1053342"/>
                  </a:cubicBezTo>
                  <a:lnTo>
                    <a:pt x="11496" y="1053342"/>
                  </a:lnTo>
                  <a:cubicBezTo>
                    <a:pt x="8447" y="1053342"/>
                    <a:pt x="5523" y="1052131"/>
                    <a:pt x="3367" y="1049975"/>
                  </a:cubicBezTo>
                  <a:cubicBezTo>
                    <a:pt x="1211" y="1047820"/>
                    <a:pt x="0" y="1044896"/>
                    <a:pt x="0" y="1041847"/>
                  </a:cubicBezTo>
                  <a:lnTo>
                    <a:pt x="0" y="11496"/>
                  </a:lnTo>
                  <a:cubicBezTo>
                    <a:pt x="0" y="8447"/>
                    <a:pt x="1211" y="5523"/>
                    <a:pt x="3367" y="3367"/>
                  </a:cubicBezTo>
                  <a:cubicBezTo>
                    <a:pt x="5523" y="1211"/>
                    <a:pt x="8447" y="0"/>
                    <a:pt x="11496" y="0"/>
                  </a:cubicBezTo>
                  <a:close/>
                </a:path>
              </a:pathLst>
            </a:custGeom>
            <a:solidFill>
              <a:srgbClr val="000000"/>
            </a:solidFill>
            <a:ln w="47625" cap="rnd">
              <a:solidFill>
                <a:srgbClr val="21EF80"/>
              </a:solidFill>
              <a:prstDash val="solid"/>
              <a:round/>
            </a:ln>
          </p:spPr>
        </p:sp>
        <p:sp>
          <p:nvSpPr>
            <p:cNvPr name="TextBox 5" id="5"/>
            <p:cNvSpPr txBox="true"/>
            <p:nvPr/>
          </p:nvSpPr>
          <p:spPr>
            <a:xfrm>
              <a:off x="0" y="-57150"/>
              <a:ext cx="3724863" cy="1110492"/>
            </a:xfrm>
            <a:prstGeom prst="rect">
              <a:avLst/>
            </a:prstGeom>
          </p:spPr>
          <p:txBody>
            <a:bodyPr anchor="t" rtlCol="false" tIns="254000" lIns="254000" bIns="254000" rIns="254000"/>
            <a:lstStyle/>
            <a:p>
              <a:pPr algn="l">
                <a:lnSpc>
                  <a:spcPts val="3359"/>
                </a:lnSpc>
              </a:pPr>
            </a:p>
            <a:p>
              <a:pPr algn="l">
                <a:lnSpc>
                  <a:spcPts val="3359"/>
                </a:lnSpc>
              </a:pPr>
              <a:r>
                <a:rPr lang="en-US" sz="2400">
                  <a:solidFill>
                    <a:srgbClr val="FFFFFF"/>
                  </a:solidFill>
                  <a:latin typeface="Disket Mono"/>
                </a:rPr>
                <a:t>  </a:t>
              </a:r>
            </a:p>
          </p:txBody>
        </p:sp>
      </p:grpSp>
      <p:sp>
        <p:nvSpPr>
          <p:cNvPr name="TextBox 6" id="6"/>
          <p:cNvSpPr txBox="true"/>
          <p:nvPr/>
        </p:nvSpPr>
        <p:spPr>
          <a:xfrm rot="0">
            <a:off x="2583996" y="3901694"/>
            <a:ext cx="13120008" cy="3348990"/>
          </a:xfrm>
          <a:prstGeom prst="rect">
            <a:avLst/>
          </a:prstGeom>
        </p:spPr>
        <p:txBody>
          <a:bodyPr anchor="t" rtlCol="false" tIns="0" lIns="0" bIns="0" rIns="0">
            <a:spAutoFit/>
          </a:bodyPr>
          <a:lstStyle/>
          <a:p>
            <a:pPr algn="l">
              <a:lnSpc>
                <a:spcPts val="3360"/>
              </a:lnSpc>
            </a:pPr>
            <a:r>
              <a:rPr lang="en-US" sz="2400">
                <a:solidFill>
                  <a:srgbClr val="FFFFFF"/>
                </a:solidFill>
                <a:latin typeface="Disket Mono"/>
              </a:rPr>
              <a:t>The character section is designed to showcase the main characters:</a:t>
            </a:r>
          </a:p>
          <a:p>
            <a:pPr algn="l" marL="518163" indent="-259082" lvl="1">
              <a:lnSpc>
                <a:spcPts val="3360"/>
              </a:lnSpc>
              <a:buFont typeface="Arial"/>
              <a:buChar char="•"/>
            </a:pPr>
            <a:r>
              <a:rPr lang="en-US" sz="2400">
                <a:solidFill>
                  <a:srgbClr val="FFFFFF"/>
                </a:solidFill>
                <a:latin typeface="Disket Mono"/>
              </a:rPr>
              <a:t>Charact</a:t>
            </a:r>
            <a:r>
              <a:rPr lang="en-US" sz="2400">
                <a:solidFill>
                  <a:srgbClr val="FFFFFF"/>
                </a:solidFill>
                <a:latin typeface="Disket Mono"/>
              </a:rPr>
              <a:t>er Cards: Each character is displayed in a card format with an image, name, and description.</a:t>
            </a:r>
          </a:p>
          <a:p>
            <a:pPr algn="l" marL="518163" indent="-259082" lvl="1">
              <a:lnSpc>
                <a:spcPts val="3360"/>
              </a:lnSpc>
              <a:buFont typeface="Arial"/>
              <a:buChar char="•"/>
            </a:pPr>
            <a:r>
              <a:rPr lang="en-US" sz="2400">
                <a:solidFill>
                  <a:srgbClr val="FFFFFF"/>
                </a:solidFill>
                <a:latin typeface="Disket Mono"/>
              </a:rPr>
              <a:t>Flexb</a:t>
            </a:r>
            <a:r>
              <a:rPr lang="en-US" sz="2400">
                <a:solidFill>
                  <a:srgbClr val="FFFFFF"/>
                </a:solidFill>
                <a:latin typeface="Disket Mono"/>
              </a:rPr>
              <a:t>ox Layout: Ensures characters are well-aligned and spaced evenly.</a:t>
            </a:r>
          </a:p>
          <a:p>
            <a:pPr algn="l" marL="518163" indent="-259082" lvl="1">
              <a:lnSpc>
                <a:spcPts val="3360"/>
              </a:lnSpc>
              <a:buFont typeface="Arial"/>
              <a:buChar char="•"/>
            </a:pPr>
            <a:r>
              <a:rPr lang="en-US" sz="2400">
                <a:solidFill>
                  <a:srgbClr val="FFFFFF"/>
                </a:solidFill>
                <a:latin typeface="Disket Mono"/>
              </a:rPr>
              <a:t>Im</a:t>
            </a:r>
            <a:r>
              <a:rPr lang="en-US" sz="2400">
                <a:solidFill>
                  <a:srgbClr val="FFFFFF"/>
                </a:solidFill>
                <a:latin typeface="Disket Mono"/>
              </a:rPr>
              <a:t>age Styling: Rounded corners and shadows add a polished look to character images.</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2719050" y="1342020"/>
            <a:ext cx="12849901" cy="1296036"/>
          </a:xfrm>
          <a:prstGeom prst="rect">
            <a:avLst/>
          </a:prstGeom>
        </p:spPr>
        <p:txBody>
          <a:bodyPr anchor="t" rtlCol="false" tIns="0" lIns="0" bIns="0" rIns="0">
            <a:spAutoFit/>
          </a:bodyPr>
          <a:lstStyle/>
          <a:p>
            <a:pPr algn="ctr">
              <a:lnSpc>
                <a:spcPts val="9520"/>
              </a:lnSpc>
            </a:pPr>
            <a:r>
              <a:rPr lang="en-US" sz="8500">
                <a:solidFill>
                  <a:srgbClr val="FF63D8"/>
                </a:solidFill>
                <a:latin typeface="Arcade Gamer"/>
              </a:rPr>
              <a:t>FAN ART GALLERY</a:t>
            </a:r>
          </a:p>
        </p:txBody>
      </p:sp>
      <p:grpSp>
        <p:nvGrpSpPr>
          <p:cNvPr name="Group 3" id="3"/>
          <p:cNvGrpSpPr/>
          <p:nvPr/>
        </p:nvGrpSpPr>
        <p:grpSpPr>
          <a:xfrm rot="0">
            <a:off x="2072580" y="3670374"/>
            <a:ext cx="14142840" cy="3999409"/>
            <a:chOff x="0" y="0"/>
            <a:chExt cx="3724863" cy="1053342"/>
          </a:xfrm>
        </p:grpSpPr>
        <p:sp>
          <p:nvSpPr>
            <p:cNvPr name="Freeform 4" id="4"/>
            <p:cNvSpPr/>
            <p:nvPr/>
          </p:nvSpPr>
          <p:spPr>
            <a:xfrm flipH="false" flipV="false" rot="0">
              <a:off x="0" y="0"/>
              <a:ext cx="3724863" cy="1053342"/>
            </a:xfrm>
            <a:custGeom>
              <a:avLst/>
              <a:gdLst/>
              <a:ahLst/>
              <a:cxnLst/>
              <a:rect r="r" b="b" t="t" l="l"/>
              <a:pathLst>
                <a:path h="1053342" w="3724863">
                  <a:moveTo>
                    <a:pt x="11496" y="0"/>
                  </a:moveTo>
                  <a:lnTo>
                    <a:pt x="3713368" y="0"/>
                  </a:lnTo>
                  <a:cubicBezTo>
                    <a:pt x="3716417" y="0"/>
                    <a:pt x="3719340" y="1211"/>
                    <a:pt x="3721496" y="3367"/>
                  </a:cubicBezTo>
                  <a:cubicBezTo>
                    <a:pt x="3723652" y="5523"/>
                    <a:pt x="3724863" y="8447"/>
                    <a:pt x="3724863" y="11496"/>
                  </a:cubicBezTo>
                  <a:lnTo>
                    <a:pt x="3724863" y="1041847"/>
                  </a:lnTo>
                  <a:cubicBezTo>
                    <a:pt x="3724863" y="1044896"/>
                    <a:pt x="3723652" y="1047820"/>
                    <a:pt x="3721496" y="1049975"/>
                  </a:cubicBezTo>
                  <a:cubicBezTo>
                    <a:pt x="3719340" y="1052131"/>
                    <a:pt x="3716417" y="1053342"/>
                    <a:pt x="3713368" y="1053342"/>
                  </a:cubicBezTo>
                  <a:lnTo>
                    <a:pt x="11496" y="1053342"/>
                  </a:lnTo>
                  <a:cubicBezTo>
                    <a:pt x="8447" y="1053342"/>
                    <a:pt x="5523" y="1052131"/>
                    <a:pt x="3367" y="1049975"/>
                  </a:cubicBezTo>
                  <a:cubicBezTo>
                    <a:pt x="1211" y="1047820"/>
                    <a:pt x="0" y="1044896"/>
                    <a:pt x="0" y="1041847"/>
                  </a:cubicBezTo>
                  <a:lnTo>
                    <a:pt x="0" y="11496"/>
                  </a:lnTo>
                  <a:cubicBezTo>
                    <a:pt x="0" y="8447"/>
                    <a:pt x="1211" y="5523"/>
                    <a:pt x="3367" y="3367"/>
                  </a:cubicBezTo>
                  <a:cubicBezTo>
                    <a:pt x="5523" y="1211"/>
                    <a:pt x="8447" y="0"/>
                    <a:pt x="11496" y="0"/>
                  </a:cubicBezTo>
                  <a:close/>
                </a:path>
              </a:pathLst>
            </a:custGeom>
            <a:solidFill>
              <a:srgbClr val="000000"/>
            </a:solidFill>
            <a:ln w="47625" cap="rnd">
              <a:solidFill>
                <a:srgbClr val="21EF80"/>
              </a:solidFill>
              <a:prstDash val="solid"/>
              <a:round/>
            </a:ln>
          </p:spPr>
        </p:sp>
        <p:sp>
          <p:nvSpPr>
            <p:cNvPr name="TextBox 5" id="5"/>
            <p:cNvSpPr txBox="true"/>
            <p:nvPr/>
          </p:nvSpPr>
          <p:spPr>
            <a:xfrm>
              <a:off x="0" y="-57150"/>
              <a:ext cx="3724863" cy="1110492"/>
            </a:xfrm>
            <a:prstGeom prst="rect">
              <a:avLst/>
            </a:prstGeom>
          </p:spPr>
          <p:txBody>
            <a:bodyPr anchor="t" rtlCol="false" tIns="254000" lIns="254000" bIns="254000" rIns="254000"/>
            <a:lstStyle/>
            <a:p>
              <a:pPr algn="l">
                <a:lnSpc>
                  <a:spcPts val="3359"/>
                </a:lnSpc>
              </a:pPr>
            </a:p>
            <a:p>
              <a:pPr algn="l">
                <a:lnSpc>
                  <a:spcPts val="3359"/>
                </a:lnSpc>
              </a:pPr>
              <a:r>
                <a:rPr lang="en-US" sz="2400">
                  <a:solidFill>
                    <a:srgbClr val="FFFFFF"/>
                  </a:solidFill>
                  <a:latin typeface="Disket Mono"/>
                </a:rPr>
                <a:t>  </a:t>
              </a:r>
            </a:p>
          </p:txBody>
        </p:sp>
      </p:grpSp>
      <p:sp>
        <p:nvSpPr>
          <p:cNvPr name="TextBox 6" id="6"/>
          <p:cNvSpPr txBox="true"/>
          <p:nvPr/>
        </p:nvSpPr>
        <p:spPr>
          <a:xfrm rot="0">
            <a:off x="2583996" y="3901694"/>
            <a:ext cx="13120008" cy="3348990"/>
          </a:xfrm>
          <a:prstGeom prst="rect">
            <a:avLst/>
          </a:prstGeom>
        </p:spPr>
        <p:txBody>
          <a:bodyPr anchor="t" rtlCol="false" tIns="0" lIns="0" bIns="0" rIns="0">
            <a:spAutoFit/>
          </a:bodyPr>
          <a:lstStyle/>
          <a:p>
            <a:pPr algn="l">
              <a:lnSpc>
                <a:spcPts val="3360"/>
              </a:lnSpc>
            </a:pPr>
            <a:r>
              <a:rPr lang="en-US" sz="2400">
                <a:solidFill>
                  <a:srgbClr val="FFFFFF"/>
                </a:solidFill>
                <a:latin typeface="Disket Mono"/>
              </a:rPr>
              <a:t>The fan art gallery section showcases fan creations:</a:t>
            </a:r>
          </a:p>
          <a:p>
            <a:pPr algn="l">
              <a:lnSpc>
                <a:spcPts val="3360"/>
              </a:lnSpc>
            </a:pPr>
          </a:p>
          <a:p>
            <a:pPr algn="l" marL="518163" indent="-259082" lvl="1">
              <a:lnSpc>
                <a:spcPts val="3360"/>
              </a:lnSpc>
              <a:buFont typeface="Arial"/>
              <a:buChar char="•"/>
            </a:pPr>
            <a:r>
              <a:rPr lang="en-US" sz="2400">
                <a:solidFill>
                  <a:srgbClr val="FFFFFF"/>
                </a:solidFill>
                <a:latin typeface="Disket Mono"/>
              </a:rPr>
              <a:t>Cent</a:t>
            </a:r>
            <a:r>
              <a:rPr lang="en-US" sz="2400">
                <a:solidFill>
                  <a:srgbClr val="FFFFFF"/>
                </a:solidFill>
                <a:latin typeface="Disket Mono"/>
              </a:rPr>
              <a:t>er Alignment: Images are center-aligned for a balanced layout.</a:t>
            </a:r>
          </a:p>
          <a:p>
            <a:pPr algn="l" marL="518163" indent="-259082" lvl="1">
              <a:lnSpc>
                <a:spcPts val="3360"/>
              </a:lnSpc>
              <a:buFont typeface="Arial"/>
              <a:buChar char="•"/>
            </a:pPr>
            <a:r>
              <a:rPr lang="en-US" sz="2400">
                <a:solidFill>
                  <a:srgbClr val="FFFFFF"/>
                </a:solidFill>
                <a:latin typeface="Disket Mono"/>
              </a:rPr>
              <a:t>Flexb</a:t>
            </a:r>
            <a:r>
              <a:rPr lang="en-US" sz="2400">
                <a:solidFill>
                  <a:srgbClr val="FFFFFF"/>
                </a:solidFill>
                <a:latin typeface="Disket Mono"/>
              </a:rPr>
              <a:t>ox Gallery: Flexbox is used to create a responsive and visually appealing gallery.</a:t>
            </a:r>
          </a:p>
          <a:p>
            <a:pPr algn="l" marL="518163" indent="-259082" lvl="1">
              <a:lnSpc>
                <a:spcPts val="3360"/>
              </a:lnSpc>
              <a:buFont typeface="Arial"/>
              <a:buChar char="•"/>
            </a:pPr>
            <a:r>
              <a:rPr lang="en-US" sz="2400">
                <a:solidFill>
                  <a:srgbClr val="FFFFFF"/>
                </a:solidFill>
                <a:latin typeface="Disket Mono"/>
              </a:rPr>
              <a:t>Im</a:t>
            </a:r>
            <a:r>
              <a:rPr lang="en-US" sz="2400">
                <a:solidFill>
                  <a:srgbClr val="FFFFFF"/>
                </a:solidFill>
                <a:latin typeface="Disket Mono"/>
              </a:rPr>
              <a:t>age Spacing: Adequate spacing between images ensures a clean look.</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2032704"/>
            <a:ext cx="18288000" cy="6221591"/>
          </a:xfrm>
          <a:custGeom>
            <a:avLst/>
            <a:gdLst/>
            <a:ahLst/>
            <a:cxnLst/>
            <a:rect r="r" b="b" t="t" l="l"/>
            <a:pathLst>
              <a:path h="6221591" w="18288000">
                <a:moveTo>
                  <a:pt x="0" y="0"/>
                </a:moveTo>
                <a:lnTo>
                  <a:pt x="18288000" y="0"/>
                </a:lnTo>
                <a:lnTo>
                  <a:pt x="18288000" y="6221592"/>
                </a:lnTo>
                <a:lnTo>
                  <a:pt x="0" y="6221592"/>
                </a:lnTo>
                <a:lnTo>
                  <a:pt x="0" y="0"/>
                </a:lnTo>
                <a:close/>
              </a:path>
            </a:pathLst>
          </a:custGeom>
          <a:blipFill>
            <a:blip r:embed="rId2"/>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1474464"/>
            <a:ext cx="18288000" cy="7338072"/>
          </a:xfrm>
          <a:custGeom>
            <a:avLst/>
            <a:gdLst/>
            <a:ahLst/>
            <a:cxnLst/>
            <a:rect r="r" b="b" t="t" l="l"/>
            <a:pathLst>
              <a:path h="7338072" w="18288000">
                <a:moveTo>
                  <a:pt x="0" y="0"/>
                </a:moveTo>
                <a:lnTo>
                  <a:pt x="18288000" y="0"/>
                </a:lnTo>
                <a:lnTo>
                  <a:pt x="18288000" y="7338072"/>
                </a:lnTo>
                <a:lnTo>
                  <a:pt x="0" y="7338072"/>
                </a:lnTo>
                <a:lnTo>
                  <a:pt x="0" y="0"/>
                </a:lnTo>
                <a:close/>
              </a:path>
            </a:pathLst>
          </a:custGeom>
          <a:blipFill>
            <a:blip r:embed="rId2"/>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1202860"/>
            <a:ext cx="18288000" cy="7881280"/>
          </a:xfrm>
          <a:custGeom>
            <a:avLst/>
            <a:gdLst/>
            <a:ahLst/>
            <a:cxnLst/>
            <a:rect r="r" b="b" t="t" l="l"/>
            <a:pathLst>
              <a:path h="7881280" w="18288000">
                <a:moveTo>
                  <a:pt x="0" y="0"/>
                </a:moveTo>
                <a:lnTo>
                  <a:pt x="18288000" y="0"/>
                </a:lnTo>
                <a:lnTo>
                  <a:pt x="18288000" y="7881280"/>
                </a:lnTo>
                <a:lnTo>
                  <a:pt x="0" y="7881280"/>
                </a:lnTo>
                <a:lnTo>
                  <a:pt x="0" y="0"/>
                </a:lnTo>
                <a:close/>
              </a:path>
            </a:pathLst>
          </a:custGeom>
          <a:blipFill>
            <a:blip r:embed="rId2"/>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1156376"/>
            <a:ext cx="18288000" cy="7974248"/>
          </a:xfrm>
          <a:custGeom>
            <a:avLst/>
            <a:gdLst/>
            <a:ahLst/>
            <a:cxnLst/>
            <a:rect r="r" b="b" t="t" l="l"/>
            <a:pathLst>
              <a:path h="7974248" w="18288000">
                <a:moveTo>
                  <a:pt x="0" y="0"/>
                </a:moveTo>
                <a:lnTo>
                  <a:pt x="18288000" y="0"/>
                </a:lnTo>
                <a:lnTo>
                  <a:pt x="18288000" y="7974248"/>
                </a:lnTo>
                <a:lnTo>
                  <a:pt x="0" y="7974248"/>
                </a:lnTo>
                <a:lnTo>
                  <a:pt x="0" y="0"/>
                </a:lnTo>
                <a:close/>
              </a:path>
            </a:pathLst>
          </a:custGeom>
          <a:blipFill>
            <a:blip r:embed="rId2"/>
            <a:stretch>
              <a:fillRect l="0" t="-148"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1321985"/>
            <a:ext cx="18288000" cy="7643031"/>
          </a:xfrm>
          <a:custGeom>
            <a:avLst/>
            <a:gdLst/>
            <a:ahLst/>
            <a:cxnLst/>
            <a:rect r="r" b="b" t="t" l="l"/>
            <a:pathLst>
              <a:path h="7643031" w="18288000">
                <a:moveTo>
                  <a:pt x="0" y="0"/>
                </a:moveTo>
                <a:lnTo>
                  <a:pt x="18288000" y="0"/>
                </a:lnTo>
                <a:lnTo>
                  <a:pt x="18288000" y="7643030"/>
                </a:lnTo>
                <a:lnTo>
                  <a:pt x="0" y="7643030"/>
                </a:lnTo>
                <a:lnTo>
                  <a:pt x="0" y="0"/>
                </a:lnTo>
                <a:close/>
              </a:path>
            </a:pathLst>
          </a:custGeom>
          <a:blipFill>
            <a:blip r:embed="rId2"/>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1977903"/>
            <a:ext cx="18288000" cy="6331195"/>
          </a:xfrm>
          <a:custGeom>
            <a:avLst/>
            <a:gdLst/>
            <a:ahLst/>
            <a:cxnLst/>
            <a:rect r="r" b="b" t="t" l="l"/>
            <a:pathLst>
              <a:path h="6331195" w="18288000">
                <a:moveTo>
                  <a:pt x="0" y="0"/>
                </a:moveTo>
                <a:lnTo>
                  <a:pt x="18288000" y="0"/>
                </a:lnTo>
                <a:lnTo>
                  <a:pt x="18288000" y="6331194"/>
                </a:lnTo>
                <a:lnTo>
                  <a:pt x="0" y="6331194"/>
                </a:lnTo>
                <a:lnTo>
                  <a:pt x="0" y="0"/>
                </a:lnTo>
                <a:close/>
              </a:path>
            </a:pathLst>
          </a:custGeom>
          <a:blipFill>
            <a:blip r:embed="rId2"/>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85970" y="1971213"/>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99006" y="-1298925"/>
            <a:ext cx="5271418" cy="10244805"/>
          </a:xfrm>
          <a:custGeom>
            <a:avLst/>
            <a:gdLst/>
            <a:ahLst/>
            <a:cxnLst/>
            <a:rect r="r" b="b" t="t" l="l"/>
            <a:pathLst>
              <a:path h="10244805" w="5271418">
                <a:moveTo>
                  <a:pt x="0" y="0"/>
                </a:moveTo>
                <a:lnTo>
                  <a:pt x="5271417" y="0"/>
                </a:lnTo>
                <a:lnTo>
                  <a:pt x="5271417" y="10244805"/>
                </a:lnTo>
                <a:lnTo>
                  <a:pt x="0" y="10244805"/>
                </a:lnTo>
                <a:lnTo>
                  <a:pt x="0" y="0"/>
                </a:lnTo>
                <a:close/>
              </a:path>
            </a:pathLst>
          </a:custGeom>
          <a:blipFill>
            <a:blip r:embed="rId4">
              <a:alphaModFix amt="29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182049" y="2934751"/>
            <a:ext cx="2828812" cy="987513"/>
          </a:xfrm>
          <a:custGeom>
            <a:avLst/>
            <a:gdLst/>
            <a:ahLst/>
            <a:cxnLst/>
            <a:rect r="r" b="b" t="t" l="l"/>
            <a:pathLst>
              <a:path h="987513" w="2828812">
                <a:moveTo>
                  <a:pt x="0" y="0"/>
                </a:moveTo>
                <a:lnTo>
                  <a:pt x="2828813" y="0"/>
                </a:lnTo>
                <a:lnTo>
                  <a:pt x="2828813" y="987512"/>
                </a:lnTo>
                <a:lnTo>
                  <a:pt x="0" y="987512"/>
                </a:lnTo>
                <a:lnTo>
                  <a:pt x="0" y="0"/>
                </a:lnTo>
                <a:close/>
              </a:path>
            </a:pathLst>
          </a:custGeom>
          <a:blipFill>
            <a:blip r:embed="rId6">
              <a:alphaModFix amt="18999"/>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5190678" y="230851"/>
            <a:ext cx="2828812" cy="987513"/>
          </a:xfrm>
          <a:custGeom>
            <a:avLst/>
            <a:gdLst/>
            <a:ahLst/>
            <a:cxnLst/>
            <a:rect r="r" b="b" t="t" l="l"/>
            <a:pathLst>
              <a:path h="987513" w="2828812">
                <a:moveTo>
                  <a:pt x="2828813" y="0"/>
                </a:moveTo>
                <a:lnTo>
                  <a:pt x="0" y="0"/>
                </a:lnTo>
                <a:lnTo>
                  <a:pt x="0" y="987512"/>
                </a:lnTo>
                <a:lnTo>
                  <a:pt x="2828813" y="987512"/>
                </a:lnTo>
                <a:lnTo>
                  <a:pt x="2828813" y="0"/>
                </a:lnTo>
                <a:close/>
              </a:path>
            </a:pathLst>
          </a:custGeom>
          <a:blipFill>
            <a:blip r:embed="rId6">
              <a:alphaModFix amt="18999"/>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7521607" y="1028700"/>
            <a:ext cx="9737693" cy="6960536"/>
            <a:chOff x="0" y="0"/>
            <a:chExt cx="2564660" cy="1833228"/>
          </a:xfrm>
        </p:grpSpPr>
        <p:sp>
          <p:nvSpPr>
            <p:cNvPr name="Freeform 7" id="7"/>
            <p:cNvSpPr/>
            <p:nvPr/>
          </p:nvSpPr>
          <p:spPr>
            <a:xfrm flipH="false" flipV="false" rot="0">
              <a:off x="0" y="0"/>
              <a:ext cx="2564660" cy="1833228"/>
            </a:xfrm>
            <a:custGeom>
              <a:avLst/>
              <a:gdLst/>
              <a:ahLst/>
              <a:cxnLst/>
              <a:rect r="r" b="b" t="t" l="l"/>
              <a:pathLst>
                <a:path h="1833228" w="2564660">
                  <a:moveTo>
                    <a:pt x="38957" y="0"/>
                  </a:moveTo>
                  <a:lnTo>
                    <a:pt x="2525702" y="0"/>
                  </a:lnTo>
                  <a:cubicBezTo>
                    <a:pt x="2536035" y="0"/>
                    <a:pt x="2545943" y="4104"/>
                    <a:pt x="2553249" y="11410"/>
                  </a:cubicBezTo>
                  <a:cubicBezTo>
                    <a:pt x="2560555" y="18716"/>
                    <a:pt x="2564660" y="28625"/>
                    <a:pt x="2564660" y="38957"/>
                  </a:cubicBezTo>
                  <a:lnTo>
                    <a:pt x="2564660" y="1794270"/>
                  </a:lnTo>
                  <a:cubicBezTo>
                    <a:pt x="2564660" y="1804602"/>
                    <a:pt x="2560555" y="1814511"/>
                    <a:pt x="2553249" y="1821817"/>
                  </a:cubicBezTo>
                  <a:cubicBezTo>
                    <a:pt x="2545943" y="1829123"/>
                    <a:pt x="2536035" y="1833228"/>
                    <a:pt x="2525702" y="1833228"/>
                  </a:cubicBezTo>
                  <a:lnTo>
                    <a:pt x="38957" y="1833228"/>
                  </a:lnTo>
                  <a:cubicBezTo>
                    <a:pt x="28625" y="1833228"/>
                    <a:pt x="18716" y="1829123"/>
                    <a:pt x="11410" y="1821817"/>
                  </a:cubicBezTo>
                  <a:cubicBezTo>
                    <a:pt x="4104" y="1814511"/>
                    <a:pt x="0" y="1804602"/>
                    <a:pt x="0" y="1794270"/>
                  </a:cubicBezTo>
                  <a:lnTo>
                    <a:pt x="0" y="38957"/>
                  </a:lnTo>
                  <a:cubicBezTo>
                    <a:pt x="0" y="28625"/>
                    <a:pt x="4104" y="18716"/>
                    <a:pt x="11410" y="11410"/>
                  </a:cubicBezTo>
                  <a:cubicBezTo>
                    <a:pt x="18716" y="4104"/>
                    <a:pt x="28625" y="0"/>
                    <a:pt x="38957" y="0"/>
                  </a:cubicBezTo>
                  <a:close/>
                </a:path>
              </a:pathLst>
            </a:custGeom>
            <a:solidFill>
              <a:srgbClr val="000000"/>
            </a:solidFill>
            <a:ln w="47625" cap="rnd">
              <a:solidFill>
                <a:srgbClr val="21EF80"/>
              </a:solidFill>
              <a:prstDash val="solid"/>
              <a:round/>
            </a:ln>
          </p:spPr>
        </p:sp>
        <p:sp>
          <p:nvSpPr>
            <p:cNvPr name="TextBox 8" id="8"/>
            <p:cNvSpPr txBox="true"/>
            <p:nvPr/>
          </p:nvSpPr>
          <p:spPr>
            <a:xfrm>
              <a:off x="0" y="-28575"/>
              <a:ext cx="2564660" cy="1861803"/>
            </a:xfrm>
            <a:prstGeom prst="rect">
              <a:avLst/>
            </a:prstGeom>
          </p:spPr>
          <p:txBody>
            <a:bodyPr anchor="ctr" rtlCol="false" tIns="254000" lIns="254000" bIns="254000" rIns="254000"/>
            <a:lstStyle/>
            <a:p>
              <a:pPr algn="ctr">
                <a:lnSpc>
                  <a:spcPts val="2100"/>
                </a:lnSpc>
              </a:pPr>
            </a:p>
          </p:txBody>
        </p:sp>
      </p:grpSp>
      <p:sp>
        <p:nvSpPr>
          <p:cNvPr name="Freeform 9" id="9"/>
          <p:cNvSpPr/>
          <p:nvPr/>
        </p:nvSpPr>
        <p:spPr>
          <a:xfrm flipH="false" flipV="false" rot="0">
            <a:off x="7191297" y="7989236"/>
            <a:ext cx="3615824" cy="1715873"/>
          </a:xfrm>
          <a:custGeom>
            <a:avLst/>
            <a:gdLst/>
            <a:ahLst/>
            <a:cxnLst/>
            <a:rect r="r" b="b" t="t" l="l"/>
            <a:pathLst>
              <a:path h="1715873" w="3615824">
                <a:moveTo>
                  <a:pt x="0" y="0"/>
                </a:moveTo>
                <a:lnTo>
                  <a:pt x="3615823" y="0"/>
                </a:lnTo>
                <a:lnTo>
                  <a:pt x="3615823" y="1715873"/>
                </a:lnTo>
                <a:lnTo>
                  <a:pt x="0" y="171587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211930" y="4567873"/>
            <a:ext cx="6808385" cy="5137236"/>
          </a:xfrm>
          <a:custGeom>
            <a:avLst/>
            <a:gdLst/>
            <a:ahLst/>
            <a:cxnLst/>
            <a:rect r="r" b="b" t="t" l="l"/>
            <a:pathLst>
              <a:path h="5137236" w="6808385">
                <a:moveTo>
                  <a:pt x="0" y="0"/>
                </a:moveTo>
                <a:lnTo>
                  <a:pt x="6808386" y="0"/>
                </a:lnTo>
                <a:lnTo>
                  <a:pt x="6808386" y="5137236"/>
                </a:lnTo>
                <a:lnTo>
                  <a:pt x="0" y="513723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641278" y="7099525"/>
            <a:ext cx="7237734" cy="2605584"/>
          </a:xfrm>
          <a:custGeom>
            <a:avLst/>
            <a:gdLst/>
            <a:ahLst/>
            <a:cxnLst/>
            <a:rect r="r" b="b" t="t" l="l"/>
            <a:pathLst>
              <a:path h="2605584" w="7237734">
                <a:moveTo>
                  <a:pt x="0" y="0"/>
                </a:moveTo>
                <a:lnTo>
                  <a:pt x="7237734" y="0"/>
                </a:lnTo>
                <a:lnTo>
                  <a:pt x="7237734" y="2605584"/>
                </a:lnTo>
                <a:lnTo>
                  <a:pt x="0" y="260558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12" id="12"/>
          <p:cNvGrpSpPr/>
          <p:nvPr/>
        </p:nvGrpSpPr>
        <p:grpSpPr>
          <a:xfrm rot="0">
            <a:off x="0" y="9705109"/>
            <a:ext cx="18288000" cy="1163782"/>
            <a:chOff x="0" y="0"/>
            <a:chExt cx="24384000" cy="1551709"/>
          </a:xfrm>
        </p:grpSpPr>
        <p:sp>
          <p:nvSpPr>
            <p:cNvPr name="Freeform 13" id="13"/>
            <p:cNvSpPr/>
            <p:nvPr/>
          </p:nvSpPr>
          <p:spPr>
            <a:xfrm flipH="false" flipV="false" rot="0">
              <a:off x="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4" id="14"/>
            <p:cNvSpPr/>
            <p:nvPr/>
          </p:nvSpPr>
          <p:spPr>
            <a:xfrm flipH="false" flipV="false" rot="0">
              <a:off x="8128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16256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sp>
        <p:nvSpPr>
          <p:cNvPr name="Freeform 16" id="16"/>
          <p:cNvSpPr/>
          <p:nvPr/>
        </p:nvSpPr>
        <p:spPr>
          <a:xfrm flipH="false" flipV="false" rot="0">
            <a:off x="11602934" y="8186651"/>
            <a:ext cx="5219700" cy="1518458"/>
          </a:xfrm>
          <a:custGeom>
            <a:avLst/>
            <a:gdLst/>
            <a:ahLst/>
            <a:cxnLst/>
            <a:rect r="r" b="b" t="t" l="l"/>
            <a:pathLst>
              <a:path h="1518458" w="5219700">
                <a:moveTo>
                  <a:pt x="0" y="0"/>
                </a:moveTo>
                <a:lnTo>
                  <a:pt x="5219700" y="0"/>
                </a:lnTo>
                <a:lnTo>
                  <a:pt x="5219700" y="1518458"/>
                </a:lnTo>
                <a:lnTo>
                  <a:pt x="0" y="1518458"/>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7" id="17"/>
          <p:cNvSpPr/>
          <p:nvPr/>
        </p:nvSpPr>
        <p:spPr>
          <a:xfrm flipH="false" flipV="false" rot="0">
            <a:off x="15950489" y="8186651"/>
            <a:ext cx="5219700" cy="1518458"/>
          </a:xfrm>
          <a:custGeom>
            <a:avLst/>
            <a:gdLst/>
            <a:ahLst/>
            <a:cxnLst/>
            <a:rect r="r" b="b" t="t" l="l"/>
            <a:pathLst>
              <a:path h="1518458" w="5219700">
                <a:moveTo>
                  <a:pt x="0" y="0"/>
                </a:moveTo>
                <a:lnTo>
                  <a:pt x="5219701" y="0"/>
                </a:lnTo>
                <a:lnTo>
                  <a:pt x="5219701" y="1518458"/>
                </a:lnTo>
                <a:lnTo>
                  <a:pt x="0" y="1518458"/>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8" id="18"/>
          <p:cNvSpPr txBox="true"/>
          <p:nvPr/>
        </p:nvSpPr>
        <p:spPr>
          <a:xfrm rot="0">
            <a:off x="8175823" y="2590800"/>
            <a:ext cx="8429262" cy="5067300"/>
          </a:xfrm>
          <a:prstGeom prst="rect">
            <a:avLst/>
          </a:prstGeom>
        </p:spPr>
        <p:txBody>
          <a:bodyPr anchor="t" rtlCol="false" tIns="0" lIns="0" bIns="0" rIns="0">
            <a:spAutoFit/>
          </a:bodyPr>
          <a:lstStyle/>
          <a:p>
            <a:pPr algn="just" marL="0" indent="0" lvl="0">
              <a:lnSpc>
                <a:spcPts val="3600"/>
              </a:lnSpc>
              <a:spcBef>
                <a:spcPct val="0"/>
              </a:spcBef>
            </a:pPr>
            <a:r>
              <a:rPr lang="en-US" sz="3000">
                <a:solidFill>
                  <a:srgbClr val="FFFFFF"/>
                </a:solidFill>
                <a:latin typeface="Arcade Gamer"/>
              </a:rPr>
              <a:t>IN CONCLUSION, THE TBATE LANDING PAGE EFFECTIVELY SHOWCASES THE STORY AND ITS CHARACTERS WHILE PROVIDING INTERACTIVE ELEMENTS AND AESTHETIC ENHANCEMENTS TO ENGAGE USERS. THE USE OF HTML, CSS, AND RESPONSIVE DESIGN PRINCIPLES ENSURES A SMOOTH USER EXPERIENCE ACROSS DEVICES.</a:t>
            </a:r>
          </a:p>
        </p:txBody>
      </p:sp>
      <p:sp>
        <p:nvSpPr>
          <p:cNvPr name="TextBox 19" id="19"/>
          <p:cNvSpPr txBox="true"/>
          <p:nvPr/>
        </p:nvSpPr>
        <p:spPr>
          <a:xfrm rot="0">
            <a:off x="8335632" y="1205723"/>
            <a:ext cx="7614857" cy="938279"/>
          </a:xfrm>
          <a:prstGeom prst="rect">
            <a:avLst/>
          </a:prstGeom>
        </p:spPr>
        <p:txBody>
          <a:bodyPr anchor="t" rtlCol="false" tIns="0" lIns="0" bIns="0" rIns="0">
            <a:spAutoFit/>
          </a:bodyPr>
          <a:lstStyle/>
          <a:p>
            <a:pPr algn="ctr">
              <a:lnSpc>
                <a:spcPts val="6832"/>
              </a:lnSpc>
            </a:pPr>
            <a:r>
              <a:rPr lang="en-US" sz="6100">
                <a:solidFill>
                  <a:srgbClr val="FF63D8"/>
                </a:solidFill>
                <a:latin typeface="Arcade Gamer"/>
              </a:rPr>
              <a:t>CONCLUSION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DAGGz4R6q7E</dc:identifier>
  <dcterms:modified xsi:type="dcterms:W3CDTF">2011-08-01T06:04:30Z</dcterms:modified>
  <cp:revision>1</cp:revision>
  <dc:title>tbate - oibsip</dc:title>
</cp:coreProperties>
</file>