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adley" charset="1" panose="00000500000000000000"/>
      <p:regular r:id="rId16"/>
    </p:embeddedFont>
    <p:embeddedFont>
      <p:font typeface="Raleway" charset="1" panose="020B0503030101060003"/>
      <p:regular r:id="rId17"/>
    </p:embeddedFont>
    <p:embeddedFont>
      <p:font typeface="Raleway Bold" charset="1" panose="020B0803030101060003"/>
      <p:regular r:id="rId18"/>
    </p:embeddedFont>
    <p:embeddedFont>
      <p:font typeface="Prata" charset="1" panose="00000500000000000000"/>
      <p:regular r:id="rId19"/>
    </p:embeddedFont>
    <p:embeddedFont>
      <p:font typeface="Radley Italic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028700" y="3695700"/>
            <a:ext cx="14745813" cy="1600200"/>
          </a:xfrm>
          <a:prstGeom prst="rect">
            <a:avLst/>
          </a:prstGeom>
        </p:spPr>
        <p:txBody>
          <a:bodyPr anchor="t" rtlCol="false" tIns="0" lIns="0" bIns="0" rIns="0">
            <a:spAutoFit/>
          </a:bodyPr>
          <a:lstStyle/>
          <a:p>
            <a:pPr algn="l">
              <a:lnSpc>
                <a:spcPts val="12000"/>
              </a:lnSpc>
            </a:pPr>
            <a:r>
              <a:rPr lang="en-US" sz="12000">
                <a:solidFill>
                  <a:srgbClr val="804F3B"/>
                </a:solidFill>
                <a:latin typeface="Radley"/>
              </a:rPr>
              <a:t>Voice Assistant</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5400000">
            <a:off x="16399230" y="8400284"/>
            <a:ext cx="2277949" cy="316230"/>
          </a:xfrm>
          <a:prstGeom prst="rect">
            <a:avLst/>
          </a:prstGeom>
        </p:spPr>
        <p:txBody>
          <a:bodyPr anchor="t" rtlCol="false" tIns="0" lIns="0" bIns="0" rIns="0">
            <a:spAutoFit/>
          </a:bodyPr>
          <a:lstStyle/>
          <a:p>
            <a:pPr algn="r">
              <a:lnSpc>
                <a:spcPts val="2520"/>
              </a:lnSpc>
            </a:pPr>
            <a:r>
              <a:rPr lang="en-US" sz="1800">
                <a:solidFill>
                  <a:srgbClr val="804F3B"/>
                </a:solidFill>
                <a:latin typeface="Raleway"/>
              </a:rPr>
              <a:t>Voice Assitant</a:t>
            </a:r>
          </a:p>
        </p:txBody>
      </p:sp>
      <p:sp>
        <p:nvSpPr>
          <p:cNvPr name="TextBox 6" id="6"/>
          <p:cNvSpPr txBox="true"/>
          <p:nvPr/>
        </p:nvSpPr>
        <p:spPr>
          <a:xfrm rot="0">
            <a:off x="8401607" y="8069984"/>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a:rPr>
              <a:t>Varshini A</a:t>
            </a:r>
          </a:p>
        </p:txBody>
      </p:sp>
      <p:sp>
        <p:nvSpPr>
          <p:cNvPr name="TextBox 7" id="7"/>
          <p:cNvSpPr txBox="true"/>
          <p:nvPr/>
        </p:nvSpPr>
        <p:spPr>
          <a:xfrm rot="0">
            <a:off x="1028700" y="5551143"/>
            <a:ext cx="10344796"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Bold"/>
              </a:rPr>
              <a:t>Basic Command Recognition to Advanced NLP Capabilites</a:t>
            </a:r>
          </a:p>
        </p:txBody>
      </p:sp>
      <p:sp>
        <p:nvSpPr>
          <p:cNvPr name="TextBox 8" id="8"/>
          <p:cNvSpPr txBox="true"/>
          <p:nvPr/>
        </p:nvSpPr>
        <p:spPr>
          <a:xfrm rot="0">
            <a:off x="8416605" y="7645804"/>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Bold"/>
              </a:rPr>
              <a:t>By</a:t>
            </a:r>
          </a:p>
        </p:txBody>
      </p:sp>
      <p:sp>
        <p:nvSpPr>
          <p:cNvPr name="TextBox 9" id="9"/>
          <p:cNvSpPr txBox="true"/>
          <p:nvPr/>
        </p:nvSpPr>
        <p:spPr>
          <a:xfrm rot="0">
            <a:off x="1028700" y="690944"/>
            <a:ext cx="2178410" cy="675513"/>
          </a:xfrm>
          <a:prstGeom prst="rect">
            <a:avLst/>
          </a:prstGeom>
        </p:spPr>
        <p:txBody>
          <a:bodyPr anchor="t" rtlCol="false" tIns="0" lIns="0" bIns="0" rIns="0">
            <a:spAutoFit/>
          </a:bodyPr>
          <a:lstStyle/>
          <a:p>
            <a:pPr algn="l">
              <a:lnSpc>
                <a:spcPts val="2690"/>
              </a:lnSpc>
            </a:pPr>
            <a:r>
              <a:rPr lang="en-US" sz="2299">
                <a:solidFill>
                  <a:srgbClr val="804F3B"/>
                </a:solidFill>
                <a:latin typeface="Raleway Bold"/>
              </a:rPr>
              <a:t>OASIS INFOBYTE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935357" y="3412186"/>
            <a:ext cx="7665281" cy="6898753"/>
          </a:xfrm>
          <a:custGeom>
            <a:avLst/>
            <a:gdLst/>
            <a:ahLst/>
            <a:cxnLst/>
            <a:rect r="r" b="b" t="t" l="l"/>
            <a:pathLst>
              <a:path h="6898753" w="7665281">
                <a:moveTo>
                  <a:pt x="0" y="0"/>
                </a:moveTo>
                <a:lnTo>
                  <a:pt x="7665281" y="0"/>
                </a:lnTo>
                <a:lnTo>
                  <a:pt x="7665281" y="6898753"/>
                </a:lnTo>
                <a:lnTo>
                  <a:pt x="0" y="689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730617" y="3859109"/>
            <a:ext cx="8649280" cy="5063490"/>
          </a:xfrm>
          <a:prstGeom prst="rect">
            <a:avLst/>
          </a:prstGeom>
        </p:spPr>
        <p:txBody>
          <a:bodyPr anchor="t" rtlCol="false" tIns="0" lIns="0" bIns="0" rIns="0">
            <a:spAutoFit/>
          </a:bodyPr>
          <a:lstStyle/>
          <a:p>
            <a:pPr algn="l">
              <a:lnSpc>
                <a:spcPts val="5039"/>
              </a:lnSpc>
            </a:pPr>
            <a:r>
              <a:rPr lang="en-US" sz="2799">
                <a:solidFill>
                  <a:srgbClr val="804F3B"/>
                </a:solidFill>
                <a:latin typeface="Raleway"/>
              </a:rPr>
              <a:t>The voice assistant project aims to develop a system that can understand and respond to voice commands. This project demonstrates the evolution from a simple voice command recognition system to a more sophisticated assistant that utilizes natural language processing (NLP) and integrates with various APIs for providing services like weather updates, news headlines, and web search results.</a:t>
            </a:r>
          </a:p>
        </p:txBody>
      </p:sp>
      <p:sp>
        <p:nvSpPr>
          <p:cNvPr name="TextBox 7" id="7"/>
          <p:cNvSpPr txBox="true"/>
          <p:nvPr/>
        </p:nvSpPr>
        <p:spPr>
          <a:xfrm rot="0">
            <a:off x="6730617" y="3088018"/>
            <a:ext cx="10010167" cy="534035"/>
          </a:xfrm>
          <a:prstGeom prst="rect">
            <a:avLst/>
          </a:prstGeom>
        </p:spPr>
        <p:txBody>
          <a:bodyPr anchor="t" rtlCol="false" tIns="0" lIns="0" bIns="0" rIns="0">
            <a:spAutoFit/>
          </a:bodyPr>
          <a:lstStyle/>
          <a:p>
            <a:pPr algn="l">
              <a:lnSpc>
                <a:spcPts val="4479"/>
              </a:lnSpc>
            </a:pPr>
            <a:r>
              <a:rPr lang="en-US" sz="2799" spc="27">
                <a:solidFill>
                  <a:srgbClr val="804F3B"/>
                </a:solidFill>
                <a:latin typeface="Raleway Bold"/>
              </a:rPr>
              <a:t>Brief Overview of the Voice Assistant Project</a:t>
            </a:r>
          </a:p>
        </p:txBody>
      </p:sp>
      <p:sp>
        <p:nvSpPr>
          <p:cNvPr name="TextBox 8" id="8"/>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9" id="9"/>
          <p:cNvSpPr txBox="true"/>
          <p:nvPr/>
        </p:nvSpPr>
        <p:spPr>
          <a:xfrm rot="0">
            <a:off x="1355447" y="703961"/>
            <a:ext cx="3235298" cy="283083"/>
          </a:xfrm>
          <a:prstGeom prst="rect">
            <a:avLst/>
          </a:prstGeom>
        </p:spPr>
        <p:txBody>
          <a:bodyPr anchor="t" rtlCol="false" tIns="0" lIns="0" bIns="0" rIns="0">
            <a:spAutoFit/>
          </a:bodyPr>
          <a:lstStyle/>
          <a:p>
            <a:pPr algn="just">
              <a:lnSpc>
                <a:spcPts val="2105"/>
              </a:lnSpc>
            </a:pPr>
            <a:r>
              <a:rPr lang="en-US" sz="1799">
                <a:solidFill>
                  <a:srgbClr val="804F3B"/>
                </a:solidFill>
                <a:latin typeface="Raleway Bold"/>
              </a:rPr>
              <a:t>INTRODUCTION</a:t>
            </a:r>
          </a:p>
        </p:txBody>
      </p:sp>
      <p:sp>
        <p:nvSpPr>
          <p:cNvPr name="TextBox 10" id="10"/>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935357" y="3412186"/>
            <a:ext cx="7665281" cy="6898753"/>
          </a:xfrm>
          <a:custGeom>
            <a:avLst/>
            <a:gdLst/>
            <a:ahLst/>
            <a:cxnLst/>
            <a:rect r="r" b="b" t="t" l="l"/>
            <a:pathLst>
              <a:path h="6898753" w="7665281">
                <a:moveTo>
                  <a:pt x="0" y="0"/>
                </a:moveTo>
                <a:lnTo>
                  <a:pt x="7665281" y="0"/>
                </a:lnTo>
                <a:lnTo>
                  <a:pt x="7665281" y="6898753"/>
                </a:lnTo>
                <a:lnTo>
                  <a:pt x="0" y="6898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730617" y="3859109"/>
            <a:ext cx="8649280" cy="5063490"/>
          </a:xfrm>
          <a:prstGeom prst="rect">
            <a:avLst/>
          </a:prstGeom>
        </p:spPr>
        <p:txBody>
          <a:bodyPr anchor="t" rtlCol="false" tIns="0" lIns="0" bIns="0" rIns="0">
            <a:spAutoFit/>
          </a:bodyPr>
          <a:lstStyle/>
          <a:p>
            <a:pPr algn="l">
              <a:lnSpc>
                <a:spcPts val="5039"/>
              </a:lnSpc>
            </a:pPr>
            <a:r>
              <a:rPr lang="en-US" sz="2799">
                <a:solidFill>
                  <a:srgbClr val="804F3B"/>
                </a:solidFill>
                <a:latin typeface="Raleway"/>
              </a:rPr>
              <a:t>The easy version of the voice assistant focuses on recognizing and responding to basic voice commands, demonstrating the foundational concept of speech recognition. In contrast, the advanced version incorporates NLP capabilities, text-to-speech conversion, and integrates multiple APIs, significantly enhancing its functionality and user interaction.</a:t>
            </a:r>
          </a:p>
        </p:txBody>
      </p:sp>
      <p:sp>
        <p:nvSpPr>
          <p:cNvPr name="TextBox 7" id="7"/>
          <p:cNvSpPr txBox="true"/>
          <p:nvPr/>
        </p:nvSpPr>
        <p:spPr>
          <a:xfrm rot="0">
            <a:off x="6730617" y="3088018"/>
            <a:ext cx="10010167" cy="534035"/>
          </a:xfrm>
          <a:prstGeom prst="rect">
            <a:avLst/>
          </a:prstGeom>
        </p:spPr>
        <p:txBody>
          <a:bodyPr anchor="t" rtlCol="false" tIns="0" lIns="0" bIns="0" rIns="0">
            <a:spAutoFit/>
          </a:bodyPr>
          <a:lstStyle/>
          <a:p>
            <a:pPr algn="l">
              <a:lnSpc>
                <a:spcPts val="4479"/>
              </a:lnSpc>
            </a:pPr>
            <a:r>
              <a:rPr lang="en-US" sz="2799" spc="27">
                <a:solidFill>
                  <a:srgbClr val="804F3B"/>
                </a:solidFill>
                <a:latin typeface="Raleway Bold"/>
              </a:rPr>
              <a:t>Comparison of Easy and Advanced Versions</a:t>
            </a:r>
          </a:p>
        </p:txBody>
      </p:sp>
      <p:sp>
        <p:nvSpPr>
          <p:cNvPr name="TextBox 8" id="8"/>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9" id="9"/>
          <p:cNvSpPr txBox="true"/>
          <p:nvPr/>
        </p:nvSpPr>
        <p:spPr>
          <a:xfrm rot="0">
            <a:off x="1355447" y="703961"/>
            <a:ext cx="3235298" cy="283083"/>
          </a:xfrm>
          <a:prstGeom prst="rect">
            <a:avLst/>
          </a:prstGeom>
        </p:spPr>
        <p:txBody>
          <a:bodyPr anchor="t" rtlCol="false" tIns="0" lIns="0" bIns="0" rIns="0">
            <a:spAutoFit/>
          </a:bodyPr>
          <a:lstStyle/>
          <a:p>
            <a:pPr algn="just">
              <a:lnSpc>
                <a:spcPts val="2105"/>
              </a:lnSpc>
            </a:pPr>
            <a:r>
              <a:rPr lang="en-US" sz="1799">
                <a:solidFill>
                  <a:srgbClr val="804F3B"/>
                </a:solidFill>
                <a:latin typeface="Raleway Bold"/>
              </a:rPr>
              <a:t>INTRODUCTION</a:t>
            </a:r>
          </a:p>
        </p:txBody>
      </p:sp>
      <p:sp>
        <p:nvSpPr>
          <p:cNvPr name="TextBox 10" id="10"/>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true" flipV="false" rot="0">
            <a:off x="12104142" y="1781595"/>
            <a:ext cx="3425690" cy="7476705"/>
          </a:xfrm>
          <a:custGeom>
            <a:avLst/>
            <a:gdLst/>
            <a:ahLst/>
            <a:cxnLst/>
            <a:rect r="r" b="b" t="t" l="l"/>
            <a:pathLst>
              <a:path h="7476705" w="3425690">
                <a:moveTo>
                  <a:pt x="3425690" y="0"/>
                </a:moveTo>
                <a:lnTo>
                  <a:pt x="0" y="0"/>
                </a:lnTo>
                <a:lnTo>
                  <a:pt x="0" y="7476705"/>
                </a:lnTo>
                <a:lnTo>
                  <a:pt x="3425690" y="7476705"/>
                </a:lnTo>
                <a:lnTo>
                  <a:pt x="342569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7" id="7"/>
          <p:cNvSpPr txBox="true"/>
          <p:nvPr/>
        </p:nvSpPr>
        <p:spPr>
          <a:xfrm rot="0">
            <a:off x="1355447" y="713486"/>
            <a:ext cx="3235298"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EASY VERSION</a:t>
            </a:r>
          </a:p>
        </p:txBody>
      </p:sp>
      <p:grpSp>
        <p:nvGrpSpPr>
          <p:cNvPr name="Group 8" id="8"/>
          <p:cNvGrpSpPr/>
          <p:nvPr/>
        </p:nvGrpSpPr>
        <p:grpSpPr>
          <a:xfrm rot="0">
            <a:off x="1355447" y="1344561"/>
            <a:ext cx="4652866" cy="6637389"/>
            <a:chOff x="0" y="0"/>
            <a:chExt cx="6203821" cy="8849851"/>
          </a:xfrm>
        </p:grpSpPr>
        <p:sp>
          <p:nvSpPr>
            <p:cNvPr name="TextBox 9" id="9"/>
            <p:cNvSpPr txBox="true"/>
            <p:nvPr/>
          </p:nvSpPr>
          <p:spPr>
            <a:xfrm rot="0">
              <a:off x="0" y="2155681"/>
              <a:ext cx="6203821" cy="6694170"/>
            </a:xfrm>
            <a:prstGeom prst="rect">
              <a:avLst/>
            </a:prstGeom>
          </p:spPr>
          <p:txBody>
            <a:bodyPr anchor="t" rtlCol="false" tIns="0" lIns="0" bIns="0" rIns="0">
              <a:spAutoFit/>
            </a:bodyPr>
            <a:lstStyle/>
            <a:p>
              <a:pPr algn="l">
                <a:lnSpc>
                  <a:spcPts val="5039"/>
                </a:lnSpc>
              </a:pPr>
              <a:r>
                <a:rPr lang="en-US" sz="2799">
                  <a:solidFill>
                    <a:srgbClr val="804F3B"/>
                  </a:solidFill>
                  <a:latin typeface="Raleway"/>
                </a:rPr>
                <a:t>The goal of the easy version is to understand and respond to basic voice commands. It involves minimal functionality but sets the foundation for more complex implementations.</a:t>
              </a:r>
            </a:p>
          </p:txBody>
        </p:sp>
        <p:sp>
          <p:nvSpPr>
            <p:cNvPr name="TextBox 10" id="10"/>
            <p:cNvSpPr txBox="true"/>
            <p:nvPr/>
          </p:nvSpPr>
          <p:spPr>
            <a:xfrm rot="0">
              <a:off x="0" y="-104775"/>
              <a:ext cx="5336531" cy="2163022"/>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Objective: Recognize and Respond to Simple Voice Commands</a:t>
              </a:r>
            </a:p>
          </p:txBody>
        </p:sp>
      </p:grpSp>
      <p:grpSp>
        <p:nvGrpSpPr>
          <p:cNvPr name="Group 11" id="11"/>
          <p:cNvGrpSpPr/>
          <p:nvPr/>
        </p:nvGrpSpPr>
        <p:grpSpPr>
          <a:xfrm rot="0">
            <a:off x="6892470" y="1344561"/>
            <a:ext cx="4966054" cy="3027096"/>
            <a:chOff x="0" y="0"/>
            <a:chExt cx="6621405" cy="4036128"/>
          </a:xfrm>
        </p:grpSpPr>
        <p:sp>
          <p:nvSpPr>
            <p:cNvPr name="TextBox 12" id="12"/>
            <p:cNvSpPr txBox="true"/>
            <p:nvPr/>
          </p:nvSpPr>
          <p:spPr>
            <a:xfrm rot="0">
              <a:off x="0" y="745558"/>
              <a:ext cx="6621405" cy="3290570"/>
            </a:xfrm>
            <a:prstGeom prst="rect">
              <a:avLst/>
            </a:prstGeom>
          </p:spPr>
          <p:txBody>
            <a:bodyPr anchor="t" rtlCol="false" tIns="0" lIns="0" bIns="0" rIns="0">
              <a:spAutoFit/>
            </a:bodyPr>
            <a:lstStyle/>
            <a:p>
              <a:pPr algn="l" marL="604519" indent="-302260" lvl="1">
                <a:lnSpc>
                  <a:spcPts val="5039"/>
                </a:lnSpc>
                <a:buFont typeface="Arial"/>
                <a:buChar char="•"/>
              </a:pPr>
              <a:r>
                <a:rPr lang="en-US" sz="2799">
                  <a:solidFill>
                    <a:srgbClr val="804F3B"/>
                  </a:solidFill>
                  <a:latin typeface="Raleway"/>
                </a:rPr>
                <a:t>Simple</a:t>
              </a:r>
              <a:r>
                <a:rPr lang="en-US" sz="2799">
                  <a:solidFill>
                    <a:srgbClr val="804F3B"/>
                  </a:solidFill>
                  <a:latin typeface="Raleway"/>
                </a:rPr>
                <a:t> command recognition.</a:t>
              </a:r>
            </a:p>
            <a:p>
              <a:pPr algn="l" marL="604519" indent="-302260" lvl="1">
                <a:lnSpc>
                  <a:spcPts val="5039"/>
                </a:lnSpc>
                <a:buFont typeface="Arial"/>
                <a:buChar char="•"/>
              </a:pPr>
              <a:r>
                <a:rPr lang="en-US" sz="2799">
                  <a:solidFill>
                    <a:srgbClr val="804F3B"/>
                  </a:solidFill>
                  <a:latin typeface="Raleway"/>
                </a:rPr>
                <a:t>Responds to the command "Hello".</a:t>
              </a:r>
            </a:p>
          </p:txBody>
        </p:sp>
        <p:sp>
          <p:nvSpPr>
            <p:cNvPr name="TextBox 13" id="13"/>
            <p:cNvSpPr txBox="true"/>
            <p:nvPr/>
          </p:nvSpPr>
          <p:spPr>
            <a:xfrm rot="0">
              <a:off x="0" y="-104775"/>
              <a:ext cx="5336531" cy="664422"/>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Features</a:t>
              </a:r>
            </a:p>
          </p:txBody>
        </p:sp>
      </p:grpSp>
      <p:sp>
        <p:nvSpPr>
          <p:cNvPr name="TextBox 14" id="14"/>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4</a:t>
            </a:r>
          </a:p>
        </p:txBody>
      </p:sp>
      <p:grpSp>
        <p:nvGrpSpPr>
          <p:cNvPr name="Group 15" id="15"/>
          <p:cNvGrpSpPr/>
          <p:nvPr/>
        </p:nvGrpSpPr>
        <p:grpSpPr>
          <a:xfrm rot="0">
            <a:off x="6892470" y="5519948"/>
            <a:ext cx="4966054" cy="2388921"/>
            <a:chOff x="0" y="0"/>
            <a:chExt cx="6621405" cy="3185228"/>
          </a:xfrm>
        </p:grpSpPr>
        <p:sp>
          <p:nvSpPr>
            <p:cNvPr name="TextBox 16" id="16"/>
            <p:cNvSpPr txBox="true"/>
            <p:nvPr/>
          </p:nvSpPr>
          <p:spPr>
            <a:xfrm rot="0">
              <a:off x="0" y="745558"/>
              <a:ext cx="6621405" cy="2439670"/>
            </a:xfrm>
            <a:prstGeom prst="rect">
              <a:avLst/>
            </a:prstGeom>
          </p:spPr>
          <p:txBody>
            <a:bodyPr anchor="t" rtlCol="false" tIns="0" lIns="0" bIns="0" rIns="0">
              <a:spAutoFit/>
            </a:bodyPr>
            <a:lstStyle/>
            <a:p>
              <a:pPr algn="l" marL="604519" indent="-302260" lvl="1">
                <a:lnSpc>
                  <a:spcPts val="5039"/>
                </a:lnSpc>
                <a:buFont typeface="Arial"/>
                <a:buChar char="•"/>
              </a:pPr>
              <a:r>
                <a:rPr lang="en-US" sz="2799">
                  <a:solidFill>
                    <a:srgbClr val="804F3B"/>
                  </a:solidFill>
                  <a:latin typeface="Raleway"/>
                </a:rPr>
                <a:t>Python</a:t>
              </a:r>
            </a:p>
            <a:p>
              <a:pPr algn="l" marL="604519" indent="-302260" lvl="1">
                <a:lnSpc>
                  <a:spcPts val="5039"/>
                </a:lnSpc>
                <a:buFont typeface="Arial"/>
                <a:buChar char="•"/>
              </a:pPr>
              <a:r>
                <a:rPr lang="en-US" sz="2799">
                  <a:solidFill>
                    <a:srgbClr val="804F3B"/>
                  </a:solidFill>
                  <a:latin typeface="Raleway"/>
                </a:rPr>
                <a:t>Library: speech_recognition</a:t>
              </a:r>
            </a:p>
          </p:txBody>
        </p:sp>
        <p:sp>
          <p:nvSpPr>
            <p:cNvPr name="TextBox 17" id="17"/>
            <p:cNvSpPr txBox="true"/>
            <p:nvPr/>
          </p:nvSpPr>
          <p:spPr>
            <a:xfrm rot="0">
              <a:off x="0" y="-104775"/>
              <a:ext cx="5336531" cy="664422"/>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Technologies Used</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a:t>
            </a:r>
          </a:p>
        </p:txBody>
      </p:sp>
      <p:sp>
        <p:nvSpPr>
          <p:cNvPr name="TextBox 6" id="6"/>
          <p:cNvSpPr txBox="true"/>
          <p:nvPr/>
        </p:nvSpPr>
        <p:spPr>
          <a:xfrm rot="0">
            <a:off x="1355447" y="713486"/>
            <a:ext cx="3235298" cy="410337"/>
          </a:xfrm>
          <a:prstGeom prst="rect">
            <a:avLst/>
          </a:prstGeom>
        </p:spPr>
        <p:txBody>
          <a:bodyPr anchor="t" rtlCol="false" tIns="0" lIns="0" bIns="0" rIns="0">
            <a:spAutoFit/>
          </a:bodyPr>
          <a:lstStyle/>
          <a:p>
            <a:pPr algn="just">
              <a:lnSpc>
                <a:spcPts val="3158"/>
              </a:lnSpc>
            </a:pPr>
            <a:r>
              <a:rPr lang="en-US" sz="2699">
                <a:solidFill>
                  <a:srgbClr val="804F3B"/>
                </a:solidFill>
                <a:latin typeface="Raleway Bold"/>
              </a:rPr>
              <a:t>IMPLEMENTATION</a:t>
            </a:r>
          </a:p>
        </p:txBody>
      </p:sp>
      <p:sp>
        <p:nvSpPr>
          <p:cNvPr name="TextBox 7" id="7"/>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5</a:t>
            </a:r>
          </a:p>
        </p:txBody>
      </p:sp>
      <p:sp>
        <p:nvSpPr>
          <p:cNvPr name="TextBox 8" id="8"/>
          <p:cNvSpPr txBox="true"/>
          <p:nvPr/>
        </p:nvSpPr>
        <p:spPr>
          <a:xfrm rot="0">
            <a:off x="1266150" y="1623825"/>
            <a:ext cx="14000633" cy="2210435"/>
          </a:xfrm>
          <a:prstGeom prst="rect">
            <a:avLst/>
          </a:prstGeom>
        </p:spPr>
        <p:txBody>
          <a:bodyPr anchor="t" rtlCol="false" tIns="0" lIns="0" bIns="0" rIns="0">
            <a:spAutoFit/>
          </a:bodyPr>
          <a:lstStyle/>
          <a:p>
            <a:pPr algn="l" marL="604519" indent="-302260" lvl="1">
              <a:lnSpc>
                <a:spcPts val="4479"/>
              </a:lnSpc>
              <a:buFont typeface="Arial"/>
              <a:buChar char="•"/>
            </a:pPr>
            <a:r>
              <a:rPr lang="en-US" sz="2799">
                <a:solidFill>
                  <a:srgbClr val="804F3B"/>
                </a:solidFill>
                <a:latin typeface="Radley Bold"/>
              </a:rPr>
              <a:t>Spe</a:t>
            </a:r>
            <a:r>
              <a:rPr lang="en-US" sz="2799">
                <a:solidFill>
                  <a:srgbClr val="804F3B"/>
                </a:solidFill>
                <a:latin typeface="Radley Bold"/>
              </a:rPr>
              <a:t>ech Recognition Using speech_recognition: The assistant listens for audio input and converts it into text using Google's Speech Recognition API.</a:t>
            </a:r>
          </a:p>
          <a:p>
            <a:pPr algn="l" marL="604519" indent="-302260" lvl="1">
              <a:lnSpc>
                <a:spcPts val="4479"/>
              </a:lnSpc>
              <a:buFont typeface="Arial"/>
              <a:buChar char="•"/>
            </a:pPr>
            <a:r>
              <a:rPr lang="en-US" sz="2799">
                <a:solidFill>
                  <a:srgbClr val="804F3B"/>
                </a:solidFill>
                <a:latin typeface="Radley Bold"/>
              </a:rPr>
              <a:t>Handling Basic Commands: The system checks for specific commands like "Hello" and responds appropriately.</a:t>
            </a:r>
          </a:p>
        </p:txBody>
      </p:sp>
      <p:sp>
        <p:nvSpPr>
          <p:cNvPr name="Freeform 9" id="9"/>
          <p:cNvSpPr/>
          <p:nvPr/>
        </p:nvSpPr>
        <p:spPr>
          <a:xfrm flipH="false" flipV="false" rot="0">
            <a:off x="-431644" y="4613233"/>
            <a:ext cx="10044777" cy="9770829"/>
          </a:xfrm>
          <a:custGeom>
            <a:avLst/>
            <a:gdLst/>
            <a:ahLst/>
            <a:cxnLst/>
            <a:rect r="r" b="b" t="t" l="l"/>
            <a:pathLst>
              <a:path h="9770829" w="10044777">
                <a:moveTo>
                  <a:pt x="0" y="0"/>
                </a:moveTo>
                <a:lnTo>
                  <a:pt x="10044778" y="0"/>
                </a:lnTo>
                <a:lnTo>
                  <a:pt x="10044778" y="9770829"/>
                </a:lnTo>
                <a:lnTo>
                  <a:pt x="0" y="9770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8773302" y="4145534"/>
            <a:ext cx="7533042" cy="6875613"/>
          </a:xfrm>
          <a:custGeom>
            <a:avLst/>
            <a:gdLst/>
            <a:ahLst/>
            <a:cxnLst/>
            <a:rect r="r" b="b" t="t" l="l"/>
            <a:pathLst>
              <a:path h="6875613" w="7533042">
                <a:moveTo>
                  <a:pt x="0" y="0"/>
                </a:moveTo>
                <a:lnTo>
                  <a:pt x="7533042" y="0"/>
                </a:lnTo>
                <a:lnTo>
                  <a:pt x="7533042" y="6875613"/>
                </a:lnTo>
                <a:lnTo>
                  <a:pt x="0" y="68756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9592261" y="2951642"/>
            <a:ext cx="6281436" cy="7366289"/>
          </a:xfrm>
          <a:custGeom>
            <a:avLst/>
            <a:gdLst/>
            <a:ahLst/>
            <a:cxnLst/>
            <a:rect r="r" b="b" t="t" l="l"/>
            <a:pathLst>
              <a:path h="7366289" w="6281436">
                <a:moveTo>
                  <a:pt x="0" y="0"/>
                </a:moveTo>
                <a:lnTo>
                  <a:pt x="6281435" y="0"/>
                </a:lnTo>
                <a:lnTo>
                  <a:pt x="6281435" y="7366289"/>
                </a:lnTo>
                <a:lnTo>
                  <a:pt x="0" y="73662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II</a:t>
            </a:r>
          </a:p>
        </p:txBody>
      </p:sp>
      <p:sp>
        <p:nvSpPr>
          <p:cNvPr name="TextBox 7" id="7"/>
          <p:cNvSpPr txBox="true"/>
          <p:nvPr/>
        </p:nvSpPr>
        <p:spPr>
          <a:xfrm rot="0">
            <a:off x="1355447" y="713486"/>
            <a:ext cx="3235298"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ADVANCED VERSION</a:t>
            </a:r>
          </a:p>
        </p:txBody>
      </p:sp>
      <p:sp>
        <p:nvSpPr>
          <p:cNvPr name="TextBox 8" id="8"/>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6</a:t>
            </a:r>
          </a:p>
        </p:txBody>
      </p:sp>
      <p:sp>
        <p:nvSpPr>
          <p:cNvPr name="TextBox 9" id="9"/>
          <p:cNvSpPr txBox="true"/>
          <p:nvPr/>
        </p:nvSpPr>
        <p:spPr>
          <a:xfrm rot="0">
            <a:off x="1339419" y="1863836"/>
            <a:ext cx="12306242" cy="534035"/>
          </a:xfrm>
          <a:prstGeom prst="rect">
            <a:avLst/>
          </a:prstGeom>
        </p:spPr>
        <p:txBody>
          <a:bodyPr anchor="t" rtlCol="false" tIns="0" lIns="0" bIns="0" rIns="0">
            <a:spAutoFit/>
          </a:bodyPr>
          <a:lstStyle/>
          <a:p>
            <a:pPr algn="l">
              <a:lnSpc>
                <a:spcPts val="4479"/>
              </a:lnSpc>
            </a:pPr>
            <a:r>
              <a:rPr lang="en-US" sz="2799">
                <a:solidFill>
                  <a:srgbClr val="804F3B"/>
                </a:solidFill>
                <a:latin typeface="Raleway"/>
              </a:rPr>
              <a:t>Objective:: Create a Sophisticated Voice Assistant with NLP Capabalilities</a:t>
            </a:r>
          </a:p>
        </p:txBody>
      </p:sp>
      <p:sp>
        <p:nvSpPr>
          <p:cNvPr name="TextBox 10" id="10"/>
          <p:cNvSpPr txBox="true"/>
          <p:nvPr/>
        </p:nvSpPr>
        <p:spPr>
          <a:xfrm rot="0">
            <a:off x="1339419" y="2762800"/>
            <a:ext cx="7804581" cy="2772410"/>
          </a:xfrm>
          <a:prstGeom prst="rect">
            <a:avLst/>
          </a:prstGeom>
        </p:spPr>
        <p:txBody>
          <a:bodyPr anchor="t" rtlCol="false" tIns="0" lIns="0" bIns="0" rIns="0">
            <a:spAutoFit/>
          </a:bodyPr>
          <a:lstStyle/>
          <a:p>
            <a:pPr algn="l">
              <a:lnSpc>
                <a:spcPts val="4479"/>
              </a:lnSpc>
            </a:pPr>
            <a:r>
              <a:rPr lang="en-US" sz="2799">
                <a:solidFill>
                  <a:srgbClr val="804F3B"/>
                </a:solidFill>
                <a:latin typeface="Radley Bold"/>
              </a:rPr>
              <a:t>The advanced version aims to create a comprehensive voice assistant that can understand complex queries, provide detailed responses, and offer various services through API integrations.</a:t>
            </a:r>
          </a:p>
        </p:txBody>
      </p:sp>
      <p:sp>
        <p:nvSpPr>
          <p:cNvPr name="TextBox 11" id="11"/>
          <p:cNvSpPr txBox="true"/>
          <p:nvPr/>
        </p:nvSpPr>
        <p:spPr>
          <a:xfrm rot="0">
            <a:off x="1355447" y="5951855"/>
            <a:ext cx="7177016" cy="3787140"/>
          </a:xfrm>
          <a:prstGeom prst="rect">
            <a:avLst/>
          </a:prstGeom>
        </p:spPr>
        <p:txBody>
          <a:bodyPr anchor="t" rtlCol="false" tIns="0" lIns="0" bIns="0" rIns="0">
            <a:spAutoFit/>
          </a:bodyPr>
          <a:lstStyle/>
          <a:p>
            <a:pPr algn="l">
              <a:lnSpc>
                <a:spcPts val="5039"/>
              </a:lnSpc>
            </a:pPr>
            <a:r>
              <a:rPr lang="en-US" sz="2799">
                <a:solidFill>
                  <a:srgbClr val="804F3B"/>
                </a:solidFill>
                <a:latin typeface="Raleway Bold"/>
              </a:rPr>
              <a:t>Features</a:t>
            </a:r>
          </a:p>
          <a:p>
            <a:pPr algn="l" marL="604519" indent="-302260" lvl="1">
              <a:lnSpc>
                <a:spcPts val="5039"/>
              </a:lnSpc>
              <a:buFont typeface="Arial"/>
              <a:buChar char="•"/>
            </a:pPr>
            <a:r>
              <a:rPr lang="en-US" sz="2799">
                <a:solidFill>
                  <a:srgbClr val="804F3B"/>
                </a:solidFill>
                <a:latin typeface="Raleway"/>
              </a:rPr>
              <a:t>Speech recognition.</a:t>
            </a:r>
          </a:p>
          <a:p>
            <a:pPr algn="l" marL="604519" indent="-302260" lvl="1">
              <a:lnSpc>
                <a:spcPts val="5039"/>
              </a:lnSpc>
              <a:buFont typeface="Arial"/>
              <a:buChar char="•"/>
            </a:pPr>
            <a:r>
              <a:rPr lang="en-US" sz="2799">
                <a:solidFill>
                  <a:srgbClr val="804F3B"/>
                </a:solidFill>
                <a:latin typeface="Raleway"/>
              </a:rPr>
              <a:t>Text-to-speech conversion.</a:t>
            </a:r>
          </a:p>
          <a:p>
            <a:pPr algn="l" marL="604519" indent="-302260" lvl="1">
              <a:lnSpc>
                <a:spcPts val="5039"/>
              </a:lnSpc>
              <a:buFont typeface="Arial"/>
              <a:buChar char="•"/>
            </a:pPr>
            <a:r>
              <a:rPr lang="en-US" sz="2799">
                <a:solidFill>
                  <a:srgbClr val="804F3B"/>
                </a:solidFill>
                <a:latin typeface="Raleway"/>
              </a:rPr>
              <a:t>Weather updates.</a:t>
            </a:r>
          </a:p>
          <a:p>
            <a:pPr algn="l" marL="604519" indent="-302260" lvl="1">
              <a:lnSpc>
                <a:spcPts val="5039"/>
              </a:lnSpc>
              <a:buFont typeface="Arial"/>
              <a:buChar char="•"/>
            </a:pPr>
            <a:r>
              <a:rPr lang="en-US" sz="2799">
                <a:solidFill>
                  <a:srgbClr val="804F3B"/>
                </a:solidFill>
                <a:latin typeface="Raleway"/>
              </a:rPr>
              <a:t>News headlines.</a:t>
            </a:r>
          </a:p>
          <a:p>
            <a:pPr algn="l" marL="604519" indent="-302260" lvl="1">
              <a:lnSpc>
                <a:spcPts val="5039"/>
              </a:lnSpc>
              <a:buFont typeface="Arial"/>
              <a:buChar char="•"/>
            </a:pPr>
            <a:r>
              <a:rPr lang="en-US" sz="2799">
                <a:solidFill>
                  <a:srgbClr val="804F3B"/>
                </a:solidFill>
                <a:latin typeface="Raleway"/>
              </a:rPr>
              <a:t>Web search (Google, Wikipedia).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180489" y="3119277"/>
            <a:ext cx="8307170" cy="6139023"/>
          </a:xfrm>
          <a:custGeom>
            <a:avLst/>
            <a:gdLst/>
            <a:ahLst/>
            <a:cxnLst/>
            <a:rect r="r" b="b" t="t" l="l"/>
            <a:pathLst>
              <a:path h="6139023" w="8307170">
                <a:moveTo>
                  <a:pt x="0" y="0"/>
                </a:moveTo>
                <a:lnTo>
                  <a:pt x="8307170" y="0"/>
                </a:lnTo>
                <a:lnTo>
                  <a:pt x="8307170" y="6139023"/>
                </a:lnTo>
                <a:lnTo>
                  <a:pt x="0" y="6139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713486"/>
            <a:ext cx="237450"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II</a:t>
            </a:r>
          </a:p>
        </p:txBody>
      </p:sp>
      <p:sp>
        <p:nvSpPr>
          <p:cNvPr name="TextBox 7" id="7"/>
          <p:cNvSpPr txBox="true"/>
          <p:nvPr/>
        </p:nvSpPr>
        <p:spPr>
          <a:xfrm rot="0">
            <a:off x="1355447" y="713486"/>
            <a:ext cx="3235298" cy="234696"/>
          </a:xfrm>
          <a:prstGeom prst="rect">
            <a:avLst/>
          </a:prstGeom>
        </p:spPr>
        <p:txBody>
          <a:bodyPr anchor="t" rtlCol="false" tIns="0" lIns="0" bIns="0" rIns="0">
            <a:spAutoFit/>
          </a:bodyPr>
          <a:lstStyle/>
          <a:p>
            <a:pPr algn="just">
              <a:lnSpc>
                <a:spcPts val="1871"/>
              </a:lnSpc>
            </a:pPr>
            <a:r>
              <a:rPr lang="en-US" sz="1599">
                <a:solidFill>
                  <a:srgbClr val="804F3B"/>
                </a:solidFill>
                <a:latin typeface="Raleway Bold"/>
              </a:rPr>
              <a:t>ADVANCED VERSION</a:t>
            </a:r>
          </a:p>
        </p:txBody>
      </p:sp>
      <p:sp>
        <p:nvSpPr>
          <p:cNvPr name="TextBox 8" id="8"/>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7</a:t>
            </a:r>
          </a:p>
        </p:txBody>
      </p:sp>
      <p:sp>
        <p:nvSpPr>
          <p:cNvPr name="TextBox 9" id="9"/>
          <p:cNvSpPr txBox="true"/>
          <p:nvPr/>
        </p:nvSpPr>
        <p:spPr>
          <a:xfrm rot="0">
            <a:off x="8286733" y="1863836"/>
            <a:ext cx="7804581" cy="3343910"/>
          </a:xfrm>
          <a:prstGeom prst="rect">
            <a:avLst/>
          </a:prstGeom>
        </p:spPr>
        <p:txBody>
          <a:bodyPr anchor="t" rtlCol="false" tIns="0" lIns="0" bIns="0" rIns="0">
            <a:spAutoFit/>
          </a:bodyPr>
          <a:lstStyle/>
          <a:p>
            <a:pPr algn="l">
              <a:lnSpc>
                <a:spcPts val="4479"/>
              </a:lnSpc>
            </a:pPr>
            <a:r>
              <a:rPr lang="en-US" sz="2799">
                <a:solidFill>
                  <a:srgbClr val="804F3B"/>
                </a:solidFill>
                <a:latin typeface="Raleway"/>
              </a:rPr>
              <a:t>Technologies Used</a:t>
            </a:r>
          </a:p>
          <a:p>
            <a:pPr algn="l" marL="604519" indent="-302260" lvl="1">
              <a:lnSpc>
                <a:spcPts val="4479"/>
              </a:lnSpc>
              <a:buFont typeface="Arial"/>
              <a:buChar char="•"/>
            </a:pPr>
            <a:r>
              <a:rPr lang="en-US" sz="2799">
                <a:solidFill>
                  <a:srgbClr val="804F3B"/>
                </a:solidFill>
                <a:latin typeface="Raleway"/>
              </a:rPr>
              <a:t>Python</a:t>
            </a:r>
          </a:p>
          <a:p>
            <a:pPr algn="l" marL="604519" indent="-302260" lvl="1">
              <a:lnSpc>
                <a:spcPts val="4479"/>
              </a:lnSpc>
              <a:buFont typeface="Arial"/>
              <a:buChar char="•"/>
            </a:pPr>
            <a:r>
              <a:rPr lang="en-US" sz="2799">
                <a:solidFill>
                  <a:srgbClr val="804F3B"/>
                </a:solidFill>
                <a:latin typeface="Raleway"/>
              </a:rPr>
              <a:t>Libraries: speech_recognition, pyttsx3, spacy, requests, feedparser, webbrowser, wikipedia</a:t>
            </a:r>
          </a:p>
          <a:p>
            <a:pPr algn="l">
              <a:lnSpc>
                <a:spcPts val="447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Freeform 5" id="5"/>
          <p:cNvSpPr/>
          <p:nvPr/>
        </p:nvSpPr>
        <p:spPr>
          <a:xfrm flipH="false" flipV="false" rot="0">
            <a:off x="-1180489" y="3119277"/>
            <a:ext cx="8307170" cy="6139023"/>
          </a:xfrm>
          <a:custGeom>
            <a:avLst/>
            <a:gdLst/>
            <a:ahLst/>
            <a:cxnLst/>
            <a:rect r="r" b="b" t="t" l="l"/>
            <a:pathLst>
              <a:path h="6139023" w="8307170">
                <a:moveTo>
                  <a:pt x="0" y="0"/>
                </a:moveTo>
                <a:lnTo>
                  <a:pt x="8307170" y="0"/>
                </a:lnTo>
                <a:lnTo>
                  <a:pt x="8307170" y="6139023"/>
                </a:lnTo>
                <a:lnTo>
                  <a:pt x="0" y="61390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918147" y="9134475"/>
            <a:ext cx="682307" cy="5810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8</a:t>
            </a:r>
          </a:p>
        </p:txBody>
      </p:sp>
      <p:sp>
        <p:nvSpPr>
          <p:cNvPr name="TextBox 7" id="7"/>
          <p:cNvSpPr txBox="true"/>
          <p:nvPr/>
        </p:nvSpPr>
        <p:spPr>
          <a:xfrm rot="0">
            <a:off x="7612713" y="1438275"/>
            <a:ext cx="8642039" cy="7286625"/>
          </a:xfrm>
          <a:prstGeom prst="rect">
            <a:avLst/>
          </a:prstGeom>
        </p:spPr>
        <p:txBody>
          <a:bodyPr anchor="t" rtlCol="false" tIns="0" lIns="0" bIns="0" rIns="0">
            <a:spAutoFit/>
          </a:bodyPr>
          <a:lstStyle/>
          <a:p>
            <a:pPr algn="l">
              <a:lnSpc>
                <a:spcPts val="4800"/>
              </a:lnSpc>
              <a:spcBef>
                <a:spcPct val="0"/>
              </a:spcBef>
            </a:pPr>
            <a:r>
              <a:rPr lang="en-US" sz="3000">
                <a:solidFill>
                  <a:srgbClr val="804F3B"/>
                </a:solidFill>
                <a:latin typeface="Raleway"/>
              </a:rPr>
              <a:t>I</a:t>
            </a:r>
            <a:r>
              <a:rPr lang="en-US" sz="3000" u="sng">
                <a:solidFill>
                  <a:srgbClr val="804F3B"/>
                </a:solidFill>
                <a:latin typeface="Raleway Bold"/>
              </a:rPr>
              <a:t>mplementation</a:t>
            </a:r>
          </a:p>
          <a:p>
            <a:pPr algn="l">
              <a:lnSpc>
                <a:spcPts val="4800"/>
              </a:lnSpc>
              <a:spcBef>
                <a:spcPct val="0"/>
              </a:spcBef>
            </a:pPr>
          </a:p>
          <a:p>
            <a:pPr algn="l">
              <a:lnSpc>
                <a:spcPts val="4800"/>
              </a:lnSpc>
              <a:spcBef>
                <a:spcPct val="0"/>
              </a:spcBef>
            </a:pPr>
            <a:r>
              <a:rPr lang="en-US" sz="3000">
                <a:solidFill>
                  <a:srgbClr val="804F3B"/>
                </a:solidFill>
                <a:latin typeface="Raleway Bold"/>
              </a:rPr>
              <a:t>Speech Recognition and Text-to-Speech:</a:t>
            </a:r>
            <a:r>
              <a:rPr lang="en-US" sz="3000">
                <a:solidFill>
                  <a:srgbClr val="804F3B"/>
                </a:solidFill>
                <a:latin typeface="Raleway"/>
              </a:rPr>
              <a:t> The assistant converts speech to text and vice versa, enabling interactive communication with the user.</a:t>
            </a:r>
          </a:p>
          <a:p>
            <a:pPr algn="l">
              <a:lnSpc>
                <a:spcPts val="4800"/>
              </a:lnSpc>
              <a:spcBef>
                <a:spcPct val="0"/>
              </a:spcBef>
            </a:pPr>
            <a:r>
              <a:rPr lang="en-US" sz="3000">
                <a:solidFill>
                  <a:srgbClr val="804F3B"/>
                </a:solidFill>
                <a:latin typeface="Raleway Bold"/>
              </a:rPr>
              <a:t>Natural Language Processing with spacy:</a:t>
            </a:r>
            <a:r>
              <a:rPr lang="en-US" sz="3000">
                <a:solidFill>
                  <a:srgbClr val="804F3B"/>
                </a:solidFill>
                <a:latin typeface="Raleway"/>
              </a:rPr>
              <a:t> The assistant uses NLP to understand and process user queries.</a:t>
            </a:r>
          </a:p>
          <a:p>
            <a:pPr algn="l">
              <a:lnSpc>
                <a:spcPts val="4800"/>
              </a:lnSpc>
              <a:spcBef>
                <a:spcPct val="0"/>
              </a:spcBef>
            </a:pPr>
            <a:r>
              <a:rPr lang="en-US" sz="3000">
                <a:solidFill>
                  <a:srgbClr val="804F3B"/>
                </a:solidFill>
                <a:latin typeface="Raleway Bold"/>
              </a:rPr>
              <a:t>API Integration (OpenWeatherMap, News API):</a:t>
            </a:r>
            <a:r>
              <a:rPr lang="en-US" sz="3000">
                <a:solidFill>
                  <a:srgbClr val="804F3B"/>
                </a:solidFill>
                <a:latin typeface="Raleway"/>
              </a:rPr>
              <a:t> The assistant fetches weather updates and news headlines through API calls.</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7127588" y="9201150"/>
            <a:ext cx="773608" cy="537845"/>
          </a:xfrm>
          <a:prstGeom prst="rect">
            <a:avLst/>
          </a:prstGeom>
        </p:spPr>
        <p:txBody>
          <a:bodyPr anchor="t" rtlCol="false" tIns="0" lIns="0" bIns="0" rIns="0">
            <a:spAutoFit/>
          </a:bodyPr>
          <a:lstStyle/>
          <a:p>
            <a:pPr algn="ctr">
              <a:lnSpc>
                <a:spcPts val="4480"/>
              </a:lnSpc>
            </a:pPr>
            <a:r>
              <a:rPr lang="en-US" sz="3200">
                <a:solidFill>
                  <a:srgbClr val="804F3B"/>
                </a:solidFill>
                <a:latin typeface="Prata"/>
              </a:rPr>
              <a:t>2</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0">
            <a:off x="16918147" y="9134475"/>
            <a:ext cx="682307" cy="1190625"/>
          </a:xfrm>
          <a:prstGeom prst="rect">
            <a:avLst/>
          </a:prstGeom>
        </p:spPr>
        <p:txBody>
          <a:bodyPr anchor="t" rtlCol="false" tIns="0" lIns="0" bIns="0" rIns="0">
            <a:spAutoFit/>
          </a:bodyPr>
          <a:lstStyle/>
          <a:p>
            <a:pPr algn="r">
              <a:lnSpc>
                <a:spcPts val="4800"/>
              </a:lnSpc>
            </a:pPr>
            <a:r>
              <a:rPr lang="en-US" sz="3000">
                <a:solidFill>
                  <a:srgbClr val="804F3B"/>
                </a:solidFill>
                <a:latin typeface="Raleway"/>
              </a:rPr>
              <a:t>9</a:t>
            </a:r>
          </a:p>
          <a:p>
            <a:pPr algn="r">
              <a:lnSpc>
                <a:spcPts val="4800"/>
              </a:lnSpc>
            </a:pPr>
          </a:p>
        </p:txBody>
      </p:sp>
      <p:sp>
        <p:nvSpPr>
          <p:cNvPr name="TextBox 6" id="6"/>
          <p:cNvSpPr txBox="true"/>
          <p:nvPr/>
        </p:nvSpPr>
        <p:spPr>
          <a:xfrm rot="0">
            <a:off x="1355447" y="1863836"/>
            <a:ext cx="6405098" cy="534035"/>
          </a:xfrm>
          <a:prstGeom prst="rect">
            <a:avLst/>
          </a:prstGeom>
        </p:spPr>
        <p:txBody>
          <a:bodyPr anchor="t" rtlCol="false" tIns="0" lIns="0" bIns="0" rIns="0">
            <a:spAutoFit/>
          </a:bodyPr>
          <a:lstStyle/>
          <a:p>
            <a:pPr algn="l">
              <a:lnSpc>
                <a:spcPts val="4479"/>
              </a:lnSpc>
            </a:pPr>
            <a:r>
              <a:rPr lang="en-US" sz="2799">
                <a:solidFill>
                  <a:srgbClr val="804F3B"/>
                </a:solidFill>
                <a:latin typeface="Raleway"/>
              </a:rPr>
              <a:t>Summary of Both Versions</a:t>
            </a:r>
          </a:p>
        </p:txBody>
      </p:sp>
      <p:sp>
        <p:nvSpPr>
          <p:cNvPr name="TextBox 7" id="7"/>
          <p:cNvSpPr txBox="true"/>
          <p:nvPr/>
        </p:nvSpPr>
        <p:spPr>
          <a:xfrm rot="0">
            <a:off x="1355447" y="2856392"/>
            <a:ext cx="5027690" cy="6249670"/>
          </a:xfrm>
          <a:prstGeom prst="rect">
            <a:avLst/>
          </a:prstGeom>
        </p:spPr>
        <p:txBody>
          <a:bodyPr anchor="t" rtlCol="false" tIns="0" lIns="0" bIns="0" rIns="0">
            <a:spAutoFit/>
          </a:bodyPr>
          <a:lstStyle/>
          <a:p>
            <a:pPr algn="l">
              <a:lnSpc>
                <a:spcPts val="4160"/>
              </a:lnSpc>
            </a:pPr>
            <a:r>
              <a:rPr lang="en-US" sz="2600">
                <a:solidFill>
                  <a:srgbClr val="804F3B"/>
                </a:solidFill>
                <a:latin typeface="Radley Bold"/>
              </a:rPr>
              <a:t>The easy version of the voice assistant serves as a basic introduction to speech recognition, handling simple commands with minimal functionality. The advanced version significantly expands on this by incorporating natural language processing, text-to-speech, and API integrations, providing a much richer and interactive user experience.</a:t>
            </a:r>
          </a:p>
        </p:txBody>
      </p:sp>
      <p:sp>
        <p:nvSpPr>
          <p:cNvPr name="TextBox 8" id="8"/>
          <p:cNvSpPr txBox="true"/>
          <p:nvPr/>
        </p:nvSpPr>
        <p:spPr>
          <a:xfrm rot="0">
            <a:off x="8319851" y="437225"/>
            <a:ext cx="7861627" cy="9403080"/>
          </a:xfrm>
          <a:prstGeom prst="rect">
            <a:avLst/>
          </a:prstGeom>
        </p:spPr>
        <p:txBody>
          <a:bodyPr anchor="t" rtlCol="false" tIns="0" lIns="0" bIns="0" rIns="0">
            <a:spAutoFit/>
          </a:bodyPr>
          <a:lstStyle/>
          <a:p>
            <a:pPr algn="l">
              <a:lnSpc>
                <a:spcPts val="4680"/>
              </a:lnSpc>
            </a:pPr>
            <a:r>
              <a:rPr lang="en-US" sz="2600">
                <a:solidFill>
                  <a:srgbClr val="804F3B"/>
                </a:solidFill>
                <a:latin typeface="Raleway Bold"/>
              </a:rPr>
              <a:t>Potential Future Improvements</a:t>
            </a:r>
          </a:p>
          <a:p>
            <a:pPr algn="l" marL="561341" indent="-280670" lvl="1">
              <a:lnSpc>
                <a:spcPts val="4680"/>
              </a:lnSpc>
              <a:buFont typeface="Arial"/>
              <a:buChar char="•"/>
            </a:pPr>
            <a:r>
              <a:rPr lang="en-US" sz="2600">
                <a:solidFill>
                  <a:srgbClr val="804F3B"/>
                </a:solidFill>
                <a:latin typeface="Raleway"/>
              </a:rPr>
              <a:t>Enhanced NLP: Integrate more advanced NLP models to improve understanding and context handling.</a:t>
            </a:r>
          </a:p>
          <a:p>
            <a:pPr algn="l" marL="561341" indent="-280670" lvl="1">
              <a:lnSpc>
                <a:spcPts val="4680"/>
              </a:lnSpc>
              <a:buFont typeface="Arial"/>
              <a:buChar char="•"/>
            </a:pPr>
            <a:r>
              <a:rPr lang="en-US" sz="2600">
                <a:solidFill>
                  <a:srgbClr val="804F3B"/>
                </a:solidFill>
                <a:latin typeface="Raleway"/>
              </a:rPr>
              <a:t>Multi-Language Support: Add support for multiple languages to cater to a wider audience.</a:t>
            </a:r>
          </a:p>
          <a:p>
            <a:pPr algn="l" marL="561341" indent="-280670" lvl="1">
              <a:lnSpc>
                <a:spcPts val="4680"/>
              </a:lnSpc>
              <a:buFont typeface="Arial"/>
              <a:buChar char="•"/>
            </a:pPr>
            <a:r>
              <a:rPr lang="en-US" sz="2600">
                <a:solidFill>
                  <a:srgbClr val="804F3B"/>
                </a:solidFill>
                <a:latin typeface="Raleway"/>
              </a:rPr>
              <a:t>Additional Services: Integrate more APIs for additional services like calendar management, email reading, and smart home control.</a:t>
            </a:r>
          </a:p>
          <a:p>
            <a:pPr algn="l" marL="561341" indent="-280670" lvl="1">
              <a:lnSpc>
                <a:spcPts val="4680"/>
              </a:lnSpc>
              <a:buFont typeface="Arial"/>
              <a:buChar char="•"/>
            </a:pPr>
            <a:r>
              <a:rPr lang="en-US" sz="2600">
                <a:solidFill>
                  <a:srgbClr val="804F3B"/>
                </a:solidFill>
                <a:latin typeface="Raleway"/>
              </a:rPr>
              <a:t>User Personalization: Allow the assistant to learn user preferences and customize responses accordingly.</a:t>
            </a:r>
          </a:p>
          <a:p>
            <a:pPr algn="l" marL="561341" indent="-280670" lvl="1">
              <a:lnSpc>
                <a:spcPts val="4680"/>
              </a:lnSpc>
              <a:buFont typeface="Arial"/>
              <a:buChar char="•"/>
            </a:pPr>
            <a:r>
              <a:rPr lang="en-US" sz="2600">
                <a:solidFill>
                  <a:srgbClr val="804F3B"/>
                </a:solidFill>
                <a:latin typeface="Raleway"/>
              </a:rPr>
              <a:t>Security Enhancements: Implement authentication mechanisms to ensure secure interactions.</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EDE0D4"/>
        </a:solidFill>
      </p:bgPr>
    </p:bg>
    <p:spTree>
      <p:nvGrpSpPr>
        <p:cNvPr id="1" name=""/>
        <p:cNvGrpSpPr/>
        <p:nvPr/>
      </p:nvGrpSpPr>
      <p:grpSpPr>
        <a:xfrm>
          <a:off x="0" y="0"/>
          <a:ext cx="0" cy="0"/>
          <a:chOff x="0" y="0"/>
          <a:chExt cx="0" cy="0"/>
        </a:xfrm>
      </p:grpSpPr>
      <p:sp>
        <p:nvSpPr>
          <p:cNvPr name="TextBox 2" id="2"/>
          <p:cNvSpPr txBox="true"/>
          <p:nvPr/>
        </p:nvSpPr>
        <p:spPr>
          <a:xfrm rot="0">
            <a:off x="1028700" y="3695700"/>
            <a:ext cx="14745813" cy="3124200"/>
          </a:xfrm>
          <a:prstGeom prst="rect">
            <a:avLst/>
          </a:prstGeom>
        </p:spPr>
        <p:txBody>
          <a:bodyPr anchor="t" rtlCol="false" tIns="0" lIns="0" bIns="0" rIns="0">
            <a:spAutoFit/>
          </a:bodyPr>
          <a:lstStyle/>
          <a:p>
            <a:pPr algn="l">
              <a:lnSpc>
                <a:spcPts val="12000"/>
              </a:lnSpc>
            </a:pPr>
            <a:r>
              <a:rPr lang="en-US" sz="12000">
                <a:solidFill>
                  <a:srgbClr val="804F3B"/>
                </a:solidFill>
                <a:latin typeface="Radley"/>
              </a:rPr>
              <a:t>Thank you</a:t>
            </a:r>
          </a:p>
          <a:p>
            <a:pPr algn="l">
              <a:lnSpc>
                <a:spcPts val="12000"/>
              </a:lnSpc>
            </a:pPr>
            <a:r>
              <a:rPr lang="en-US" sz="12000">
                <a:solidFill>
                  <a:srgbClr val="804F3B"/>
                </a:solidFill>
                <a:latin typeface="Radley"/>
              </a:rPr>
              <a:t>for listening!</a:t>
            </a:r>
          </a:p>
        </p:txBody>
      </p:sp>
      <p:grpSp>
        <p:nvGrpSpPr>
          <p:cNvPr name="Group 3" id="3"/>
          <p:cNvGrpSpPr/>
          <p:nvPr/>
        </p:nvGrpSpPr>
        <p:grpSpPr>
          <a:xfrm rot="0">
            <a:off x="16740784" y="0"/>
            <a:ext cx="1547216" cy="10287000"/>
            <a:chOff x="0" y="0"/>
            <a:chExt cx="523379" cy="3479800"/>
          </a:xfrm>
        </p:grpSpPr>
        <p:sp>
          <p:nvSpPr>
            <p:cNvPr name="Freeform 4" id="4"/>
            <p:cNvSpPr/>
            <p:nvPr/>
          </p:nvSpPr>
          <p:spPr>
            <a:xfrm flipH="false" flipV="false" rot="0">
              <a:off x="0" y="0"/>
              <a:ext cx="523379" cy="3479800"/>
            </a:xfrm>
            <a:custGeom>
              <a:avLst/>
              <a:gdLst/>
              <a:ahLst/>
              <a:cxnLst/>
              <a:rect r="r" b="b" t="t" l="l"/>
              <a:pathLst>
                <a:path h="3479800" w="523379">
                  <a:moveTo>
                    <a:pt x="0" y="0"/>
                  </a:moveTo>
                  <a:lnTo>
                    <a:pt x="523379" y="0"/>
                  </a:lnTo>
                  <a:lnTo>
                    <a:pt x="523379" y="3479800"/>
                  </a:lnTo>
                  <a:lnTo>
                    <a:pt x="0" y="3479800"/>
                  </a:lnTo>
                  <a:close/>
                </a:path>
              </a:pathLst>
            </a:custGeom>
            <a:solidFill>
              <a:srgbClr val="E6CCB2"/>
            </a:solidFill>
          </p:spPr>
        </p:sp>
      </p:grpSp>
      <p:sp>
        <p:nvSpPr>
          <p:cNvPr name="TextBox 5" id="5"/>
          <p:cNvSpPr txBox="true"/>
          <p:nvPr/>
        </p:nvSpPr>
        <p:spPr>
          <a:xfrm rot="0">
            <a:off x="9144000" y="9206520"/>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a:rPr>
              <a:t>Varshini A</a:t>
            </a:r>
          </a:p>
        </p:txBody>
      </p:sp>
      <p:sp>
        <p:nvSpPr>
          <p:cNvPr name="TextBox 6" id="6"/>
          <p:cNvSpPr txBox="true"/>
          <p:nvPr/>
        </p:nvSpPr>
        <p:spPr>
          <a:xfrm rot="0">
            <a:off x="9144000" y="8491725"/>
            <a:ext cx="5913783" cy="490855"/>
          </a:xfrm>
          <a:prstGeom prst="rect">
            <a:avLst/>
          </a:prstGeom>
        </p:spPr>
        <p:txBody>
          <a:bodyPr anchor="t" rtlCol="false" tIns="0" lIns="0" bIns="0" rIns="0">
            <a:spAutoFit/>
          </a:bodyPr>
          <a:lstStyle/>
          <a:p>
            <a:pPr algn="l">
              <a:lnSpc>
                <a:spcPts val="3919"/>
              </a:lnSpc>
            </a:pPr>
            <a:r>
              <a:rPr lang="en-US" sz="2799">
                <a:solidFill>
                  <a:srgbClr val="804F3B"/>
                </a:solidFill>
                <a:latin typeface="Raleway Bold"/>
              </a:rPr>
              <a:t>Student</a:t>
            </a:r>
          </a:p>
        </p:txBody>
      </p:sp>
      <p:sp>
        <p:nvSpPr>
          <p:cNvPr name="TextBox 7" id="7"/>
          <p:cNvSpPr txBox="true"/>
          <p:nvPr/>
        </p:nvSpPr>
        <p:spPr>
          <a:xfrm rot="0">
            <a:off x="2113008" y="631408"/>
            <a:ext cx="2178410" cy="234696"/>
          </a:xfrm>
          <a:prstGeom prst="rect">
            <a:avLst/>
          </a:prstGeom>
        </p:spPr>
        <p:txBody>
          <a:bodyPr anchor="t" rtlCol="false" tIns="0" lIns="0" bIns="0" rIns="0">
            <a:spAutoFit/>
          </a:bodyPr>
          <a:lstStyle/>
          <a:p>
            <a:pPr algn="l">
              <a:lnSpc>
                <a:spcPts val="1871"/>
              </a:lnSpc>
            </a:pPr>
            <a:r>
              <a:rPr lang="en-US" sz="1599">
                <a:solidFill>
                  <a:srgbClr val="804F3B"/>
                </a:solidFill>
                <a:latin typeface="Raleway Bold"/>
              </a:rPr>
              <a:t>OASIS INFOBYTE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DAGHJ8zlXJ0</dc:identifier>
  <dcterms:modified xsi:type="dcterms:W3CDTF">2011-08-01T06:04:30Z</dcterms:modified>
  <cp:revision>1</cp:revision>
  <dc:title>Voice Assistant - OIBSIP</dc:title>
</cp:coreProperties>
</file>