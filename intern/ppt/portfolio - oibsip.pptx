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Glacial Indifferen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4.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6.svg"/><Relationship Id="rId10"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4.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6.sv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2084365" y="3135395"/>
            <a:ext cx="2419714" cy="3456735"/>
          </a:xfrm>
          <a:custGeom>
            <a:avLst/>
            <a:gdLst/>
            <a:ahLst/>
            <a:cxnLst/>
            <a:rect l="l" t="t" r="r" b="b"/>
            <a:pathLst>
              <a:path w="2419714" h="3456735">
                <a:moveTo>
                  <a:pt x="2419714" y="3456735"/>
                </a:moveTo>
                <a:lnTo>
                  <a:pt x="0" y="3456735"/>
                </a:lnTo>
                <a:lnTo>
                  <a:pt x="0" y="0"/>
                </a:lnTo>
                <a:lnTo>
                  <a:pt x="2419714" y="0"/>
                </a:lnTo>
                <a:lnTo>
                  <a:pt x="2419714" y="34567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sp>
        <p:nvSpPr>
          <p:cNvPr id="6" name="Freeform 6"/>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grpSp>
        <p:nvGrpSpPr>
          <p:cNvPr id="8" name="Group 8"/>
          <p:cNvGrpSpPr/>
          <p:nvPr/>
        </p:nvGrpSpPr>
        <p:grpSpPr>
          <a:xfrm>
            <a:off x="17082730" y="9258300"/>
            <a:ext cx="353140" cy="353140"/>
            <a:chOff x="0" y="0"/>
            <a:chExt cx="406400" cy="406400"/>
          </a:xfrm>
        </p:grpSpPr>
        <p:sp>
          <p:nvSpPr>
            <p:cNvPr id="9" name="Freeform 9"/>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0" name="TextBox 10"/>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1" name="Group 11"/>
          <p:cNvGrpSpPr/>
          <p:nvPr/>
        </p:nvGrpSpPr>
        <p:grpSpPr>
          <a:xfrm>
            <a:off x="14117108" y="9258300"/>
            <a:ext cx="353140" cy="353140"/>
            <a:chOff x="0" y="0"/>
            <a:chExt cx="406400" cy="406400"/>
          </a:xfrm>
        </p:grpSpPr>
        <p:sp>
          <p:nvSpPr>
            <p:cNvPr id="12" name="Freeform 12"/>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3" name="TextBox 13"/>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4" name="Freeform 14"/>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TextBox 15"/>
          <p:cNvSpPr txBox="1"/>
          <p:nvPr/>
        </p:nvSpPr>
        <p:spPr>
          <a:xfrm>
            <a:off x="5143500" y="3147150"/>
            <a:ext cx="9718467" cy="1219836"/>
          </a:xfrm>
          <a:prstGeom prst="rect">
            <a:avLst/>
          </a:prstGeom>
        </p:spPr>
        <p:txBody>
          <a:bodyPr lIns="0" tIns="0" rIns="0" bIns="0" rtlCol="0" anchor="t">
            <a:spAutoFit/>
          </a:bodyPr>
          <a:lstStyle/>
          <a:p>
            <a:pPr algn="l">
              <a:lnSpc>
                <a:spcPts val="9939"/>
              </a:lnSpc>
              <a:spcBef>
                <a:spcPct val="0"/>
              </a:spcBef>
            </a:pPr>
            <a:r>
              <a:rPr lang="en-US" sz="7099">
                <a:solidFill>
                  <a:srgbClr val="FFFFFF"/>
                </a:solidFill>
                <a:latin typeface="Glacial Indifference Bold"/>
              </a:rPr>
              <a:t>PERSONAL PORTFOLIO</a:t>
            </a:r>
          </a:p>
        </p:txBody>
      </p:sp>
      <p:sp>
        <p:nvSpPr>
          <p:cNvPr id="16" name="TextBox 16"/>
          <p:cNvSpPr txBox="1"/>
          <p:nvPr/>
        </p:nvSpPr>
        <p:spPr>
          <a:xfrm>
            <a:off x="5143500" y="5802447"/>
            <a:ext cx="5226801" cy="523875"/>
          </a:xfrm>
          <a:prstGeom prst="rect">
            <a:avLst/>
          </a:prstGeom>
        </p:spPr>
        <p:txBody>
          <a:bodyPr lIns="0" tIns="0" rIns="0" bIns="0" rtlCol="0" anchor="t">
            <a:spAutoFit/>
          </a:bodyPr>
          <a:lstStyle/>
          <a:p>
            <a:pPr algn="l">
              <a:lnSpc>
                <a:spcPts val="4200"/>
              </a:lnSpc>
              <a:spcBef>
                <a:spcPct val="0"/>
              </a:spcBef>
            </a:pPr>
            <a:r>
              <a:rPr lang="en-US" sz="3000">
                <a:solidFill>
                  <a:srgbClr val="FCD739"/>
                </a:solidFill>
                <a:latin typeface="Glacial Indifference Bold"/>
              </a:rPr>
              <a:t>BY .  VARSHINI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sp>
        <p:nvSpPr>
          <p:cNvPr id="5" name="TextBox 5"/>
          <p:cNvSpPr txBox="1"/>
          <p:nvPr/>
        </p:nvSpPr>
        <p:spPr>
          <a:xfrm>
            <a:off x="4713988" y="4044950"/>
            <a:ext cx="6848078" cy="2130425"/>
          </a:xfrm>
          <a:prstGeom prst="rect">
            <a:avLst/>
          </a:prstGeom>
        </p:spPr>
        <p:txBody>
          <a:bodyPr lIns="0" tIns="0" rIns="0" bIns="0" rtlCol="0" anchor="t">
            <a:spAutoFit/>
          </a:bodyPr>
          <a:lstStyle/>
          <a:p>
            <a:pPr algn="just">
              <a:lnSpc>
                <a:spcPts val="2800"/>
              </a:lnSpc>
            </a:pPr>
            <a:r>
              <a:rPr lang="en-US" sz="2000">
                <a:solidFill>
                  <a:srgbClr val="FFFFFF"/>
                </a:solidFill>
                <a:latin typeface="Canva Sans"/>
              </a:rPr>
              <a:t>The personal portfolio project is designed to showcase my skills, experience, and projects. The portfolio includes sections for my profile, contact information, education, skills and coursework, and project details. The goal is to provide a comprehensive overview of my professional background in a visually appealing format.</a:t>
            </a:r>
          </a:p>
        </p:txBody>
      </p:sp>
      <p:sp>
        <p:nvSpPr>
          <p:cNvPr id="6" name="Freeform 6"/>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grpSp>
        <p:nvGrpSpPr>
          <p:cNvPr id="8" name="Group 8"/>
          <p:cNvGrpSpPr/>
          <p:nvPr/>
        </p:nvGrpSpPr>
        <p:grpSpPr>
          <a:xfrm>
            <a:off x="17082730" y="9258300"/>
            <a:ext cx="353140" cy="353140"/>
            <a:chOff x="0" y="0"/>
            <a:chExt cx="406400" cy="406400"/>
          </a:xfrm>
        </p:grpSpPr>
        <p:sp>
          <p:nvSpPr>
            <p:cNvPr id="9" name="Freeform 9"/>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0" name="TextBox 10"/>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1" name="Group 11"/>
          <p:cNvGrpSpPr/>
          <p:nvPr/>
        </p:nvGrpSpPr>
        <p:grpSpPr>
          <a:xfrm>
            <a:off x="14117108" y="9258300"/>
            <a:ext cx="353140" cy="353140"/>
            <a:chOff x="0" y="0"/>
            <a:chExt cx="406400" cy="406400"/>
          </a:xfrm>
        </p:grpSpPr>
        <p:sp>
          <p:nvSpPr>
            <p:cNvPr id="12" name="Freeform 12"/>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3" name="TextBox 13"/>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4" name="Freeform 14"/>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4713988" y="2716707"/>
            <a:ext cx="6848078" cy="1047750"/>
          </a:xfrm>
          <a:prstGeom prst="rect">
            <a:avLst/>
          </a:prstGeom>
        </p:spPr>
        <p:txBody>
          <a:bodyPr lIns="0" tIns="0" rIns="0" bIns="0" rtlCol="0" anchor="t">
            <a:spAutoFit/>
          </a:bodyPr>
          <a:lstStyle/>
          <a:p>
            <a:pPr algn="l">
              <a:lnSpc>
                <a:spcPts val="8400"/>
              </a:lnSpc>
              <a:spcBef>
                <a:spcPct val="0"/>
              </a:spcBef>
            </a:pPr>
            <a:r>
              <a:rPr lang="en-US" sz="6000">
                <a:solidFill>
                  <a:srgbClr val="FFFFFF"/>
                </a:solidFill>
                <a:latin typeface="Glacial Indifference Bold"/>
              </a:rPr>
              <a:t>INTRODUCING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679467" y="1562100"/>
            <a:ext cx="12929067" cy="1524000"/>
          </a:xfrm>
          <a:prstGeom prst="rect">
            <a:avLst/>
          </a:prstGeom>
        </p:spPr>
        <p:txBody>
          <a:bodyPr lIns="0" tIns="0" rIns="0" bIns="0" rtlCol="0" anchor="t">
            <a:spAutoFit/>
          </a:bodyPr>
          <a:lstStyle/>
          <a:p>
            <a:pPr algn="l">
              <a:lnSpc>
                <a:spcPts val="4199"/>
              </a:lnSpc>
            </a:pPr>
            <a:r>
              <a:rPr lang="en-US" sz="3499">
                <a:solidFill>
                  <a:srgbClr val="FFFFFF"/>
                </a:solidFill>
                <a:latin typeface="Glacial Indifference Bold"/>
              </a:rPr>
              <a:t>HTML STRUCTURE</a:t>
            </a:r>
          </a:p>
          <a:p>
            <a:pPr algn="l">
              <a:lnSpc>
                <a:spcPts val="2640"/>
              </a:lnSpc>
            </a:pPr>
            <a:endParaRPr lang="en-US" sz="3499">
              <a:solidFill>
                <a:srgbClr val="FFFFFF"/>
              </a:solidFill>
              <a:latin typeface="Glacial Indifference Bold"/>
            </a:endParaRPr>
          </a:p>
          <a:p>
            <a:pPr algn="l">
              <a:lnSpc>
                <a:spcPts val="2640"/>
              </a:lnSpc>
            </a:pPr>
            <a:endParaRPr lang="en-US" sz="3499">
              <a:solidFill>
                <a:srgbClr val="FFFFFF"/>
              </a:solidFill>
              <a:latin typeface="Glacial Indifference Bold"/>
            </a:endParaRPr>
          </a:p>
          <a:p>
            <a:pPr algn="l">
              <a:lnSpc>
                <a:spcPts val="2640"/>
              </a:lnSpc>
            </a:pPr>
            <a:r>
              <a:rPr lang="en-US" sz="2200">
                <a:solidFill>
                  <a:srgbClr val="FFFFFF"/>
                </a:solidFill>
                <a:latin typeface="Glacial Indifference Bold"/>
              </a:rPr>
              <a:t>THE HTML FILE IS ORGANIZED INTO KEY SECTIONS:</a:t>
            </a:r>
          </a:p>
        </p:txBody>
      </p:sp>
      <p:sp>
        <p:nvSpPr>
          <p:cNvPr id="5" name="TextBox 5"/>
          <p:cNvSpPr txBox="1"/>
          <p:nvPr/>
        </p:nvSpPr>
        <p:spPr>
          <a:xfrm>
            <a:off x="2679467" y="3813066"/>
            <a:ext cx="11405093" cy="3492500"/>
          </a:xfrm>
          <a:prstGeom prst="rect">
            <a:avLst/>
          </a:prstGeom>
        </p:spPr>
        <p:txBody>
          <a:bodyPr lIns="0" tIns="0" rIns="0" bIns="0" rtlCol="0" anchor="t">
            <a:spAutoFit/>
          </a:bodyPr>
          <a:lstStyle/>
          <a:p>
            <a:pPr marL="539749" lvl="1" indent="-269875" algn="l">
              <a:lnSpc>
                <a:spcPts val="3474"/>
              </a:lnSpc>
              <a:buFont typeface="Arial"/>
              <a:buChar char="•"/>
            </a:pPr>
            <a:r>
              <a:rPr lang="en-US" sz="2499">
                <a:solidFill>
                  <a:srgbClr val="FCD739"/>
                </a:solidFill>
                <a:latin typeface="Glacial Indifference Bold"/>
              </a:rPr>
              <a:t>HEADER: DISPLAYS PROFILE PICTURE, NAME, AND TITLE.</a:t>
            </a:r>
          </a:p>
          <a:p>
            <a:pPr marL="539749" lvl="1" indent="-269875" algn="l">
              <a:lnSpc>
                <a:spcPts val="3474"/>
              </a:lnSpc>
              <a:buFont typeface="Arial"/>
              <a:buChar char="•"/>
            </a:pPr>
            <a:r>
              <a:rPr lang="en-US" sz="2499">
                <a:solidFill>
                  <a:srgbClr val="FCD739"/>
                </a:solidFill>
                <a:latin typeface="Glacial Indifference Bold"/>
              </a:rPr>
              <a:t>Contact Information: Includes date of birth, phone number, email, LinkedIn profile, personal website, and address.</a:t>
            </a:r>
          </a:p>
          <a:p>
            <a:pPr marL="539749" lvl="1" indent="-269875" algn="l">
              <a:lnSpc>
                <a:spcPts val="3474"/>
              </a:lnSpc>
              <a:buFont typeface="Arial"/>
              <a:buChar char="•"/>
            </a:pPr>
            <a:r>
              <a:rPr lang="en-US" sz="2499">
                <a:solidFill>
                  <a:srgbClr val="FCD739"/>
                </a:solidFill>
                <a:latin typeface="Glacial Indifference Bold"/>
              </a:rPr>
              <a:t>Education: Lists educational background and degrees.</a:t>
            </a:r>
          </a:p>
          <a:p>
            <a:pPr marL="539749" lvl="1" indent="-269875" algn="l">
              <a:lnSpc>
                <a:spcPts val="3474"/>
              </a:lnSpc>
              <a:buFont typeface="Arial"/>
              <a:buChar char="•"/>
            </a:pPr>
            <a:r>
              <a:rPr lang="en-US" sz="2499">
                <a:solidFill>
                  <a:srgbClr val="FCD739"/>
                </a:solidFill>
                <a:latin typeface="Glacial Indifference Bold"/>
              </a:rPr>
              <a:t>Skills and Coursework: Highlights key skills and completed coursework.</a:t>
            </a:r>
          </a:p>
          <a:p>
            <a:pPr marL="539749" lvl="1" indent="-269875" algn="l">
              <a:lnSpc>
                <a:spcPts val="3474"/>
              </a:lnSpc>
              <a:buFont typeface="Arial"/>
              <a:buChar char="•"/>
            </a:pPr>
            <a:r>
              <a:rPr lang="en-US" sz="2499">
                <a:solidFill>
                  <a:srgbClr val="FCD739"/>
                </a:solidFill>
                <a:latin typeface="Glacial Indifference Bold"/>
              </a:rPr>
              <a:t>Projects: Describes projects and their relevance.</a:t>
            </a:r>
          </a:p>
          <a:p>
            <a:pPr marL="539749" lvl="1" indent="-269875" algn="l">
              <a:lnSpc>
                <a:spcPts val="3474"/>
              </a:lnSpc>
              <a:buFont typeface="Arial"/>
              <a:buChar char="•"/>
            </a:pPr>
            <a:r>
              <a:rPr lang="en-US" sz="2499">
                <a:solidFill>
                  <a:srgbClr val="FCD739"/>
                </a:solidFill>
                <a:latin typeface="Glacial Indifference Bold"/>
              </a:rPr>
              <a:t>Footer: Contains copyright information.</a:t>
            </a:r>
          </a:p>
        </p:txBody>
      </p:sp>
      <p:sp>
        <p:nvSpPr>
          <p:cNvPr id="6" name="Freeform 6"/>
          <p:cNvSpPr/>
          <p:nvPr/>
        </p:nvSpPr>
        <p:spPr>
          <a:xfrm>
            <a:off x="1028700" y="8369435"/>
            <a:ext cx="4114800" cy="994618"/>
          </a:xfrm>
          <a:custGeom>
            <a:avLst/>
            <a:gdLst/>
            <a:ahLst/>
            <a:cxnLst/>
            <a:rect l="l" t="t" r="r" b="b"/>
            <a:pathLst>
              <a:path w="4114800" h="994618">
                <a:moveTo>
                  <a:pt x="0" y="0"/>
                </a:moveTo>
                <a:lnTo>
                  <a:pt x="4114800" y="0"/>
                </a:lnTo>
                <a:lnTo>
                  <a:pt x="4114800" y="994617"/>
                </a:lnTo>
                <a:lnTo>
                  <a:pt x="0" y="994617"/>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sp>
        <p:nvSpPr>
          <p:cNvPr id="7" name="Freeform 7"/>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grpSp>
        <p:nvGrpSpPr>
          <p:cNvPr id="9" name="Group 9"/>
          <p:cNvGrpSpPr/>
          <p:nvPr/>
        </p:nvGrpSpPr>
        <p:grpSpPr>
          <a:xfrm>
            <a:off x="17082730" y="9258300"/>
            <a:ext cx="353140" cy="353140"/>
            <a:chOff x="0" y="0"/>
            <a:chExt cx="406400" cy="406400"/>
          </a:xfrm>
        </p:grpSpPr>
        <p:sp>
          <p:nvSpPr>
            <p:cNvPr id="10" name="Freeform 10"/>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1" name="TextBox 11"/>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2" name="Group 12"/>
          <p:cNvGrpSpPr/>
          <p:nvPr/>
        </p:nvGrpSpPr>
        <p:grpSpPr>
          <a:xfrm>
            <a:off x="14117108" y="9258300"/>
            <a:ext cx="353140" cy="353140"/>
            <a:chOff x="0" y="0"/>
            <a:chExt cx="406400" cy="406400"/>
          </a:xfrm>
        </p:grpSpPr>
        <p:sp>
          <p:nvSpPr>
            <p:cNvPr id="13" name="Freeform 13"/>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4" name="TextBox 14"/>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5" name="Freeform 15"/>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flipV="1">
            <a:off x="2005625" y="1798617"/>
            <a:ext cx="1802476" cy="2574965"/>
          </a:xfrm>
          <a:custGeom>
            <a:avLst/>
            <a:gdLst/>
            <a:ahLst/>
            <a:cxnLst/>
            <a:rect l="l" t="t" r="r" b="b"/>
            <a:pathLst>
              <a:path w="1802476" h="2574965">
                <a:moveTo>
                  <a:pt x="1802476" y="2574966"/>
                </a:moveTo>
                <a:lnTo>
                  <a:pt x="0" y="2574966"/>
                </a:lnTo>
                <a:lnTo>
                  <a:pt x="0" y="0"/>
                </a:lnTo>
                <a:lnTo>
                  <a:pt x="1802476" y="0"/>
                </a:lnTo>
                <a:lnTo>
                  <a:pt x="1802476" y="2574966"/>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529825" y="1901058"/>
            <a:ext cx="9102321" cy="933450"/>
          </a:xfrm>
          <a:prstGeom prst="rect">
            <a:avLst/>
          </a:prstGeom>
        </p:spPr>
        <p:txBody>
          <a:bodyPr lIns="0" tIns="0" rIns="0" bIns="0" rtlCol="0" anchor="t">
            <a:spAutoFit/>
          </a:bodyPr>
          <a:lstStyle/>
          <a:p>
            <a:pPr algn="l">
              <a:lnSpc>
                <a:spcPts val="7200"/>
              </a:lnSpc>
            </a:pPr>
            <a:r>
              <a:rPr lang="en-US" sz="6000">
                <a:solidFill>
                  <a:srgbClr val="FFFFFF"/>
                </a:solidFill>
                <a:latin typeface="Glacial Indifference Bold"/>
              </a:rPr>
              <a:t>CSS STYLING</a:t>
            </a:r>
          </a:p>
        </p:txBody>
      </p:sp>
      <p:sp>
        <p:nvSpPr>
          <p:cNvPr id="6" name="TextBox 6"/>
          <p:cNvSpPr txBox="1"/>
          <p:nvPr/>
        </p:nvSpPr>
        <p:spPr>
          <a:xfrm>
            <a:off x="5518519" y="3423490"/>
            <a:ext cx="8598589" cy="422275"/>
          </a:xfrm>
          <a:prstGeom prst="rect">
            <a:avLst/>
          </a:prstGeom>
        </p:spPr>
        <p:txBody>
          <a:bodyPr lIns="0" tIns="0" rIns="0" bIns="0" rtlCol="0" anchor="t">
            <a:spAutoFit/>
          </a:bodyPr>
          <a:lstStyle/>
          <a:p>
            <a:pPr algn="l">
              <a:lnSpc>
                <a:spcPts val="3499"/>
              </a:lnSpc>
            </a:pPr>
            <a:r>
              <a:rPr lang="en-US" sz="2499">
                <a:solidFill>
                  <a:srgbClr val="FFFFFF"/>
                </a:solidFill>
                <a:latin typeface="Glacial Indifference Bold"/>
              </a:rPr>
              <a:t>THE CSS FILE DEFINES THE STYLING FOR THE PORTFOLIO</a:t>
            </a:r>
          </a:p>
        </p:txBody>
      </p:sp>
      <p:sp>
        <p:nvSpPr>
          <p:cNvPr id="7" name="TextBox 7"/>
          <p:cNvSpPr txBox="1"/>
          <p:nvPr/>
        </p:nvSpPr>
        <p:spPr>
          <a:xfrm>
            <a:off x="4924327" y="4455365"/>
            <a:ext cx="8439347" cy="3600450"/>
          </a:xfrm>
          <a:prstGeom prst="rect">
            <a:avLst/>
          </a:prstGeom>
        </p:spPr>
        <p:txBody>
          <a:bodyPr lIns="0" tIns="0" rIns="0" bIns="0" rtlCol="0" anchor="t">
            <a:spAutoFit/>
          </a:bodyPr>
          <a:lstStyle/>
          <a:p>
            <a:pPr marL="539749" lvl="1" indent="-269875" algn="l">
              <a:lnSpc>
                <a:spcPts val="3224"/>
              </a:lnSpc>
              <a:buFont typeface="Arial"/>
              <a:buChar char="•"/>
            </a:pPr>
            <a:r>
              <a:rPr lang="en-US" sz="2499">
                <a:solidFill>
                  <a:srgbClr val="FCD739"/>
                </a:solidFill>
                <a:latin typeface="Glacial Indifference Bold"/>
              </a:rPr>
              <a:t>FLEXBOX LAYOUT: USED FOR ALIGNING AND SPACING ELEMENTS.</a:t>
            </a:r>
          </a:p>
          <a:p>
            <a:pPr marL="539749" lvl="1" indent="-269875" algn="l">
              <a:lnSpc>
                <a:spcPts val="3224"/>
              </a:lnSpc>
              <a:buFont typeface="Arial"/>
              <a:buChar char="•"/>
            </a:pPr>
            <a:r>
              <a:rPr lang="en-US" sz="2499">
                <a:solidFill>
                  <a:srgbClr val="FCD739"/>
                </a:solidFill>
                <a:latin typeface="Glacial Indifference Bold"/>
              </a:rPr>
              <a:t>Profile Picture Styling: Ensures the profile picture is displayed correctly with a round shape.</a:t>
            </a:r>
          </a:p>
          <a:p>
            <a:pPr marL="539749" lvl="1" indent="-269875" algn="l">
              <a:lnSpc>
                <a:spcPts val="3224"/>
              </a:lnSpc>
              <a:buFont typeface="Arial"/>
              <a:buChar char="•"/>
            </a:pPr>
            <a:r>
              <a:rPr lang="en-US" sz="2499">
                <a:solidFill>
                  <a:srgbClr val="FCD739"/>
                </a:solidFill>
                <a:latin typeface="Glacial Indifference Bold"/>
              </a:rPr>
              <a:t>Typography: Consistent font styles for readability.</a:t>
            </a:r>
          </a:p>
          <a:p>
            <a:pPr marL="539749" lvl="1" indent="-269875" algn="l">
              <a:lnSpc>
                <a:spcPts val="3224"/>
              </a:lnSpc>
              <a:buFont typeface="Arial"/>
              <a:buChar char="•"/>
            </a:pPr>
            <a:r>
              <a:rPr lang="en-US" sz="2499">
                <a:solidFill>
                  <a:srgbClr val="FCD739"/>
                </a:solidFill>
                <a:latin typeface="Glacial Indifference Bold"/>
              </a:rPr>
              <a:t>Responsive Design: Adjusts layout based on screen size for better accessibility.</a:t>
            </a:r>
          </a:p>
        </p:txBody>
      </p:sp>
      <p:sp>
        <p:nvSpPr>
          <p:cNvPr id="8" name="Freeform 8"/>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10">
              <a:extLst>
                <a:ext uri="{96DAC541-7B7A-43D3-8B79-37D633B846F1}">
                  <asvg:svgBlip xmlns:asvg="http://schemas.microsoft.com/office/drawing/2016/SVG/main" r:embed="rId11"/>
                </a:ext>
              </a:extLst>
            </a:blip>
            <a:stretch>
              <a:fillRect b="-126410"/>
            </a:stretch>
          </a:blipFill>
        </p:spPr>
      </p:sp>
      <p:grpSp>
        <p:nvGrpSpPr>
          <p:cNvPr id="10" name="Group 10"/>
          <p:cNvGrpSpPr/>
          <p:nvPr/>
        </p:nvGrpSpPr>
        <p:grpSpPr>
          <a:xfrm>
            <a:off x="17082730" y="9258300"/>
            <a:ext cx="353140" cy="353140"/>
            <a:chOff x="0" y="0"/>
            <a:chExt cx="406400" cy="406400"/>
          </a:xfrm>
        </p:grpSpPr>
        <p:sp>
          <p:nvSpPr>
            <p:cNvPr id="11" name="Freeform 11"/>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2" name="TextBox 12"/>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3" name="Group 13"/>
          <p:cNvGrpSpPr/>
          <p:nvPr/>
        </p:nvGrpSpPr>
        <p:grpSpPr>
          <a:xfrm>
            <a:off x="14117108" y="9258300"/>
            <a:ext cx="353140" cy="353140"/>
            <a:chOff x="0" y="0"/>
            <a:chExt cx="406400" cy="406400"/>
          </a:xfrm>
        </p:grpSpPr>
        <p:sp>
          <p:nvSpPr>
            <p:cNvPr id="14" name="Freeform 14"/>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5" name="TextBox 15"/>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6" name="Freeform 16"/>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a:off x="1468808" y="0"/>
            <a:ext cx="15350383" cy="10287000"/>
          </a:xfrm>
          <a:custGeom>
            <a:avLst/>
            <a:gdLst/>
            <a:ahLst/>
            <a:cxnLst/>
            <a:rect l="l" t="t" r="r" b="b"/>
            <a:pathLst>
              <a:path w="15350383" h="10287000">
                <a:moveTo>
                  <a:pt x="0" y="0"/>
                </a:moveTo>
                <a:lnTo>
                  <a:pt x="15350384" y="0"/>
                </a:lnTo>
                <a:lnTo>
                  <a:pt x="15350384" y="10287000"/>
                </a:lnTo>
                <a:lnTo>
                  <a:pt x="0" y="10287000"/>
                </a:lnTo>
                <a:lnTo>
                  <a:pt x="0"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7814896" y="-126225"/>
            <a:ext cx="1211996" cy="4114800"/>
          </a:xfrm>
          <a:custGeom>
            <a:avLst/>
            <a:gdLst/>
            <a:ahLst/>
            <a:cxnLst/>
            <a:rect l="l" t="t" r="r" b="b"/>
            <a:pathLst>
              <a:path w="1211996" h="4114800">
                <a:moveTo>
                  <a:pt x="1211995" y="0"/>
                </a:moveTo>
                <a:lnTo>
                  <a:pt x="0" y="0"/>
                </a:lnTo>
                <a:lnTo>
                  <a:pt x="0" y="4114800"/>
                </a:lnTo>
                <a:lnTo>
                  <a:pt x="1211995" y="4114800"/>
                </a:lnTo>
                <a:lnTo>
                  <a:pt x="121199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sp>
        <p:nvSpPr>
          <p:cNvPr id="5" name="TextBox 5"/>
          <p:cNvSpPr txBox="1"/>
          <p:nvPr/>
        </p:nvSpPr>
        <p:spPr>
          <a:xfrm>
            <a:off x="4500045" y="2137550"/>
            <a:ext cx="11684720" cy="1851025"/>
          </a:xfrm>
          <a:prstGeom prst="rect">
            <a:avLst/>
          </a:prstGeom>
        </p:spPr>
        <p:txBody>
          <a:bodyPr lIns="0" tIns="0" rIns="0" bIns="0" rtlCol="0" anchor="t">
            <a:spAutoFit/>
          </a:bodyPr>
          <a:lstStyle/>
          <a:p>
            <a:pPr algn="l">
              <a:lnSpc>
                <a:spcPts val="5599"/>
              </a:lnSpc>
            </a:pPr>
            <a:r>
              <a:rPr lang="en-US" sz="3999">
                <a:solidFill>
                  <a:srgbClr val="FFFFFF"/>
                </a:solidFill>
                <a:latin typeface="Glacial Indifference Bold"/>
              </a:rPr>
              <a:t>PROFILE SECTION</a:t>
            </a:r>
          </a:p>
          <a:p>
            <a:pPr algn="l">
              <a:lnSpc>
                <a:spcPts val="5599"/>
              </a:lnSpc>
            </a:pPr>
            <a:endParaRPr lang="en-US" sz="3999">
              <a:solidFill>
                <a:srgbClr val="FFFFFF"/>
              </a:solidFill>
              <a:latin typeface="Glacial Indifference Bold"/>
            </a:endParaRPr>
          </a:p>
          <a:p>
            <a:pPr algn="l">
              <a:lnSpc>
                <a:spcPts val="3500"/>
              </a:lnSpc>
              <a:spcBef>
                <a:spcPct val="0"/>
              </a:spcBef>
            </a:pPr>
            <a:r>
              <a:rPr lang="en-US" sz="2500">
                <a:solidFill>
                  <a:srgbClr val="FFFFFF"/>
                </a:solidFill>
                <a:latin typeface="Glacial Indifference Bold"/>
              </a:rPr>
              <a:t>THE PROFILE SECTION INCLUDES:</a:t>
            </a:r>
          </a:p>
        </p:txBody>
      </p:sp>
      <p:sp>
        <p:nvSpPr>
          <p:cNvPr id="6" name="TextBox 6"/>
          <p:cNvSpPr txBox="1"/>
          <p:nvPr/>
        </p:nvSpPr>
        <p:spPr>
          <a:xfrm>
            <a:off x="4500045" y="4700722"/>
            <a:ext cx="8866129" cy="2727325"/>
          </a:xfrm>
          <a:prstGeom prst="rect">
            <a:avLst/>
          </a:prstGeom>
        </p:spPr>
        <p:txBody>
          <a:bodyPr lIns="0" tIns="0" rIns="0" bIns="0" rtlCol="0" anchor="t">
            <a:spAutoFit/>
          </a:bodyPr>
          <a:lstStyle/>
          <a:p>
            <a:pPr marL="539749" lvl="1" indent="-269875" algn="l">
              <a:lnSpc>
                <a:spcPts val="3649"/>
              </a:lnSpc>
              <a:buFont typeface="Arial"/>
              <a:buChar char="•"/>
            </a:pPr>
            <a:r>
              <a:rPr lang="en-US" sz="2499">
                <a:solidFill>
                  <a:srgbClr val="FCD739"/>
                </a:solidFill>
                <a:latin typeface="Glacial Indifference Bold"/>
              </a:rPr>
              <a:t>PROFILE PICTURE: CENTER-ALIGNED WITH A CIRCULAR SHAPE.</a:t>
            </a:r>
          </a:p>
          <a:p>
            <a:pPr marL="539749" lvl="1" indent="-269875" algn="l">
              <a:lnSpc>
                <a:spcPts val="3649"/>
              </a:lnSpc>
              <a:buFont typeface="Arial"/>
              <a:buChar char="•"/>
            </a:pPr>
            <a:r>
              <a:rPr lang="en-US" sz="2499">
                <a:solidFill>
                  <a:srgbClr val="FCD739"/>
                </a:solidFill>
                <a:latin typeface="Glacial Indifference Bold"/>
              </a:rPr>
              <a:t>Name and Title: Displayed prominently below the profile picture.</a:t>
            </a:r>
          </a:p>
          <a:p>
            <a:pPr marL="539749" lvl="1" indent="-269875" algn="l">
              <a:lnSpc>
                <a:spcPts val="3649"/>
              </a:lnSpc>
              <a:buFont typeface="Arial"/>
              <a:buChar char="•"/>
            </a:pPr>
            <a:r>
              <a:rPr lang="en-US" sz="2499">
                <a:solidFill>
                  <a:srgbClr val="FCD739"/>
                </a:solidFill>
                <a:latin typeface="Glacial Indifference Bold"/>
              </a:rPr>
              <a:t>Container: Ensures content is well-organized and centered.</a:t>
            </a:r>
          </a:p>
        </p:txBody>
      </p:sp>
      <p:sp>
        <p:nvSpPr>
          <p:cNvPr id="7" name="Freeform 7"/>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grpSp>
        <p:nvGrpSpPr>
          <p:cNvPr id="9" name="Group 9"/>
          <p:cNvGrpSpPr/>
          <p:nvPr/>
        </p:nvGrpSpPr>
        <p:grpSpPr>
          <a:xfrm>
            <a:off x="17082730" y="9258300"/>
            <a:ext cx="353140" cy="353140"/>
            <a:chOff x="0" y="0"/>
            <a:chExt cx="406400" cy="406400"/>
          </a:xfrm>
        </p:grpSpPr>
        <p:sp>
          <p:nvSpPr>
            <p:cNvPr id="10" name="Freeform 10"/>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1" name="TextBox 11"/>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2" name="Group 12"/>
          <p:cNvGrpSpPr/>
          <p:nvPr/>
        </p:nvGrpSpPr>
        <p:grpSpPr>
          <a:xfrm>
            <a:off x="14117108" y="9258300"/>
            <a:ext cx="353140" cy="353140"/>
            <a:chOff x="0" y="0"/>
            <a:chExt cx="406400" cy="406400"/>
          </a:xfrm>
        </p:grpSpPr>
        <p:sp>
          <p:nvSpPr>
            <p:cNvPr id="13" name="Freeform 13"/>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4" name="TextBox 14"/>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5" name="Freeform 15"/>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a:off x="3181070" y="0"/>
            <a:ext cx="11925860" cy="10287000"/>
          </a:xfrm>
          <a:custGeom>
            <a:avLst/>
            <a:gdLst/>
            <a:ahLst/>
            <a:cxnLst/>
            <a:rect l="l" t="t" r="r" b="b"/>
            <a:pathLst>
              <a:path w="11925860" h="10287000">
                <a:moveTo>
                  <a:pt x="0" y="0"/>
                </a:moveTo>
                <a:lnTo>
                  <a:pt x="11925860" y="0"/>
                </a:lnTo>
                <a:lnTo>
                  <a:pt x="11925860" y="10287000"/>
                </a:lnTo>
                <a:lnTo>
                  <a:pt x="0" y="10287000"/>
                </a:lnTo>
                <a:lnTo>
                  <a:pt x="0" y="0"/>
                </a:lnTo>
                <a:close/>
              </a:path>
            </a:pathLst>
          </a:custGeom>
          <a:blipFill>
            <a:blip r:embed="rId2"/>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a:off x="3175540" y="0"/>
            <a:ext cx="11936920" cy="10287000"/>
          </a:xfrm>
          <a:custGeom>
            <a:avLst/>
            <a:gdLst/>
            <a:ahLst/>
            <a:cxnLst/>
            <a:rect l="l" t="t" r="r" b="b"/>
            <a:pathLst>
              <a:path w="11936920" h="10287000">
                <a:moveTo>
                  <a:pt x="0" y="0"/>
                </a:moveTo>
                <a:lnTo>
                  <a:pt x="11936920" y="0"/>
                </a:lnTo>
                <a:lnTo>
                  <a:pt x="11936920" y="10287000"/>
                </a:lnTo>
                <a:lnTo>
                  <a:pt x="0" y="10287000"/>
                </a:lnTo>
                <a:lnTo>
                  <a:pt x="0" y="0"/>
                </a:lnTo>
                <a:close/>
              </a:path>
            </a:pathLst>
          </a:custGeom>
          <a:blipFill>
            <a:blip r:embed="rId2"/>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755186" y="1812103"/>
            <a:ext cx="8839100" cy="2650489"/>
          </a:xfrm>
          <a:prstGeom prst="rect">
            <a:avLst/>
          </a:prstGeom>
        </p:spPr>
        <p:txBody>
          <a:bodyPr lIns="0" tIns="0" rIns="0" bIns="0" rtlCol="0" anchor="t">
            <a:spAutoFit/>
          </a:bodyPr>
          <a:lstStyle/>
          <a:p>
            <a:pPr algn="l">
              <a:lnSpc>
                <a:spcPts val="8400"/>
              </a:lnSpc>
            </a:pPr>
            <a:r>
              <a:rPr lang="en-US" sz="6000">
                <a:solidFill>
                  <a:srgbClr val="FFFFFF"/>
                </a:solidFill>
                <a:latin typeface="Glacial Indifference Bold"/>
              </a:rPr>
              <a:t>CONTACT INFORMATION</a:t>
            </a:r>
          </a:p>
          <a:p>
            <a:pPr algn="l">
              <a:lnSpc>
                <a:spcPts val="8400"/>
              </a:lnSpc>
            </a:pPr>
            <a:endParaRPr lang="en-US" sz="6000">
              <a:solidFill>
                <a:srgbClr val="FFFFFF"/>
              </a:solidFill>
              <a:latin typeface="Glacial Indifference Bold"/>
            </a:endParaRPr>
          </a:p>
          <a:p>
            <a:pPr algn="l">
              <a:lnSpc>
                <a:spcPts val="3920"/>
              </a:lnSpc>
              <a:spcBef>
                <a:spcPct val="0"/>
              </a:spcBef>
            </a:pPr>
            <a:r>
              <a:rPr lang="en-US" sz="2800">
                <a:solidFill>
                  <a:srgbClr val="FFFFFF"/>
                </a:solidFill>
                <a:latin typeface="Glacial Indifference Bold"/>
              </a:rPr>
              <a:t>THE CONTACT INFORMATION SECTION PROVIDES:</a:t>
            </a:r>
          </a:p>
        </p:txBody>
      </p:sp>
      <p:sp>
        <p:nvSpPr>
          <p:cNvPr id="5" name="TextBox 5"/>
          <p:cNvSpPr txBox="1"/>
          <p:nvPr/>
        </p:nvSpPr>
        <p:spPr>
          <a:xfrm>
            <a:off x="4724450" y="4728811"/>
            <a:ext cx="8839100" cy="2838450"/>
          </a:xfrm>
          <a:prstGeom prst="rect">
            <a:avLst/>
          </a:prstGeom>
        </p:spPr>
        <p:txBody>
          <a:bodyPr lIns="0" tIns="0" rIns="0" bIns="0" rtlCol="0" anchor="t">
            <a:spAutoFit/>
          </a:bodyPr>
          <a:lstStyle/>
          <a:p>
            <a:pPr marL="539749" lvl="1" indent="-269875" algn="l">
              <a:lnSpc>
                <a:spcPts val="3824"/>
              </a:lnSpc>
              <a:buFont typeface="Arial"/>
              <a:buChar char="•"/>
            </a:pPr>
            <a:r>
              <a:rPr lang="en-US" sz="2499">
                <a:solidFill>
                  <a:srgbClr val="FCD739"/>
                </a:solidFill>
                <a:latin typeface="Glacial Indifference Bold"/>
              </a:rPr>
              <a:t>PERSONAL DETAILS: DATE OF BIRTH, PHONE NUMBER, EMAIL, LINKEDIN, PERSONAL WEBSITE, AND ADDRESS.</a:t>
            </a:r>
          </a:p>
          <a:p>
            <a:pPr marL="539749" lvl="1" indent="-269875" algn="l">
              <a:lnSpc>
                <a:spcPts val="3824"/>
              </a:lnSpc>
              <a:buFont typeface="Arial"/>
              <a:buChar char="•"/>
            </a:pPr>
            <a:r>
              <a:rPr lang="en-US" sz="2499">
                <a:solidFill>
                  <a:srgbClr val="FCD739"/>
                </a:solidFill>
                <a:latin typeface="Glacial Indifference Bold"/>
              </a:rPr>
              <a:t>Links: Clickable links for LinkedIn profile and personal website.</a:t>
            </a:r>
          </a:p>
          <a:p>
            <a:pPr marL="539749" lvl="1" indent="-269875" algn="l">
              <a:lnSpc>
                <a:spcPts val="3824"/>
              </a:lnSpc>
              <a:buFont typeface="Arial"/>
              <a:buChar char="•"/>
            </a:pPr>
            <a:r>
              <a:rPr lang="en-US" sz="2499">
                <a:solidFill>
                  <a:srgbClr val="FCD739"/>
                </a:solidFill>
                <a:latin typeface="Glacial Indifference Bold"/>
              </a:rPr>
              <a:t>Formatting: Ensures information is easy to read and well-organized.</a:t>
            </a:r>
          </a:p>
        </p:txBody>
      </p:sp>
      <p:sp>
        <p:nvSpPr>
          <p:cNvPr id="6" name="Freeform 6"/>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grpSp>
        <p:nvGrpSpPr>
          <p:cNvPr id="8" name="Group 8"/>
          <p:cNvGrpSpPr/>
          <p:nvPr/>
        </p:nvGrpSpPr>
        <p:grpSpPr>
          <a:xfrm>
            <a:off x="17082730" y="9258300"/>
            <a:ext cx="353140" cy="353140"/>
            <a:chOff x="0" y="0"/>
            <a:chExt cx="406400" cy="406400"/>
          </a:xfrm>
        </p:grpSpPr>
        <p:sp>
          <p:nvSpPr>
            <p:cNvPr id="9" name="Freeform 9"/>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0" name="TextBox 10"/>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1" name="Group 11"/>
          <p:cNvGrpSpPr/>
          <p:nvPr/>
        </p:nvGrpSpPr>
        <p:grpSpPr>
          <a:xfrm>
            <a:off x="14117108" y="9258300"/>
            <a:ext cx="353140" cy="353140"/>
            <a:chOff x="0" y="0"/>
            <a:chExt cx="406400" cy="406400"/>
          </a:xfrm>
        </p:grpSpPr>
        <p:sp>
          <p:nvSpPr>
            <p:cNvPr id="12" name="Freeform 12"/>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3" name="TextBox 13"/>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4" name="Freeform 14"/>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5454578" y="2096976"/>
            <a:ext cx="8839100" cy="2614929"/>
          </a:xfrm>
          <a:prstGeom prst="rect">
            <a:avLst/>
          </a:prstGeom>
        </p:spPr>
        <p:txBody>
          <a:bodyPr lIns="0" tIns="0" rIns="0" bIns="0" rtlCol="0" anchor="t">
            <a:spAutoFit/>
          </a:bodyPr>
          <a:lstStyle/>
          <a:p>
            <a:pPr algn="l">
              <a:lnSpc>
                <a:spcPts val="8400"/>
              </a:lnSpc>
            </a:pPr>
            <a:r>
              <a:rPr lang="en-US" sz="6000">
                <a:solidFill>
                  <a:srgbClr val="FFFFFF"/>
                </a:solidFill>
                <a:latin typeface="Glacial Indifference Bold"/>
              </a:rPr>
              <a:t>EDUCATION AND SKILLS</a:t>
            </a:r>
          </a:p>
          <a:p>
            <a:pPr algn="l">
              <a:lnSpc>
                <a:spcPts val="8400"/>
              </a:lnSpc>
            </a:pPr>
            <a:endParaRPr lang="en-US" sz="6000">
              <a:solidFill>
                <a:srgbClr val="FFFFFF"/>
              </a:solidFill>
              <a:latin typeface="Glacial Indifference Bold"/>
            </a:endParaRPr>
          </a:p>
          <a:p>
            <a:pPr algn="l">
              <a:lnSpc>
                <a:spcPts val="3640"/>
              </a:lnSpc>
              <a:spcBef>
                <a:spcPct val="0"/>
              </a:spcBef>
            </a:pPr>
            <a:r>
              <a:rPr lang="en-US" sz="2600">
                <a:solidFill>
                  <a:srgbClr val="FFFFFF"/>
                </a:solidFill>
                <a:latin typeface="Glacial Indifference Bold"/>
              </a:rPr>
              <a:t>THE EDUCATION AND SKILLS  SECTION HIGLIGHTS:</a:t>
            </a:r>
          </a:p>
        </p:txBody>
      </p:sp>
      <p:sp>
        <p:nvSpPr>
          <p:cNvPr id="5" name="Freeform 5"/>
          <p:cNvSpPr/>
          <p:nvPr/>
        </p:nvSpPr>
        <p:spPr>
          <a:xfrm flipH="1" flipV="1">
            <a:off x="2428551" y="2230326"/>
            <a:ext cx="2419714" cy="3456735"/>
          </a:xfrm>
          <a:custGeom>
            <a:avLst/>
            <a:gdLst/>
            <a:ahLst/>
            <a:cxnLst/>
            <a:rect l="l" t="t" r="r" b="b"/>
            <a:pathLst>
              <a:path w="2419714" h="3456735">
                <a:moveTo>
                  <a:pt x="2419715" y="3456735"/>
                </a:moveTo>
                <a:lnTo>
                  <a:pt x="0" y="3456735"/>
                </a:lnTo>
                <a:lnTo>
                  <a:pt x="0" y="0"/>
                </a:lnTo>
                <a:lnTo>
                  <a:pt x="2419715" y="0"/>
                </a:lnTo>
                <a:lnTo>
                  <a:pt x="2419715" y="3456735"/>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sp>
        <p:nvSpPr>
          <p:cNvPr id="7" name="Freeform 7"/>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grpSp>
        <p:nvGrpSpPr>
          <p:cNvPr id="9" name="Group 9"/>
          <p:cNvGrpSpPr/>
          <p:nvPr/>
        </p:nvGrpSpPr>
        <p:grpSpPr>
          <a:xfrm>
            <a:off x="17082730" y="9258300"/>
            <a:ext cx="353140" cy="353140"/>
            <a:chOff x="0" y="0"/>
            <a:chExt cx="406400" cy="406400"/>
          </a:xfrm>
        </p:grpSpPr>
        <p:sp>
          <p:nvSpPr>
            <p:cNvPr id="10" name="Freeform 10"/>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1" name="TextBox 11"/>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2" name="Group 12"/>
          <p:cNvGrpSpPr/>
          <p:nvPr/>
        </p:nvGrpSpPr>
        <p:grpSpPr>
          <a:xfrm>
            <a:off x="14117108" y="9258300"/>
            <a:ext cx="353140" cy="353140"/>
            <a:chOff x="0" y="0"/>
            <a:chExt cx="406400" cy="406400"/>
          </a:xfrm>
        </p:grpSpPr>
        <p:sp>
          <p:nvSpPr>
            <p:cNvPr id="13" name="Freeform 13"/>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4" name="TextBox 14"/>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5" name="Freeform 15"/>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TextBox 16"/>
          <p:cNvSpPr txBox="1"/>
          <p:nvPr/>
        </p:nvSpPr>
        <p:spPr>
          <a:xfrm>
            <a:off x="5454578" y="5076825"/>
            <a:ext cx="8839100" cy="2730500"/>
          </a:xfrm>
          <a:prstGeom prst="rect">
            <a:avLst/>
          </a:prstGeom>
        </p:spPr>
        <p:txBody>
          <a:bodyPr lIns="0" tIns="0" rIns="0" bIns="0" rtlCol="0" anchor="t">
            <a:spAutoFit/>
          </a:bodyPr>
          <a:lstStyle/>
          <a:p>
            <a:pPr marL="539749" lvl="1" indent="-269875" algn="l">
              <a:lnSpc>
                <a:spcPts val="3624"/>
              </a:lnSpc>
              <a:buFont typeface="Arial"/>
              <a:buChar char="•"/>
            </a:pPr>
            <a:r>
              <a:rPr lang="en-US" sz="2499">
                <a:solidFill>
                  <a:srgbClr val="FCD739"/>
                </a:solidFill>
                <a:latin typeface="Glacial Indifference Bold"/>
              </a:rPr>
              <a:t>EDUCATIONAL BACKGROUND: LISTS SCHOOLS, DEGREES, AND YEARS ATTENDED.</a:t>
            </a:r>
          </a:p>
          <a:p>
            <a:pPr marL="539749" lvl="1" indent="-269875" algn="l">
              <a:lnSpc>
                <a:spcPts val="3624"/>
              </a:lnSpc>
              <a:buFont typeface="Arial"/>
              <a:buChar char="•"/>
            </a:pPr>
            <a:r>
              <a:rPr lang="en-US" sz="2499">
                <a:solidFill>
                  <a:srgbClr val="FCD739"/>
                </a:solidFill>
                <a:latin typeface="Glacial Indifference Bold"/>
              </a:rPr>
              <a:t>SKILLS AND COURSEWORK: PROVIDES A LIST OF KEY SKILLS AND RELEVANT COURSEWORK.</a:t>
            </a:r>
          </a:p>
          <a:p>
            <a:pPr marL="539749" lvl="1" indent="-269875" algn="l">
              <a:lnSpc>
                <a:spcPts val="3624"/>
              </a:lnSpc>
              <a:buFont typeface="Arial"/>
              <a:buChar char="•"/>
            </a:pPr>
            <a:r>
              <a:rPr lang="en-US" sz="2499">
                <a:solidFill>
                  <a:srgbClr val="FCD739"/>
                </a:solidFill>
                <a:latin typeface="Glacial Indifference Bold"/>
              </a:rPr>
              <a:t>LIST FORMATTING: USES BULLET POINTS FOR CLARITY AND READABILITY.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a:off x="0" y="1028700"/>
            <a:ext cx="18288000" cy="8153400"/>
          </a:xfrm>
          <a:custGeom>
            <a:avLst/>
            <a:gdLst/>
            <a:ahLst/>
            <a:cxnLst/>
            <a:rect l="l" t="t" r="r" b="b"/>
            <a:pathLst>
              <a:path w="18288000" h="8153400">
                <a:moveTo>
                  <a:pt x="0" y="0"/>
                </a:moveTo>
                <a:lnTo>
                  <a:pt x="18288000" y="0"/>
                </a:lnTo>
                <a:lnTo>
                  <a:pt x="18288000" y="8153400"/>
                </a:lnTo>
                <a:lnTo>
                  <a:pt x="0" y="8153400"/>
                </a:lnTo>
                <a:lnTo>
                  <a:pt x="0" y="0"/>
                </a:lnTo>
                <a:close/>
              </a:path>
            </a:pathLst>
          </a:custGeom>
          <a:blipFill>
            <a:blip r:embed="rId2"/>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sp>
        <p:nvSpPr>
          <p:cNvPr id="5" name="TextBox 5"/>
          <p:cNvSpPr txBox="1"/>
          <p:nvPr/>
        </p:nvSpPr>
        <p:spPr>
          <a:xfrm>
            <a:off x="4587770" y="1888490"/>
            <a:ext cx="7278645" cy="2290444"/>
          </a:xfrm>
          <a:prstGeom prst="rect">
            <a:avLst/>
          </a:prstGeom>
        </p:spPr>
        <p:txBody>
          <a:bodyPr lIns="0" tIns="0" rIns="0" bIns="0" rtlCol="0" anchor="t">
            <a:spAutoFit/>
          </a:bodyPr>
          <a:lstStyle/>
          <a:p>
            <a:pPr algn="l">
              <a:lnSpc>
                <a:spcPts val="7000"/>
              </a:lnSpc>
            </a:pPr>
            <a:r>
              <a:rPr lang="en-US" sz="5000">
                <a:solidFill>
                  <a:srgbClr val="FFFFFF"/>
                </a:solidFill>
                <a:latin typeface="Glacial Indifference Bold"/>
              </a:rPr>
              <a:t>PROJECTS SECTION</a:t>
            </a:r>
          </a:p>
          <a:p>
            <a:pPr algn="l">
              <a:lnSpc>
                <a:spcPts val="7000"/>
              </a:lnSpc>
            </a:pPr>
            <a:endParaRPr lang="en-US" sz="5000">
              <a:solidFill>
                <a:srgbClr val="FFFFFF"/>
              </a:solidFill>
              <a:latin typeface="Glacial Indifference Bold"/>
            </a:endParaRPr>
          </a:p>
          <a:p>
            <a:pPr algn="l">
              <a:lnSpc>
                <a:spcPts val="4060"/>
              </a:lnSpc>
              <a:spcBef>
                <a:spcPct val="0"/>
              </a:spcBef>
            </a:pPr>
            <a:r>
              <a:rPr lang="en-US" sz="2900">
                <a:solidFill>
                  <a:srgbClr val="FFFFFF"/>
                </a:solidFill>
                <a:latin typeface="Glacial Indifference Bold"/>
              </a:rPr>
              <a:t>THE PROJECT SECTION DESCRIBES</a:t>
            </a:r>
          </a:p>
        </p:txBody>
      </p:sp>
      <p:sp>
        <p:nvSpPr>
          <p:cNvPr id="6" name="Freeform 6"/>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b="-126410"/>
            </a:stretch>
          </a:blipFill>
        </p:spPr>
      </p:sp>
      <p:grpSp>
        <p:nvGrpSpPr>
          <p:cNvPr id="8" name="Group 8"/>
          <p:cNvGrpSpPr/>
          <p:nvPr/>
        </p:nvGrpSpPr>
        <p:grpSpPr>
          <a:xfrm>
            <a:off x="17082730" y="9258300"/>
            <a:ext cx="353140" cy="353140"/>
            <a:chOff x="0" y="0"/>
            <a:chExt cx="406400" cy="406400"/>
          </a:xfrm>
        </p:grpSpPr>
        <p:sp>
          <p:nvSpPr>
            <p:cNvPr id="9" name="Freeform 9"/>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0" name="TextBox 10"/>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1" name="Group 11"/>
          <p:cNvGrpSpPr/>
          <p:nvPr/>
        </p:nvGrpSpPr>
        <p:grpSpPr>
          <a:xfrm>
            <a:off x="14117108" y="9258300"/>
            <a:ext cx="353140" cy="353140"/>
            <a:chOff x="0" y="0"/>
            <a:chExt cx="406400" cy="406400"/>
          </a:xfrm>
        </p:grpSpPr>
        <p:sp>
          <p:nvSpPr>
            <p:cNvPr id="12" name="Freeform 12"/>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3" name="TextBox 13"/>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4" name="Freeform 14"/>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4587770" y="4822721"/>
            <a:ext cx="7950935" cy="2730500"/>
          </a:xfrm>
          <a:prstGeom prst="rect">
            <a:avLst/>
          </a:prstGeom>
        </p:spPr>
        <p:txBody>
          <a:bodyPr lIns="0" tIns="0" rIns="0" bIns="0" rtlCol="0" anchor="t">
            <a:spAutoFit/>
          </a:bodyPr>
          <a:lstStyle/>
          <a:p>
            <a:pPr marL="539749" lvl="1" indent="-269875" algn="l">
              <a:lnSpc>
                <a:spcPts val="3624"/>
              </a:lnSpc>
              <a:buFont typeface="Arial"/>
              <a:buChar char="•"/>
            </a:pPr>
            <a:r>
              <a:rPr lang="en-US" sz="2499">
                <a:solidFill>
                  <a:srgbClr val="FCD739"/>
                </a:solidFill>
                <a:latin typeface="Glacial Indifference Bold"/>
              </a:rPr>
              <a:t>PROJECT DETAILS: LISTS PROJECTS WITH BRIEF DESCRIPTIONS.</a:t>
            </a:r>
          </a:p>
          <a:p>
            <a:pPr marL="539749" lvl="1" indent="-269875" algn="l">
              <a:lnSpc>
                <a:spcPts val="3624"/>
              </a:lnSpc>
              <a:buFont typeface="Arial"/>
              <a:buChar char="•"/>
            </a:pPr>
            <a:r>
              <a:rPr lang="en-US" sz="2499">
                <a:solidFill>
                  <a:srgbClr val="FCD739"/>
                </a:solidFill>
                <a:latin typeface="Glacial Indifference Bold"/>
              </a:rPr>
              <a:t>RELEVANCE: EXPLAINS THE IMPORTANCE OF EACH PROJECT.</a:t>
            </a:r>
          </a:p>
          <a:p>
            <a:pPr marL="539749" lvl="1" indent="-269875" algn="l">
              <a:lnSpc>
                <a:spcPts val="3624"/>
              </a:lnSpc>
              <a:buFont typeface="Arial"/>
              <a:buChar char="•"/>
            </a:pPr>
            <a:r>
              <a:rPr lang="en-US" sz="2499">
                <a:solidFill>
                  <a:srgbClr val="FCD739"/>
                </a:solidFill>
                <a:latin typeface="Glacial Indifference Bold"/>
              </a:rPr>
              <a:t>FORMATTING: ENSURES EACH PROJECT IS CLEARLY SEPARATED AND EASY TO READ.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52238"/>
        </a:solidFill>
        <a:effectLst/>
      </p:bgPr>
    </p:bg>
    <p:spTree>
      <p:nvGrpSpPr>
        <p:cNvPr id="1" name=""/>
        <p:cNvGrpSpPr/>
        <p:nvPr/>
      </p:nvGrpSpPr>
      <p:grpSpPr>
        <a:xfrm>
          <a:off x="0" y="0"/>
          <a:ext cx="0" cy="0"/>
          <a:chOff x="0" y="0"/>
          <a:chExt cx="0" cy="0"/>
        </a:xfrm>
      </p:grpSpPr>
      <p:sp>
        <p:nvSpPr>
          <p:cNvPr id="2" name="Freeform 2"/>
          <p:cNvSpPr/>
          <p:nvPr/>
        </p:nvSpPr>
        <p:spPr>
          <a:xfrm flipH="1">
            <a:off x="16047304" y="1028700"/>
            <a:ext cx="1211996" cy="4114800"/>
          </a:xfrm>
          <a:custGeom>
            <a:avLst/>
            <a:gdLst/>
            <a:ahLst/>
            <a:cxnLst/>
            <a:rect l="l" t="t" r="r" b="b"/>
            <a:pathLst>
              <a:path w="1211996" h="4114800">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865945" y="2640987"/>
            <a:ext cx="2419714" cy="3456735"/>
          </a:xfrm>
          <a:custGeom>
            <a:avLst/>
            <a:gdLst/>
            <a:ahLst/>
            <a:cxnLst/>
            <a:rect l="l" t="t" r="r" b="b"/>
            <a:pathLst>
              <a:path w="2419714" h="3456735">
                <a:moveTo>
                  <a:pt x="2419714" y="3456735"/>
                </a:moveTo>
                <a:lnTo>
                  <a:pt x="0" y="3456735"/>
                </a:lnTo>
                <a:lnTo>
                  <a:pt x="0" y="0"/>
                </a:lnTo>
                <a:lnTo>
                  <a:pt x="2419714" y="0"/>
                </a:lnTo>
                <a:lnTo>
                  <a:pt x="2419714" y="34567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0" y="0"/>
            <a:ext cx="3294222" cy="3471115"/>
          </a:xfrm>
          <a:custGeom>
            <a:avLst/>
            <a:gdLst/>
            <a:ahLst/>
            <a:cxnLst/>
            <a:rect l="l" t="t" r="r" b="b"/>
            <a:pathLst>
              <a:path w="3294222" h="3471115">
                <a:moveTo>
                  <a:pt x="3294222" y="0"/>
                </a:moveTo>
                <a:lnTo>
                  <a:pt x="0" y="0"/>
                </a:lnTo>
                <a:lnTo>
                  <a:pt x="0" y="3471115"/>
                </a:lnTo>
                <a:lnTo>
                  <a:pt x="3294222" y="3471115"/>
                </a:lnTo>
                <a:lnTo>
                  <a:pt x="329422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28700" y="8263682"/>
            <a:ext cx="4114800" cy="994618"/>
          </a:xfrm>
          <a:custGeom>
            <a:avLst/>
            <a:gdLst/>
            <a:ahLst/>
            <a:cxnLst/>
            <a:rect l="l" t="t" r="r" b="b"/>
            <a:pathLst>
              <a:path w="4114800" h="994618">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sp>
        <p:nvSpPr>
          <p:cNvPr id="6" name="TextBox 6"/>
          <p:cNvSpPr txBox="1"/>
          <p:nvPr/>
        </p:nvSpPr>
        <p:spPr>
          <a:xfrm>
            <a:off x="4220363" y="2507637"/>
            <a:ext cx="5408367" cy="1047750"/>
          </a:xfrm>
          <a:prstGeom prst="rect">
            <a:avLst/>
          </a:prstGeom>
        </p:spPr>
        <p:txBody>
          <a:bodyPr lIns="0" tIns="0" rIns="0" bIns="0" rtlCol="0" anchor="t">
            <a:spAutoFit/>
          </a:bodyPr>
          <a:lstStyle/>
          <a:p>
            <a:pPr algn="l">
              <a:lnSpc>
                <a:spcPts val="8400"/>
              </a:lnSpc>
              <a:spcBef>
                <a:spcPct val="0"/>
              </a:spcBef>
            </a:pPr>
            <a:r>
              <a:rPr lang="en-US" sz="6000">
                <a:solidFill>
                  <a:srgbClr val="FFFFFF"/>
                </a:solidFill>
                <a:latin typeface="Glacial Indifference Bold"/>
              </a:rPr>
              <a:t>CONCLUSION</a:t>
            </a:r>
          </a:p>
        </p:txBody>
      </p:sp>
      <p:sp>
        <p:nvSpPr>
          <p:cNvPr id="7" name="Freeform 7"/>
          <p:cNvSpPr/>
          <p:nvPr/>
        </p:nvSpPr>
        <p:spPr>
          <a:xfrm rot="1112337">
            <a:off x="12088507" y="5926697"/>
            <a:ext cx="8270521" cy="7353245"/>
          </a:xfrm>
          <a:custGeom>
            <a:avLst/>
            <a:gdLst/>
            <a:ahLst/>
            <a:cxnLst/>
            <a:rect l="l" t="t" r="r" b="b"/>
            <a:pathLst>
              <a:path w="8270521" h="7353245">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3594286" y="8021575"/>
            <a:ext cx="3059016" cy="739417"/>
          </a:xfrm>
          <a:custGeom>
            <a:avLst/>
            <a:gdLst/>
            <a:ahLst/>
            <a:cxnLst/>
            <a:rect l="l" t="t" r="r" b="b"/>
            <a:pathLst>
              <a:path w="3059016" h="739417">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b="-126410"/>
            </a:stretch>
          </a:blipFill>
        </p:spPr>
      </p:sp>
      <p:grpSp>
        <p:nvGrpSpPr>
          <p:cNvPr id="9" name="Group 9"/>
          <p:cNvGrpSpPr/>
          <p:nvPr/>
        </p:nvGrpSpPr>
        <p:grpSpPr>
          <a:xfrm>
            <a:off x="17082730" y="9258300"/>
            <a:ext cx="353140" cy="353140"/>
            <a:chOff x="0" y="0"/>
            <a:chExt cx="406400" cy="406400"/>
          </a:xfrm>
        </p:grpSpPr>
        <p:sp>
          <p:nvSpPr>
            <p:cNvPr id="10" name="Freeform 10"/>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id="11" name="TextBox 11"/>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grpSp>
        <p:nvGrpSpPr>
          <p:cNvPr id="12" name="Group 12"/>
          <p:cNvGrpSpPr/>
          <p:nvPr/>
        </p:nvGrpSpPr>
        <p:grpSpPr>
          <a:xfrm>
            <a:off x="14117108" y="9258300"/>
            <a:ext cx="353140" cy="353140"/>
            <a:chOff x="0" y="0"/>
            <a:chExt cx="406400" cy="406400"/>
          </a:xfrm>
        </p:grpSpPr>
        <p:sp>
          <p:nvSpPr>
            <p:cNvPr id="13" name="Freeform 13"/>
            <p:cNvSpPr/>
            <p:nvPr/>
          </p:nvSpPr>
          <p:spPr>
            <a:xfrm>
              <a:off x="0" y="0"/>
              <a:ext cx="406400" cy="406400"/>
            </a:xfrm>
            <a:custGeom>
              <a:avLst/>
              <a:gdLst/>
              <a:ahLst/>
              <a:cxnLst/>
              <a:rect l="l" t="t" r="r" b="b"/>
              <a:pathLst>
                <a:path w="406400" h="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id="14" name="TextBox 14"/>
            <p:cNvSpPr txBox="1"/>
            <p:nvPr/>
          </p:nvSpPr>
          <p:spPr>
            <a:xfrm>
              <a:off x="38100" y="-95250"/>
              <a:ext cx="330200" cy="463550"/>
            </a:xfrm>
            <a:prstGeom prst="rect">
              <a:avLst/>
            </a:prstGeom>
          </p:spPr>
          <p:txBody>
            <a:bodyPr lIns="50800" tIns="50800" rIns="50800" bIns="50800" rtlCol="0" anchor="ctr"/>
            <a:lstStyle/>
            <a:p>
              <a:pPr algn="ctr">
                <a:lnSpc>
                  <a:spcPts val="4249"/>
                </a:lnSpc>
              </a:pPr>
              <a:endParaRPr/>
            </a:p>
          </p:txBody>
        </p:sp>
      </p:grpSp>
      <p:sp>
        <p:nvSpPr>
          <p:cNvPr id="15" name="Freeform 15"/>
          <p:cNvSpPr/>
          <p:nvPr/>
        </p:nvSpPr>
        <p:spPr>
          <a:xfrm>
            <a:off x="16406791" y="6097722"/>
            <a:ext cx="1469539" cy="1469539"/>
          </a:xfrm>
          <a:custGeom>
            <a:avLst/>
            <a:gdLst/>
            <a:ahLst/>
            <a:cxnLst/>
            <a:rect l="l" t="t" r="r" b="b"/>
            <a:pathLst>
              <a:path w="1469539" h="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TextBox 16"/>
          <p:cNvSpPr txBox="1"/>
          <p:nvPr/>
        </p:nvSpPr>
        <p:spPr>
          <a:xfrm>
            <a:off x="4220363" y="4283630"/>
            <a:ext cx="8839100" cy="3856825"/>
          </a:xfrm>
          <a:prstGeom prst="rect">
            <a:avLst/>
          </a:prstGeom>
        </p:spPr>
        <p:txBody>
          <a:bodyPr lIns="0" tIns="0" rIns="0" bIns="0" rtlCol="0" anchor="t">
            <a:spAutoFit/>
          </a:bodyPr>
          <a:lstStyle/>
          <a:p>
            <a:pPr algn="l">
              <a:lnSpc>
                <a:spcPts val="3824"/>
              </a:lnSpc>
            </a:pPr>
            <a:r>
              <a:rPr lang="en-US" sz="2499" dirty="0">
                <a:solidFill>
                  <a:srgbClr val="FCD739"/>
                </a:solidFill>
                <a:latin typeface="Glacial Indifference Bold"/>
              </a:rPr>
              <a:t>IN CONCLUSION, THE PERSONAL PORTFOLIO EFFECTIVELY PRESENTS MY PROFESSIONAL BACKGROUND AND SKILLS. THE USE OF HTML AND CSS ENSURES A VISUALLY APPEALING AND USER-FRIENDLY LAYOUT, PROVIDING A COMPREHENSIVE OVERVIEW OF MY EXPERIENCE AND CAPABILITIES.</a:t>
            </a:r>
          </a:p>
          <a:p>
            <a:pPr algn="l">
              <a:lnSpc>
                <a:spcPts val="3824"/>
              </a:lnSpc>
            </a:pPr>
            <a:r>
              <a:rPr lang="en-US" sz="2499" dirty="0">
                <a:solidFill>
                  <a:srgbClr val="FCD739"/>
                </a:solidFill>
                <a:latin typeface="Glacial Indifference Bold"/>
              </a:rPr>
              <a:t>PS: The contact info in the project is not my own, its just a sample.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424</Words>
  <Application>Microsoft Office PowerPoint</Application>
  <PresentationFormat>Custom</PresentationFormat>
  <Paragraphs>47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Canva Sans</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 oibsip</dc:title>
  <cp:lastModifiedBy>Varshini A</cp:lastModifiedBy>
  <cp:revision>2</cp:revision>
  <dcterms:created xsi:type="dcterms:W3CDTF">2006-08-16T00:00:00Z</dcterms:created>
  <dcterms:modified xsi:type="dcterms:W3CDTF">2024-06-04T05:53:15Z</dcterms:modified>
  <dc:identifier>DAGG98_A1g8</dc:identifier>
</cp:coreProperties>
</file>